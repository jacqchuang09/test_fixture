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notesMasterIdLst>
    <p:notesMasterId r:id="rId8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331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9B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2697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Test Fixture GUI Mockups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00584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0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Main Window · Existing Test Found · Test Configuration · Calibration · EM Test · EM Analysis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0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Shear Test · Shear Analysis · Manual Test · Manual Analysis · Cyclical Test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9B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154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Main Window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  ·  MAIN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Main Window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operator, I want the Main Window to clearly display the basic setup fields so that I can prepare and run a sensor test from one central interface.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a user initially opens the application, they should be greeted with the main window that includes the title: "Zaber Stage Testing Setup"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Note: Does not need to create buttons/widgets for the settings; just creates titles for each section on the page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596159"/>
            <a:ext cx="6656832" cy="27995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596159"/>
            <a:ext cx="6656832" cy="27995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  ·  MAIN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Save Folder Field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operator, I want to choose where test outputs are saved so that plots, Excel files, and analysis results are stored in the correct folder.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type a save folder path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browse and select a save folder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a save folder is selected, test outputs are saved there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no save folder is selected, the system uses the default/root directory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the save folder does not exist, the system creates the needed folders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 note below the field: "Missing folders will be automatically created before a run"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596159"/>
            <a:ext cx="6656832" cy="27995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596159"/>
            <a:ext cx="6656832" cy="2799539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305550" y="3496184"/>
            <a:ext cx="4104132" cy="318059"/>
          </a:xfrm>
          <a:prstGeom prst="roundRect">
            <a:avLst>
              <a:gd name="adj" fmla="val 11500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  ·  MAIN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Sensor ID Field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enter the Sensor ID through one connected segmented field so that the ID format is easier to follow and less likely to be mistyped.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Sensor ID input is one connected row with segments: YY, MM, DD, Batch, Sensor, Location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Batch visually includes fixed prefix "B"; user enters only the number. Same for Sensor ("S")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Generated Sensor ID follows: YYMMDDB##S##X</a:t>
            </a:r>
            <a:endParaRPr lang="en-US" sz="950" dirty="0"/>
          </a:p>
          <a:p>
            <a:pPr lvl="1" marL="355600" indent="-177800">
              <a:lnSpc>
                <a:spcPct val="104000"/>
              </a:lnSpc>
              <a:spcAft>
                <a:spcPts val="200"/>
              </a:spcAft>
              <a:buSzPct val="100000"/>
              <a:buChar char="○"/>
            </a:pPr>
            <a:r>
              <a:rPr lang="en-US" sz="9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Requirements: Year, Month, Day each 2 digits; Batch and Sensor each 2 numeric digits; Location must be A, B, or AB</a:t>
            </a:r>
            <a:endParaRPr lang="en-US" sz="950" dirty="0"/>
          </a:p>
          <a:p>
            <a:pPr lvl="1" marL="355600" indent="-177800">
              <a:lnSpc>
                <a:spcPct val="104000"/>
              </a:lnSpc>
              <a:spcAft>
                <a:spcPts val="200"/>
              </a:spcAft>
              <a:buSzPct val="100000"/>
              <a:buChar char="○"/>
            </a:pPr>
            <a:r>
              <a:rPr lang="en-US" sz="9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Example valid IDs: 250506B01S01A, 250506B01S01B, 250506B01S01AB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Completed Sensor ID is used in test completion messages, saved outputs, and analysis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2596159"/>
            <a:ext cx="6656832" cy="27995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596159"/>
            <a:ext cx="6656832" cy="2799539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305550" y="4074034"/>
            <a:ext cx="1487627" cy="322682"/>
          </a:xfrm>
          <a:prstGeom prst="roundRect">
            <a:avLst>
              <a:gd name="adj" fmla="val 11335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  ·  MAIN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1.1.4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Custom Sensor ID Checkbox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the option to use a custom Sensor ID so that I can test experimental or nonstandard sensors.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Main Window includes a checkbox labeled "Use Custom Sensor ID"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unchecked, the segmented Sensor ID field is active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checked, the segmented Sensor ID field is disabled and a custom free-text Sensor ID input becomes active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custom Sensor ID is used for testing, saving, and analysis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658566"/>
            <a:ext cx="6656832" cy="267472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in_cus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658566"/>
            <a:ext cx="6656832" cy="267472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305550" y="3997758"/>
            <a:ext cx="2051609" cy="456743"/>
          </a:xfrm>
          <a:prstGeom prst="roundRect">
            <a:avLst>
              <a:gd name="adj" fmla="val 8008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  ·  MAIN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1.1.5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Sensor ID Validation / Preview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the GUI to validate Sensor ID formatting so that mistyped sensor IDs do not cause data to be saved under the wrong sensor.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all segments are complete, the GUI displays the full generated Sensor ID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any segment is missing, the GUI displays: "Sensor ID: complete all segments"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Sensor ID preview updates whenever any segment changes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596159"/>
            <a:ext cx="6656832" cy="27995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596159"/>
            <a:ext cx="6656832" cy="2799539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305550" y="4351402"/>
            <a:ext cx="2051609" cy="165506"/>
          </a:xfrm>
          <a:prstGeom prst="roundRect">
            <a:avLst>
              <a:gd name="adj" fmla="val 22100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  ·  MAIN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1.1.6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Sensor Type Dropdown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select the sensor type so that the system can interpret the sensor data using the correct firmware/channel configuration.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select a Sensor Type from a dropdown; options: Standard, Inverted</a:t>
            </a:r>
            <a:endParaRPr lang="en-US" sz="950" dirty="0"/>
          </a:p>
          <a:p>
            <a:pPr lvl="1" marL="355600" indent="-177800">
              <a:lnSpc>
                <a:spcPct val="104000"/>
              </a:lnSpc>
              <a:spcAft>
                <a:spcPts val="200"/>
              </a:spcAft>
              <a:buSzPct val="100000"/>
              <a:buChar char="○"/>
            </a:pPr>
            <a:r>
              <a:rPr lang="en-US" sz="9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Standard orders the channels [1, 2, 3, 4, 5, 6, 7, 8]</a:t>
            </a:r>
            <a:endParaRPr lang="en-US" sz="950" dirty="0"/>
          </a:p>
          <a:p>
            <a:pPr lvl="1" marL="355600" indent="-177800">
              <a:lnSpc>
                <a:spcPct val="104000"/>
              </a:lnSpc>
              <a:spcAft>
                <a:spcPts val="200"/>
              </a:spcAft>
              <a:buSzPct val="100000"/>
              <a:buChar char="○"/>
            </a:pPr>
            <a:r>
              <a:rPr lang="en-US" sz="9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Inverted orders the channels [1, 2, 3, 4, 8, 7, 6, 5]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Standard is selected by default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selected Sensor Type is passed into the analysis workflow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 note below the field explains the sensor type per firmware version / channel configuration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2596159"/>
            <a:ext cx="6656832" cy="27995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596159"/>
            <a:ext cx="6656832" cy="2799539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358073" y="4074034"/>
            <a:ext cx="2051609" cy="318059"/>
          </a:xfrm>
          <a:prstGeom prst="roundRect">
            <a:avLst>
              <a:gd name="adj" fmla="val 11500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  ·  MAIN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1.1.7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Verify Settings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click Verify Settings so that I can confirm the setup parameters before the test begins.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Verify Settings proceeds to the Test Configuration page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Save Folder is blank: block, warn "Fill in Save Folder before continuing"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Custom Sensor ID enabled and blank: block, warn "Enter a custom sensor ID"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Sensor Type is blank: block, warn "Fill in Sensor Type"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Custom Sensor ID disabled and any Sensor ID segment is incomplete: block, warn "Complete all Sensor ID segments before continuing"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any Sensor ID segment is invalid: block with an appropriate validation message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Sensor ID already has pre-existing tests from the same day, the Existing Test Found dialog opens (Feature 1.2)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all required fields are valid, the Test Configuration section becomes visible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2596159"/>
            <a:ext cx="6656832" cy="27995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596159"/>
            <a:ext cx="6656832" cy="2799539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305550" y="4809059"/>
            <a:ext cx="4104132" cy="318059"/>
          </a:xfrm>
          <a:prstGeom prst="roundRect">
            <a:avLst>
              <a:gd name="adj" fmla="val 11500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  ·  MAIN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1.1.8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Basic Settings Reverification Behavior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the Test Configuration section to disappear when Basic Settings are changed so that tests cannot begin using outdated or unverified setup information.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the user edits any Basic Settings field after verification, the Test Configuration section disappears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GUI displays: "Basic settings changed. Please click Verify again"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must click Verify again before continuing to Test Configuration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Previously entered Test Configuration settings are not used until Basic Settings are reverified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499080"/>
            <a:ext cx="6656832" cy="29936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in_rever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499080"/>
            <a:ext cx="6656832" cy="29936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25772" y="2457932"/>
            <a:ext cx="82296" cy="82296"/>
          </a:xfrm>
          <a:prstGeom prst="roundRect">
            <a:avLst>
              <a:gd name="adj" fmla="val 4444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  ·  MAIN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1.1.9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 Icons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informational help icons throughout the window so that I can quickly understand fields, workflows, and testing terminology without needing external documentation.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 ICONS ON THIS PAGE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Save Folder: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Folder where run files, exported data, and analysis outputs will be saved.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Sensor ID: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Format: YYMMDDB##S##X. Type two digits for date, batch, and sensor. Location can be A, B, AB, or BA.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Custom Sensor ID: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enabled, the Sensor ID builder is replaced with a free-text custom Sensor ID field.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Sensor Type: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Standard uses normal channel ordering. Inverted reverses the channel order.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2596159"/>
            <a:ext cx="6656832" cy="27995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help_ic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596159"/>
            <a:ext cx="6656832" cy="2799539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768480" y="3357500"/>
            <a:ext cx="183998" cy="183998"/>
          </a:xfrm>
          <a:prstGeom prst="roundRect">
            <a:avLst>
              <a:gd name="adj" fmla="val 19878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95165" y="3935350"/>
            <a:ext cx="183998" cy="183998"/>
          </a:xfrm>
          <a:prstGeom prst="roundRect">
            <a:avLst>
              <a:gd name="adj" fmla="val 19878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5126" y="4538625"/>
            <a:ext cx="183998" cy="183998"/>
          </a:xfrm>
          <a:prstGeom prst="roundRect">
            <a:avLst>
              <a:gd name="adj" fmla="val 19878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51557" y="3935350"/>
            <a:ext cx="183998" cy="183998"/>
          </a:xfrm>
          <a:prstGeom prst="roundRect">
            <a:avLst>
              <a:gd name="adj" fmla="val 19878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9B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154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Existing Test Found Page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1.2  ·  EXISTING TEST FOUND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1.2.1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Existing Test Found Popup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72821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728216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1978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the software to warn me when a matching test folder already exists for a specified sensor so that I can decide how to continue without accidentally overwriting previous data.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77647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087368"/>
            <a:ext cx="4160520" cy="22677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an existing test-session folder already exists, the GUI displays an "Existing Test Found" popup window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popup displays the full existing test path (e.g., /Users/.../Test Data/12345/05 21 26_325mm2_EM)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popup displays: "A test folder already exists for this Sensor ID and test configuration. Choose how you want to continue."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879691"/>
            <a:ext cx="6656832" cy="223247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xisting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879691"/>
            <a:ext cx="6656832" cy="22324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1.2  ·  EXISTING TEST FOUND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1.2.2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Redo a Specific Run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redo a specific run from an existing test so that I can repeat failed or invalid runs without restarting the entire test session.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Existing Test Found popup includes a button: "Redo a Specific Run"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Redo a Specific Run functionality only applies to EM Testing workflows (not supported for Shear, Manual, or Cyclical testing).</a:t>
            </a:r>
            <a:endParaRPr lang="en-US" sz="850" dirty="0"/>
          </a:p>
          <a:p>
            <a:pPr lvl="1" marL="355600" indent="-177800">
              <a:lnSpc>
                <a:spcPct val="104000"/>
              </a:lnSpc>
              <a:spcAft>
                <a:spcPts val="200"/>
              </a:spcAft>
              <a:buSzPct val="100000"/>
              <a:buChar char="○"/>
            </a:pPr>
            <a:r>
              <a:rPr lang="en-US" sz="8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the existing test was created from a Shear, Manual, or Cyclical test, the "Redo a Specific Run" button is disabled.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the button opens the Test Configuration Window in Redo Run mode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 Redo Run mode, EM Test is automatically selected and cannot be modified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 Redo Run mode, Number of Runs is automatically set to 1 and cannot be modified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"Run to Redo" field becomes enabled; user specifies which run to repeat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system only repeats the selected run instead of restarting the entire test sequence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2879691"/>
            <a:ext cx="6656832" cy="223247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xisting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879691"/>
            <a:ext cx="6656832" cy="223247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365177" y="4397216"/>
            <a:ext cx="3159051" cy="553145"/>
          </a:xfrm>
          <a:prstGeom prst="roundRect">
            <a:avLst>
              <a:gd name="adj" fmla="val 6612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1.2  ·  EXISTING TEST FOUND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1.2.3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Overwrite Existing Test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the option to overwrite an existing test folder so that I can intentionally replace previous test data when needed.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Existing Test Found popup includes a button: "Overwrite Existing Test"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the button opens the Test Configuration Window and allows the workflow to overwrite the existing test-session folder and outputs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system displays a confirmation warning before overwriting existing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879691"/>
            <a:ext cx="6656832" cy="223247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xisting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879691"/>
            <a:ext cx="6656832" cy="22324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1.2  ·  EXISTING TEST FOUND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1.2.4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Create New Versioned Test Folder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create a new versioned test folder so that I can preserve previous test data while starting a new test session.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Existing Test Found popup includes a button: "Create New Versioned Test Folder"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the button opens the Test Configuration Window and creates a new versioned test-session folder instead of overwriting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new versioned folder is used for all new FUT, CAP, and analysis outputs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879691"/>
            <a:ext cx="6656832" cy="223247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xisting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879691"/>
            <a:ext cx="6656832" cy="223247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91004" y="4397216"/>
            <a:ext cx="3159051" cy="553145"/>
          </a:xfrm>
          <a:prstGeom prst="roundRect">
            <a:avLst>
              <a:gd name="adj" fmla="val 6612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1.2  ·  EXISTING TEST FOUND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1.2.5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Cancel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cancel the Existing Test Found workflow so that I can safely stop the current action without modifying any files or starting a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Existing Test Found popup includes a button: "Cancel"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the button closes the popup window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test begins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files or folders are modified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879691"/>
            <a:ext cx="6656832" cy="223247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xisting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879691"/>
            <a:ext cx="6656832" cy="22324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9B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154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Test Configuration Page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1.3  ·  TEST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1.3.1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Test Configuration Window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the Test Configuration window to clearly display the test setup fields so that I can prepare and run a sensor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the "Verify Settings" button opens the Test Configuration window with the title: "Test Configuration Window"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354897"/>
            <a:ext cx="6656832" cy="328206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test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354897"/>
            <a:ext cx="6656832" cy="32820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1.3  ·  TEST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1.3.2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Test Type Dropdown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select the Test Type so that the correct testing workflow and analysis pipeline are used.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can select Test Type from a dropdown; options: EM Test, Shear Test, Manual Test, Cyclical Test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selected Test Type is passed into the testing and analysis workflow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Test: enables Number of Runs, Zaber COM Port, and Pause Between Runs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Shear Test: disables Number of Runs, Zaber COM Port, and Pause Between Runs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Manual Test: disables Number of Runs and Run to Redo; Zaber COM Port stays enabled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Cyclical Test: disables Number of Runs and Run to Redo; Zaber COM Port stays enabled; cyclical waveform controls become visible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2354897"/>
            <a:ext cx="6656832" cy="328206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test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354897"/>
            <a:ext cx="6656832" cy="328206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68944" y="3070556"/>
            <a:ext cx="3164699" cy="451316"/>
          </a:xfrm>
          <a:prstGeom prst="roundRect">
            <a:avLst>
              <a:gd name="adj" fmla="val 810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1.3  ·  TEST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1.3.3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Number of Runs Integer Field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choose the number of runs so that repeated testing can be automated.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enter the number of runs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Default number of runs = 3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field only accepts positive integers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field only enables for the EM Test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354897"/>
            <a:ext cx="6656832" cy="328206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test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354897"/>
            <a:ext cx="6656832" cy="328206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68944" y="3786889"/>
            <a:ext cx="3164699" cy="451316"/>
          </a:xfrm>
          <a:prstGeom prst="roundRect">
            <a:avLst>
              <a:gd name="adj" fmla="val 810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1.3  ·  TEST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1.3.4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Zaber COM Port Dropdown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define the Zaber COM Port so that the software can connect to the correct actuator.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enter or select a Zaber COM Port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Default value = COM3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selected COM Port is used during hardware initialization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field only enables for the EM Test, Manual Test, and Cyclical Test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354897"/>
            <a:ext cx="6656832" cy="328206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test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354897"/>
            <a:ext cx="6656832" cy="328206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381589" y="3786889"/>
            <a:ext cx="3164699" cy="451316"/>
          </a:xfrm>
          <a:prstGeom prst="roundRect">
            <a:avLst>
              <a:gd name="adj" fmla="val 810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1.3  ·  TEST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1.3.5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Surface Area Integer Field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enter the Ecoflex block surface area so that pressure calculations are accurate.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enter a Surface Area value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Default units are displayed as mm²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field only accepts positive numeric values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Surface Area value is passed into the analysis workflow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354897"/>
            <a:ext cx="6656832" cy="328206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test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354897"/>
            <a:ext cx="6656832" cy="328206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381589" y="3070556"/>
            <a:ext cx="2643729" cy="451316"/>
          </a:xfrm>
          <a:prstGeom prst="roundRect">
            <a:avLst>
              <a:gd name="adj" fmla="val 810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1.3  ·  TEST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1.3.6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Run to Redo Integer Field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enter the specific run number I want to redo so that the system repeats only that selected run. Available only when I choose to redo a run from an existing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Run to Redo field is disabled by default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It becomes enabled only when the user selects "Redo a Specific Run" from the Existing Test Found popup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 Redo Mode, Test Type is automatically set to EM Test and cannot be modified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 Redo Mode, Number of Runs is automatically set to 1 and cannot be modified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enter a positive integer for Run to Redo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the test begins, the system repeats only the selected run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2354897"/>
            <a:ext cx="6656832" cy="328206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test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354897"/>
            <a:ext cx="6656832" cy="328206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68944" y="4503222"/>
            <a:ext cx="3164699" cy="451316"/>
          </a:xfrm>
          <a:prstGeom prst="roundRect">
            <a:avLst>
              <a:gd name="adj" fmla="val 810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1.3  ·  TEST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1.3.7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Begin Test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click Begin Test so that the specified test can begin using the selected configuration settings.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Begin Test starts the testing workflow and opens the appropriate Testing Window (EM/Shear/Manual/Cyclical)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system attempts hardware initialization before actuator movement begins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Test Type is blank: block, warn "Fill in Test Type before continuing"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+ Number of Runs blank or invalid: block with matching validation message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/ Manual / Cyclical + Zaber COM Port blank: block, warn "Fill in Zaber COM Port before continuing"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Surface Area blank: block, warn "Fill in Surface Area before continuing"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Surface Area invalid: block, warn "Surface Area must be a positive number"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Redo Mode + Run to Redo blank/invalid: block with matching validation message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Redo Mode is active, the system begins only the selected run instead of the full test sequence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2354897"/>
            <a:ext cx="6656832" cy="328206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test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354897"/>
            <a:ext cx="6656832" cy="328206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68944" y="5045899"/>
            <a:ext cx="2122760" cy="451316"/>
          </a:xfrm>
          <a:prstGeom prst="roundRect">
            <a:avLst>
              <a:gd name="adj" fmla="val 810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1.3  ·  TEST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1.3.8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Open Calibration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open the Calibration Window so that I can perform the Fuji Film calibration before testing.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click Open Calibration to open the Calibration Window popup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354897"/>
            <a:ext cx="6656832" cy="328206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test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354897"/>
            <a:ext cx="6656832" cy="328206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296236" y="5045899"/>
            <a:ext cx="2122760" cy="451316"/>
          </a:xfrm>
          <a:prstGeom prst="roundRect">
            <a:avLst>
              <a:gd name="adj" fmla="val 810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1.3  ·  TEST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1.3.9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 Icons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informational help icons throughout the window so that I can quickly understand fields, workflows, and testing terminology without needing external documentation.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 ICONS ON THIS PAGE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75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Test Type: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75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Test performs force-controlled compression testing. Shear Test performs live shear-response testing. Manual Test allows direct actuator control. Fatigue Test repeatedly compresses the sensor over many cycles.</a:t>
            </a:r>
            <a:endParaRPr lang="en-US" sz="875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75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Surface Area: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75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Surface Area of the Ecoflex block used to calculate pressure from force measurements.</a:t>
            </a:r>
            <a:endParaRPr lang="en-US" sz="875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75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Number of Runs: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75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Number of EM test runs to complete.</a:t>
            </a:r>
            <a:endParaRPr lang="en-US" sz="875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75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Zaber COM Port: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75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Select the port connected to the Zaber actuator.</a:t>
            </a:r>
            <a:endParaRPr lang="en-US" sz="875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75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Run to Redo: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75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Redo only a specific EM run from an existing test folder. This is only available when ‘Redo a Specific Run’ is selected from the Existing Test Found popup.</a:t>
            </a:r>
            <a:endParaRPr lang="en-US" sz="875" dirty="0"/>
          </a:p>
        </p:txBody>
      </p:sp>
      <p:sp>
        <p:nvSpPr>
          <p:cNvPr id="13" name="Shape 11"/>
          <p:cNvSpPr/>
          <p:nvPr/>
        </p:nvSpPr>
        <p:spPr>
          <a:xfrm>
            <a:off x="5029200" y="2354897"/>
            <a:ext cx="6656832" cy="328206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test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354897"/>
            <a:ext cx="6656832" cy="328206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783073" y="2853486"/>
            <a:ext cx="241481" cy="241481"/>
          </a:xfrm>
          <a:prstGeom prst="roundRect">
            <a:avLst>
              <a:gd name="adj" fmla="val 15147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84977" y="2853486"/>
            <a:ext cx="241481" cy="241481"/>
          </a:xfrm>
          <a:prstGeom prst="roundRect">
            <a:avLst>
              <a:gd name="adj" fmla="val 15147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47232" y="3569819"/>
            <a:ext cx="241481" cy="241481"/>
          </a:xfrm>
          <a:prstGeom prst="roundRect">
            <a:avLst>
              <a:gd name="adj" fmla="val 15147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53093" y="3569819"/>
            <a:ext cx="241481" cy="241481"/>
          </a:xfrm>
          <a:prstGeom prst="roundRect">
            <a:avLst>
              <a:gd name="adj" fmla="val 15147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12976" y="4286152"/>
            <a:ext cx="241481" cy="241481"/>
          </a:xfrm>
          <a:prstGeom prst="roundRect">
            <a:avLst>
              <a:gd name="adj" fmla="val 15147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9B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154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Calibration Page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1.4  ·  CALIBRATION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1.4.1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Calibration Configuration Window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a separate Calibration window so that I can safely perform the Fuji Film Test before beginning the specified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the "Open Calibration" button opens a popup window titled: "Calibration for Fuji Film Test"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5708"/>
            <a:ext cx="6656832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5708"/>
            <a:ext cx="6656832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1.4  ·  CALIBRATION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1.4.2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Current Status Display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see the current actuator position during calibration so that I can safely adjust the actuator location.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Current Status displays Position only, in mm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Position updates when the user clicks Move Up, Move Down, or Home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5708"/>
            <a:ext cx="6656832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5708"/>
            <a:ext cx="6656832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1.4  ·  CALIBRATION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1.4.3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Manual Increment Control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move the actuator in small increments so that I can fine-tune the actuator position safely.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enter an Increment Distance (mm)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click Move Up or Move Down; the actuator moves by the entered increment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Move Up/Down update position step-by-step, with no elapsed-time output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Increment Distance must remain within a specified maximum allowed range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blank: block, warn "Fill in Increment Distance before continuing"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exceeds range: block, warn "Increment Distance exceeds the maximum allowed range"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non-numeric: block, warn "Increment Distance must be a valid number"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5708"/>
            <a:ext cx="6656832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5708"/>
            <a:ext cx="6656832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1.4  ·  CALIBRATION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1.4.4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Reset to Home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a Home button so that I can safely return the actuator to its original position.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Home returns the actuator to the home/original position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GUI displays that the actuator has reset successfully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5708"/>
            <a:ext cx="6656832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5708"/>
            <a:ext cx="6656832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1.4  ·  CALIBRATION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1.4.5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Calibration Test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run a Calibration Test so that I can calibrate the load cell and actuator setup.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click "Begin Calibration Test"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actuator moves downward until the target force is reached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Target Force = 20 N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Motion stops when the target force is reached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5708"/>
            <a:ext cx="6656832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5708"/>
            <a:ext cx="6656832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1.4  ·  CALIBRATION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1.4.6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Calibration Test Output Box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Calibration Test force readings displayed in a table-like format so that I can clearly track force over time during calibration.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the test starts, the output box displays: "Calibration Test started"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Output box includes column headers: Time (s) | Force (N)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While running, force values are displayed in the output box with time values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 reaching target force, the GUI displays under the button: "Calibration Test Completed Successfully"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the test stops due to a force spike or error, an error status is displayed instead of a success message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5708"/>
            <a:ext cx="6656832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5708"/>
            <a:ext cx="6656832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1.4  ·  CALIBRATION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1.4.7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Exit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an Exit button on the Calibration popup window so that I can close the Calibration Window.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Calibration popup window includes an Exit button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the Exit button closes only the Calibration popup window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Exit button is disabled while the Calibration Test is actively running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Once the Calibration Test is complete or stopped, the Exit button becomes enabled again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5708"/>
            <a:ext cx="6656832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5708"/>
            <a:ext cx="6656832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9B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154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Test Page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1.5  ·  EM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1.5.1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Testing Window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the EM test to open in a dedicated EM Testing Window so that I can monitor and control the active EM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Begin Test with Test Type = EM Test opens a new window titled: "EM Testing Window"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6698"/>
            <a:ext cx="6656832" cy="35184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m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6698"/>
            <a:ext cx="6656832" cy="35184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1.5  ·  EM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1.5.2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Current EM Test Output Box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view the current EM test status so that I can monitor the actuator and testing workflow in real time.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EM Testing Window includes a Current EM Test Status display area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output box includes column headers: Run Number | Time (s) | Force (N)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Force readings are displayed in chronological order (e.g., Run 1 | 4.802 s | 4.941 N)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Status display updates with key states: IDLE, READY, CONNECTING, RUNNING, PAUSED_RESET_REQUIRED, BETWEEN_RUNS_PAUSED, COMPLETED, ERROR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6698"/>
            <a:ext cx="6656832" cy="35184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m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6698"/>
            <a:ext cx="6656832" cy="35184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29087" y="3064323"/>
            <a:ext cx="2969715" cy="2162203"/>
          </a:xfrm>
          <a:prstGeom prst="roundRect">
            <a:avLst>
              <a:gd name="adj" fmla="val 1692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1.5  ·  EM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1.5.3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Start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click START so that the EM test begins using the selected configuration settings.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the Start Button begins the EM testing workflow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system attempts hardware initialization before movement begins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actuator does not move unless initialization succeeds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Once testing begins, START becomes disabled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6698"/>
            <a:ext cx="6656832" cy="35184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m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6698"/>
            <a:ext cx="6656832" cy="35184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29087" y="5234492"/>
            <a:ext cx="2169608" cy="353082"/>
          </a:xfrm>
          <a:prstGeom prst="roundRect">
            <a:avLst>
              <a:gd name="adj" fmla="val 1035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1.5  ·  EM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1.5.4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Pause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pause the current EM test safely so that actuator motion stops and the current run can be repeated.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the Pause Button immediately stops actuator motion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actuator returns to the home/original position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current run is marked incomplete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current run number does not increment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current run must be repeated before continuing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6698"/>
            <a:ext cx="6656832" cy="35184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m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6698"/>
            <a:ext cx="6656832" cy="35184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272812" y="5234492"/>
            <a:ext cx="2169608" cy="353082"/>
          </a:xfrm>
          <a:prstGeom prst="roundRect">
            <a:avLst>
              <a:gd name="adj" fmla="val 1035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1.5  ·  EM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1.5.5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Force vs Time Graph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view a live Force vs Time graph so that I can visually monitor force trends during the EM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EM Testing Window includes a Live Force vs Time graph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graph updates in real time while the EM test is running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graph displays force in N over time in seconds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graph resets appropriately between runs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6698"/>
            <a:ext cx="6656832" cy="35184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m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6698"/>
            <a:ext cx="6656832" cy="35184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106767" y="3064323"/>
            <a:ext cx="3479378" cy="2162203"/>
          </a:xfrm>
          <a:prstGeom prst="roundRect">
            <a:avLst>
              <a:gd name="adj" fmla="val 1692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1.5  ·  EM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1.5.6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Perform Analysis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click a Perform Analysis button so that the software can process the completed test data and generate summary statistics and plots.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testing window includes a Perform Analysis button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Perform Analysis is disabled until the EM test has completed successfully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Perform Analysis should show a loading/progress state before opening the EM Analysis Page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236698"/>
            <a:ext cx="6656832" cy="35184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m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36698"/>
            <a:ext cx="6656832" cy="35184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416538" y="5234492"/>
            <a:ext cx="2169608" cy="353082"/>
          </a:xfrm>
          <a:prstGeom prst="roundRect">
            <a:avLst>
              <a:gd name="adj" fmla="val 1035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9B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154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Analysis Page</a:t>
            </a:r>
            <a:endParaRPr lang="en-US" sz="4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1.6  ·  EM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1.6.1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Analysis Window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analysis results to open in a dedicated results window so that I can review processed EM test results after testing completes.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After analysis completes, a new window opens titled: "EM Analysis Data and Plots"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window displays summary statistics and plots generated from the selected test data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Users can click between tabs to quickly navigate different EM analysis outputs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9388" y="1810512"/>
            <a:ext cx="2896456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m_an_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9388" y="1810512"/>
            <a:ext cx="2896456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914503" y="1974530"/>
            <a:ext cx="2886226" cy="158730"/>
          </a:xfrm>
          <a:prstGeom prst="roundRect">
            <a:avLst>
              <a:gd name="adj" fmla="val 23043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1.6  ·  EM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1.6.2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Raw Signals Tab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view raw EM test signals so that I can inspect channel behavior before processed analysis is applied.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Raw Signals tab displays raw channel plots for the selected run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tab displays all EM channels simultaneously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Users can switch between runs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9388" y="1810512"/>
            <a:ext cx="2896456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m_an_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9388" y="1810512"/>
            <a:ext cx="2896456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1.6  ·  EM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1.6.3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Pressure Sensitivity Curves Tab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view pressure sensitivity curves so that I can evaluate how capacitance changes relative to pressure.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Pressure Sensitivity Curves tab displays processed pressure sensitivity plots for all channels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Each channel plot includes the calculated pressure sensitivity value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Inflection points are visually highlighted on the plots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45857" y="1810512"/>
            <a:ext cx="6623518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m_an_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5857" y="1810512"/>
            <a:ext cx="6623518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1.6  ·  EM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1.6.4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All Channels / Runs Comparison Tab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compare all runs and channels simultaneously so that I can evaluate consistency and repeatability across the sensor.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All CH/Runs tab includes comparison views for: By Channel (all runs), By Run (all channels)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Each plot overlays multiple runs for direct comparison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36902" y="1810512"/>
            <a:ext cx="6641428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m_an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6902" y="1810512"/>
            <a:ext cx="6641428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1.6  ·  EM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1.6.5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Summary Statistics Tab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view summary statistics for all EM channels so that I can evaluate sensor quality quantitatively.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Summary Statistics tab displays a table of calculated metrics for all channels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Metrics include Mean, Std, COV, Min, and Max for: PS at Inflection, Max kPa, Mean Max CAP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Every displayed average metric also includes standard deviation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Every displayed maximum metric also includes minimum values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102891"/>
            <a:ext cx="6656832" cy="37860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m_an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102891"/>
            <a:ext cx="6656832" cy="378607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1.6  ·  EM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1.6.6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Report Output Tab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a report-style output tab so that I can easily copy, export, and review finalized EM testing results.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Report Output tab displays a formatted summary report table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Includes: Lot Number / Sensor ID, Electromechanical Standards Status, Software Version, Date Tested, Fabrication Type, Eco Block ID, Run Number Tested, Run Number Counted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Shorted Channel Status: the analysis pipeline automatically checks for potential channel shorting behavior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tab includes a "Copy Values" button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"Copy Values" copies only the data row (not the headers) to quickly transfer results into reports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2921127"/>
            <a:ext cx="6656832" cy="214960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em_an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921127"/>
            <a:ext cx="6656832" cy="214960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9B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154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Shear Test Page</a:t>
            </a:r>
            <a:endParaRPr lang="en-US" sz="4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1.7  ·  SHEAR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1.7.1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Shear Testing Window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the Shear Test to open in a dedicated Shear Testing Window so that I can monitor and control the active Shear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Begin Test with Test Type = Shear Test opens a new window titled: "Shear Testing Window"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1967851"/>
            <a:ext cx="6656832" cy="405615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shear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967851"/>
            <a:ext cx="6656832" cy="405615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1.7  ·  SHEAR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1.7.2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Shear Graph Display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view the live Shear graph so that I can monitor force behavior in real time during testing.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Graph X-axis is labeled: "Time Elapsed (seconds)"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Graph Y-axis is labeled: "Force (N)"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graph updates in real time during the Shear test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graph displays live force data from the load cell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Hovering over the graph displays the current time and force values (e.g., Time: 0.000 s, Force: 0.000 N)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1967851"/>
            <a:ext cx="6656832" cy="405615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shear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967851"/>
            <a:ext cx="6656832" cy="405615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690534" y="-2250741"/>
            <a:ext cx="82296" cy="82296"/>
          </a:xfrm>
          <a:prstGeom prst="roundRect">
            <a:avLst>
              <a:gd name="adj" fmla="val 4444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1.7  ·  SHEAR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1.7.3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Graph Display Controls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control the graph display settings so that I can customize how the Shear test data is visualized.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edit the "Last Seconds to Display" field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edit the "Y-Axis Min" field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edit the "Y-Axis Limit" field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toggle the "Show Markers" checkbox to display visible graph markers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toggle the "Cumulative Time" checkbox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Changing these settings updates the graph display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1967851"/>
            <a:ext cx="6656832" cy="405615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shear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967851"/>
            <a:ext cx="6656832" cy="405615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690534" y="-2250741"/>
            <a:ext cx="82296" cy="82296"/>
          </a:xfrm>
          <a:prstGeom prst="roundRect">
            <a:avLst>
              <a:gd name="adj" fmla="val 4444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1.7  ·  SHEAR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1.7.4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Start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click START so that the live Shear test begins.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START begins the Shear testing workflow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graph begins updating in real time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START becomes disabled while the test is running, and after PAUSE when the actuator is moving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Start after a paused/incomplete run begins a new active run dataset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1967851"/>
            <a:ext cx="6656832" cy="405615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shear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967851"/>
            <a:ext cx="6656832" cy="405615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29087" y="5503340"/>
            <a:ext cx="2169608" cy="353082"/>
          </a:xfrm>
          <a:prstGeom prst="roundRect">
            <a:avLst>
              <a:gd name="adj" fmla="val 1035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1.7  ·  SHEAR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1.7.5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Stop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stop the Shear test so that I can stop graph updates and actuator movement safely.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STOP stops the active Shear workflow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START becomes enabled after Stop is clicked.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PERFORM ANALYSIS becomes enabled only after START has been clicked, valid data has been collected, and STOP has been clicked.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the user clicks Start again after stopping, the previous stopped/incomplete graph data is replaced by the newest run dataset.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Perform Analysis uses the newest valid stopped run dataset.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1967851"/>
            <a:ext cx="6656832" cy="405615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shear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967851"/>
            <a:ext cx="6656832" cy="405615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272812" y="5503340"/>
            <a:ext cx="2169608" cy="353082"/>
          </a:xfrm>
          <a:prstGeom prst="roundRect">
            <a:avLst>
              <a:gd name="adj" fmla="val 1035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1.7  ·  SHEAR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1.7.6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Perform Analysis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click Perform Analysis after test data has been collected so that the software can process the latest available test data and generate summary statistics and plots.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Testing Window includes a Perform Analysis button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Perform Analysis is disabled before testing starts, then becomes enabled after Start has been clicked, valid test data has been collected, and Stop has been clicked.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user pauses the test and restarts the run, the previously paused/incomplete graph data is not saved as the active dataset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clicked, analysis is generated using the newest/latest valid run data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Perform Analysis shows a loading state before opening the Shear Analysis Page.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1967851"/>
            <a:ext cx="6656832" cy="405615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shear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967851"/>
            <a:ext cx="6656832" cy="405615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416538" y="5503340"/>
            <a:ext cx="2169608" cy="353082"/>
          </a:xfrm>
          <a:prstGeom prst="roundRect">
            <a:avLst>
              <a:gd name="adj" fmla="val 1035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1.7  ·  SHEAR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1.7.7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 Icons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informational help icons throughout the window so that I can quickly understand fields, workflows, and testing terminology without needing external documentation.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 ICONS ON THIS PAGE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Last Seconds to Display: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Cumulative Time is off, the shear graph shows only the last selected number of seconds.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Y-Axis Min: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Lowest force value shown on the shear graph y-axis.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Y-Axis Limit: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Highest force value shown on the shear graph y-axis.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Show Markers: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Shows individual live force readings on top of the graph line.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Cumulative Time: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on, the shear graph shows the entire run from start to finish and ignores Last Seconds to Display.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1967851"/>
            <a:ext cx="6656832" cy="405615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shear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967851"/>
            <a:ext cx="6656832" cy="405615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38324" y="5018181"/>
            <a:ext cx="206406" cy="206406"/>
          </a:xfrm>
          <a:prstGeom prst="roundRect">
            <a:avLst>
              <a:gd name="adj" fmla="val 17720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57210" y="5018181"/>
            <a:ext cx="206406" cy="206406"/>
          </a:xfrm>
          <a:prstGeom prst="roundRect">
            <a:avLst>
              <a:gd name="adj" fmla="val 17720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527932" y="5018181"/>
            <a:ext cx="206406" cy="206406"/>
          </a:xfrm>
          <a:prstGeom prst="roundRect">
            <a:avLst>
              <a:gd name="adj" fmla="val 17720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015846" y="5224091"/>
            <a:ext cx="206406" cy="206406"/>
          </a:xfrm>
          <a:prstGeom prst="roundRect">
            <a:avLst>
              <a:gd name="adj" fmla="val 17720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327115" y="5224091"/>
            <a:ext cx="206406" cy="206406"/>
          </a:xfrm>
          <a:prstGeom prst="roundRect">
            <a:avLst>
              <a:gd name="adj" fmla="val 17720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9B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154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Shear Analysis Page</a:t>
            </a:r>
            <a:endParaRPr lang="en-US" sz="4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1.8  ·  SHEAR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1.8.1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Shear Analysis Window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analysis results to open in a dedicated results window with tabs so that I can review processed Shear Test results in an organized way.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After analysis completes, a new window opens titled: "Shear Analysis Data and Plots"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Shear Analysis tabs may include: Plots, Failure Checks, Report Output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Users can click between tabs to view different plots and metrics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69430" y="1810512"/>
            <a:ext cx="6576371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sh_an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430" y="1810512"/>
            <a:ext cx="6576371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33322" y="2235190"/>
            <a:ext cx="6448588" cy="255839"/>
          </a:xfrm>
          <a:prstGeom prst="roundRect">
            <a:avLst>
              <a:gd name="adj" fmla="val 14296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1.8  ·  SHEAR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1.8.2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Plot Tab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after clicking Perform Analysis on a shear test I want to view a plot summary of the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tab displays a graph for each capacitance channel and one final graph for outputted force over time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X axis for each graph is Time (seconds)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Y axis for each capacitance channel includes both Capacitance (pF) and delta Capacitance (pF)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final graph Y axis is Force (Newtons)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69430" y="1810512"/>
            <a:ext cx="6576371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sh_an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430" y="1810512"/>
            <a:ext cx="6576371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1.8  ·  SHEAR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1.8.3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Detection Table Tab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know which capacitance channels had negative values and which had a large delta after performing a shear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tab displays a grid where each column is a capacitance channel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row shows negative values (pF) if detected, or None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row shows delta values (pF) if a high delta was detected, or None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high delta is defined as greater than 10 pF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3244723"/>
            <a:ext cx="6656832" cy="150241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sh_an_det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44723"/>
            <a:ext cx="6656832" cy="150241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1.8  ·  SHEAR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1.8.4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Report Outputs Tab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easily copy information from the Shear analysis summary so I can document it later.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tab includes: Sensor ID, Test Result (Pass/Fail), Shorted Channels Ch 1-N, Test Date DD/MM/YEAR, Test Taker Initials, Test Version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can copy values via the "Copy Values" button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Copied values should be pastable into Excel format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995092"/>
            <a:ext cx="6656832" cy="20016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sh_an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995092"/>
            <a:ext cx="6656832" cy="200167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9B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154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Manual Test Page</a:t>
            </a:r>
            <a:endParaRPr lang="en-US" sz="4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1.9  ·  MANUAL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1.9.1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Manual Testing Window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the Manual Test to open in a dedicated Manual Testing Window so that I can manually control the Zaber stage and perform custom tests.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Begin Test with Test Type = Manual Test opens a new window titled: "Manual Testing Window"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window includes manual control settings, actuator movement controls, live graphs, graph display controls, Pause, and Perform Analysis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78747" y="1810512"/>
            <a:ext cx="5557739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nu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747" y="1810512"/>
            <a:ext cx="5557739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1.9  ·  MANUAL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1.9.2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Control By Distance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manually control actuator movement by distance so that I can perform precise step-by-step actuator positioning and exploratory testing.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"Control By = Distance" is selected, the window displays: Increment Distance, Actuator Speed, Move Up, Move Down, Home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enters Increment Distance (mm) and Actuator Speed (mm/s)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Move Up moves the actuator upward using the specified Increment Distance and Actuator Speed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Move Down moves the actuator downward using the specified Increment Distance and Actuator Speed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Home returns the actuator to the home/original position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Current position and live graphs update after movement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Movement controls are temporarily disabled while the actuator is moving; re-enabled when motion completes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578747" y="1810512"/>
            <a:ext cx="5557739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nu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747" y="1810512"/>
            <a:ext cx="5557739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655347" y="3045760"/>
            <a:ext cx="1180229" cy="463802"/>
          </a:xfrm>
          <a:prstGeom prst="roundRect">
            <a:avLst>
              <a:gd name="adj" fmla="val 7886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1.9  ·  MANUAL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1.9.3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Control By Force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manually control actuator movement by force so that I can perform force-based compression testing and exploratory sensor characterization.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"Control By = Force" is selected, the window displays: Target Force, Actuator Speed, Release, Start Compression, Home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enters Target Force (N) and Actuator Speed (mm/s)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Start Compression begins actuator compression toward the selected Target Force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Release releases the applied compression or moves the actuator upward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Home returns the actuator to the home/original position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graphs update during compression and release behavior</a:t>
            </a:r>
            <a:endParaRPr lang="en-US" sz="8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8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Movement controls are temporarily disabled while the actuator is moving or compressing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578747" y="1810512"/>
            <a:ext cx="5557739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nual_test_for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747" y="1810512"/>
            <a:ext cx="5557739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655347" y="3045760"/>
            <a:ext cx="1180229" cy="463802"/>
          </a:xfrm>
          <a:prstGeom prst="roundRect">
            <a:avLst>
              <a:gd name="adj" fmla="val 7886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1.9  ·  MANUAL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1.9.4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Drag Position Control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stage actuator movement using a slider so that I can preview the desired position before physically moving the actuator.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window includes a Drag Position Control slider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Dragging the slider only stages a move and does not move the actuator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readout displays the selected position and travel from baseline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Confirm Drag Move remains disabled until the slider changes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actuator only moves after the user clicks Confirm Drag Move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Movement controls and Confirm Drag Move are disabled during active movement</a:t>
            </a:r>
            <a:endParaRPr lang="en-US" sz="9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Current position and live graphs update after movement completes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8747" y="1810512"/>
            <a:ext cx="5557739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nu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747" y="1810512"/>
            <a:ext cx="5557739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583850" y="2560635"/>
            <a:ext cx="3476035" cy="1386952"/>
          </a:xfrm>
          <a:prstGeom prst="roundRect">
            <a:avLst>
              <a:gd name="adj" fmla="val 2637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1.9  ·  MANUAL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1.9.5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Manual Test Live Graphs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live graphs during manual testing so that I can monitor sensor behavior while manually moving the actuator.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window displays three live graphs: Capacitance vs Force, Force vs Time, Capacitance vs Time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Graphs update when movement or compression occurs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78747" y="1810512"/>
            <a:ext cx="5557739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nu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747" y="1810512"/>
            <a:ext cx="5557739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655347" y="3931230"/>
            <a:ext cx="1818648" cy="1419921"/>
          </a:xfrm>
          <a:prstGeom prst="roundRect">
            <a:avLst>
              <a:gd name="adj" fmla="val 2576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1.9  ·  MANUAL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1.9.6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Graph Display Controls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graph display controls so that I can customize how live data is visualized.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edit Last Seconds to Display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edit Y-Axis Min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edit Y-Axis Limit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toggle Show Markers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user can toggle Cumulative 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78747" y="1810512"/>
            <a:ext cx="5557739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nu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747" y="1810512"/>
            <a:ext cx="5557739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655347" y="5334795"/>
            <a:ext cx="5404538" cy="421412"/>
          </a:xfrm>
          <a:prstGeom prst="roundRect">
            <a:avLst>
              <a:gd name="adj" fmla="val 867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1.9  ·  MANUAL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1.9.7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Pause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pause Manual Testing so that I can stop active movement or graph updates safely.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Pause stops active actuator movement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Graph updates pause while the workflow is paused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Movement controls remain locked until the system is safe/ready again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78747" y="1810512"/>
            <a:ext cx="5557739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nu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747" y="1810512"/>
            <a:ext cx="5557739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655347" y="5739850"/>
            <a:ext cx="2719867" cy="308374"/>
          </a:xfrm>
          <a:prstGeom prst="roundRect">
            <a:avLst>
              <a:gd name="adj" fmla="val 11861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1.9  ·  MANUAL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1.9.8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Perform Analysis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perform analysis on manual test data so that I can review results from the current preview/manual dataset.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Perform Analysis becomes available after manual test data exists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Perform Analysis generates manual analysis from the current preview data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Shows a loading state before opening the Manual Analysis Page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78747" y="1810512"/>
            <a:ext cx="5557739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nu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747" y="1810512"/>
            <a:ext cx="5557739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340018" y="5739850"/>
            <a:ext cx="2719867" cy="308374"/>
          </a:xfrm>
          <a:prstGeom prst="roundRect">
            <a:avLst>
              <a:gd name="adj" fmla="val 11861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1.9  ·  MANUAL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1.9.9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 Icons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informational help icons throughout the window so that I can quickly understand fields, workflows, and testing terminology without needing external documentation.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 ICONS ON THIS PAGE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Control By: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Distance mode moves the actuator by a chosen millimeter increment. Force mode simulates compression until the selected target force is reached.</a:t>
            </a:r>
            <a:endParaRPr lang="en-US" sz="80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Increment Distance: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Distance used for each Move Up or Move Down click. Move Down adds distance from the actuator baseline; Move Up subtracts it.</a:t>
            </a:r>
            <a:endParaRPr lang="en-US" sz="80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Actuator Speed: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Assumed actuator travel speed used to estimate elapsed time on the manual preview graphs. Default is 2.0 mm/s.</a:t>
            </a:r>
            <a:endParaRPr lang="en-US" sz="80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Drag Position Control (mm):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Drag to choose a target position from 17 mm baseline to 50.8 mm max (full actuator travel). The actuator only moves after Confirm Drag Move is pressed.</a:t>
            </a:r>
            <a:endParaRPr lang="en-US" sz="80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Last Seconds to Display: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Cumulative Time is off, time-based graphs show only the last selected number of seconds.</a:t>
            </a:r>
            <a:endParaRPr lang="en-US" sz="80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Y-Axis Min: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Lowest value shown on the manual test graph y-axis.</a:t>
            </a:r>
            <a:endParaRPr lang="en-US" sz="80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Y-Axis Limit: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Highest value shown on the manual test graph y-axis.</a:t>
            </a:r>
            <a:endParaRPr lang="en-US" sz="80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Show Markers: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Shows individual data points on top of the graph line.</a:t>
            </a:r>
            <a:endParaRPr lang="en-US" sz="80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Cumulative Time: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on, the graph shows the entire run from start to finish and ignores Seconds to Display.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78747" y="1810512"/>
            <a:ext cx="5557739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nu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747" y="1810512"/>
            <a:ext cx="5557739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085351" y="2560635"/>
            <a:ext cx="185915" cy="185915"/>
          </a:xfrm>
          <a:prstGeom prst="roundRect">
            <a:avLst>
              <a:gd name="adj" fmla="val 1967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22038" y="3045760"/>
            <a:ext cx="185915" cy="185915"/>
          </a:xfrm>
          <a:prstGeom prst="roundRect">
            <a:avLst>
              <a:gd name="adj" fmla="val 1967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74337" y="3483785"/>
            <a:ext cx="185915" cy="185915"/>
          </a:xfrm>
          <a:prstGeom prst="roundRect">
            <a:avLst>
              <a:gd name="adj" fmla="val 1967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19169" y="2640704"/>
            <a:ext cx="185915" cy="185915"/>
          </a:xfrm>
          <a:prstGeom prst="roundRect">
            <a:avLst>
              <a:gd name="adj" fmla="val 1967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1441" y="5334795"/>
            <a:ext cx="185915" cy="185915"/>
          </a:xfrm>
          <a:prstGeom prst="roundRect">
            <a:avLst>
              <a:gd name="adj" fmla="val 1967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32102" y="5334795"/>
            <a:ext cx="185915" cy="185915"/>
          </a:xfrm>
          <a:prstGeom prst="roundRect">
            <a:avLst>
              <a:gd name="adj" fmla="val 1967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93017" y="5334795"/>
            <a:ext cx="185915" cy="185915"/>
          </a:xfrm>
          <a:prstGeom prst="roundRect">
            <a:avLst>
              <a:gd name="adj" fmla="val 1967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735266" y="5506708"/>
            <a:ext cx="185915" cy="185915"/>
          </a:xfrm>
          <a:prstGeom prst="roundRect">
            <a:avLst>
              <a:gd name="adj" fmla="val 1967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830035" y="5506708"/>
            <a:ext cx="185915" cy="185915"/>
          </a:xfrm>
          <a:prstGeom prst="roundRect">
            <a:avLst>
              <a:gd name="adj" fmla="val 19674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9B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154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Manual Analysis Page</a:t>
            </a:r>
            <a:endParaRPr lang="en-US" sz="4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1.10  ·  MANUAL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1.10.1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Manual Analysis Window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Manual Test results to open in a dedicated analysis window so that I can review the data collected during manual actuator movement.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Perform Analysis from the Manual Testing Window opens a new window titled: "Manual Analysis Data and Plots"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window displays plots generated from the current manual test data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window includes tabs for different manual analysis plots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167611"/>
            <a:ext cx="6656832" cy="3656635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n_an_force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167611"/>
            <a:ext cx="6656832" cy="365663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094376" y="2597988"/>
            <a:ext cx="6526479" cy="257962"/>
          </a:xfrm>
          <a:prstGeom prst="roundRect">
            <a:avLst>
              <a:gd name="adj" fmla="val 1417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1.10  ·  MANUAL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1.10.2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Manual Analysis Plot Tabs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Manual Analysis plots organized into tabs so that I can switch between different sensor relationships easily.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Tabs include: Capacitance vs Force, Force vs Time, Capacitance vs Time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each tab updates the displayed plot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Plots are generated from the current manual test data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 points are shown with markers and connected by a line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167611"/>
            <a:ext cx="6656832" cy="3656635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man_an_force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167611"/>
            <a:ext cx="6656832" cy="365663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094376" y="2597988"/>
            <a:ext cx="6526479" cy="257962"/>
          </a:xfrm>
          <a:prstGeom prst="roundRect">
            <a:avLst>
              <a:gd name="adj" fmla="val 1417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9B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3154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Cyclical Test Page</a:t>
            </a:r>
            <a:endParaRPr lang="en-US" sz="4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1.11  ·  CYCLICAL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1.11.1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Cyclical Testing Window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the Cyclical Test to open in a dedicated Cyclical Testing Window so that I can monitor and control a cyclical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Clicking Begin Test with Test Type = Cyclical Test opens a new window titled: "Cyclical Testing Window"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59929" y="1810512"/>
            <a:ext cx="6595373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yclic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929" y="1810512"/>
            <a:ext cx="6595373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1.11  ·  CYCLICAL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1.11.2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Waveform Type Dropdown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perform cyclical tests with different waveform outputs.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can click a "Waveform Type" dropdown menu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Options include: Sine, Square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59929" y="1810512"/>
            <a:ext cx="6595373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yclic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929" y="1810512"/>
            <a:ext cx="6595373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58514" y="2876045"/>
            <a:ext cx="2094444" cy="350582"/>
          </a:xfrm>
          <a:prstGeom prst="roundRect">
            <a:avLst>
              <a:gd name="adj" fmla="val 10433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1.11  ·  CYCLICAL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1.11.3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Lower Force Bound Integer Field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control the lower bound of the waveform during a cyclical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enters a positive integer into the "Lower Force Bound (N)" field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integer must be strictly greater than 0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integer must be strictly lower than the Upper Force Bound (N) value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Otherwise, an error message displays informing the user the lower bound is larger than the upper bound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Default lower bound is 1 Newton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59929" y="1810512"/>
            <a:ext cx="6595373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yclic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929" y="1810512"/>
            <a:ext cx="6595373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58514" y="3387466"/>
            <a:ext cx="1692014" cy="350582"/>
          </a:xfrm>
          <a:prstGeom prst="roundRect">
            <a:avLst>
              <a:gd name="adj" fmla="val 10433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1.11  ·  CYCLICAL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1.11.4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Upper Force Bound Integer Field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control the upper bound of the waveform during a cyclical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enters a positive integer into the "Upper Force Bound (N)" field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integer must be lower than or equal to 32 Newtons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integer must be strictly higher than the Lower Force Bound (N) value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Otherwise, an error message displays informing the user the upper bound is lower than the lower bound</a:t>
            </a:r>
            <a:endParaRPr lang="en-US" sz="10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Default upper bound is 20 Newtons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59929" y="1810512"/>
            <a:ext cx="6595373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yclic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929" y="1810512"/>
            <a:ext cx="6595373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58514" y="3907271"/>
            <a:ext cx="1692014" cy="350582"/>
          </a:xfrm>
          <a:prstGeom prst="roundRect">
            <a:avLst>
              <a:gd name="adj" fmla="val 10433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1.11  ·  CYCLICAL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1.11.5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Frequency Integer Field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3533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35331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control how many cycles occur per second by manipulating the frequency of the cyclical waveform.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416052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enters a positive integer into the "Frequency (Hz)" field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integer represents the number of wave cycles that occur per second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Default frequency is 1 Hertz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59929" y="1810512"/>
            <a:ext cx="6595373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yclic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929" y="1810512"/>
            <a:ext cx="6595373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58514" y="4427076"/>
            <a:ext cx="1692014" cy="350582"/>
          </a:xfrm>
          <a:prstGeom prst="roundRect">
            <a:avLst>
              <a:gd name="adj" fmla="val 10433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1.11  ·  CYCLICAL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1.11.6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Number of Cycles Integer Field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control the number of cycles that should be completed before the test ends.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enters a positive integer into the "Number of Cycles" field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message below the field displays the test duration computed from Frequency and Number of Cycles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Default is 28,800 cycles (8 hours at 1 Hz)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59929" y="1810512"/>
            <a:ext cx="6595373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yclic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929" y="1810512"/>
            <a:ext cx="6595373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58514" y="4938497"/>
            <a:ext cx="2094444" cy="350582"/>
          </a:xfrm>
          <a:prstGeom prst="roundRect">
            <a:avLst>
              <a:gd name="adj" fmla="val 10433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1.11  ·  CYCLICAL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1.11.7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Start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start a cyclical test.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clicks a "Start" button to begin the Cyclical test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All input fields must be filled in with valid values for the test to begin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Once Start is clicked, all input fields are disabled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59929" y="1810512"/>
            <a:ext cx="6595373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yclic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929" y="1810512"/>
            <a:ext cx="6595373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58514" y="5665106"/>
            <a:ext cx="1060423" cy="350582"/>
          </a:xfrm>
          <a:prstGeom prst="roundRect">
            <a:avLst>
              <a:gd name="adj" fmla="val 10433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1.11  ·  CYCLICAL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1.11.8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Stop Button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pause a cyclical test while it is running.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clicks a "Stop" button to pause the Cyclical test while it is occurring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Stopping deletes the previous data and restarts the cyclical test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59929" y="1810512"/>
            <a:ext cx="6595373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yclic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929" y="1810512"/>
            <a:ext cx="6595373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192534" y="5665106"/>
            <a:ext cx="1060423" cy="350582"/>
          </a:xfrm>
          <a:prstGeom prst="roundRect">
            <a:avLst>
              <a:gd name="adj" fmla="val 10433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1.11  ·  CYCLICAL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1.11.9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Display Graph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234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7040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to look at a live graph of the Cyclical test while it is running.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93592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right side of the page displays a live Force vs Time graph while a cyclical test is running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graph is blank when nothing is running</a:t>
            </a:r>
            <a:endParaRPr lang="en-US" sz="1150" dirty="0"/>
          </a:p>
          <a:p>
            <a:pPr marL="203200" indent="-2032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Completing the cyclical test saves the graph to the previously selected save folder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59929" y="1810512"/>
            <a:ext cx="6595373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yclic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929" y="1810512"/>
            <a:ext cx="6595373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32751" y="2781027"/>
            <a:ext cx="4151306" cy="3229071"/>
          </a:xfrm>
          <a:prstGeom prst="roundRect">
            <a:avLst>
              <a:gd name="adj" fmla="val 1133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FEATURE 1.11  ·  CYCLICAL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 1.11.11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34472" y="42062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0634472" y="4206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 Icons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160520" cy="15407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1540764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9568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2231136"/>
            <a:ext cx="3703320" cy="10104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a test fixture user, I want informational help icons throughout the window so that I can quickly understand fields, workflows, and testing terminology without needing external documentation.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890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 ICONS ON THIS PAGE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9916"/>
            <a:ext cx="4160520" cy="24551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Waveform Type: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Choose the force waveform used to cycle the actuator between the lower and upper force bounds. Sine is a smooth press/release. Square holds at each bound.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Lower Force Bound: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Lowest force target in each fatigue cycle. Example: cycle between 1 N and 20 N.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Upper Force Bound: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Highest force target in each fatigue cycle. The actuator compresses the sensor repeatedly up to this force.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Frequency: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Number of fatigue cycles per second.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Number of Cycles: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B677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Total fatigue cycles to run. Default is 28800 cycles.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59929" y="1810512"/>
            <a:ext cx="6595373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Users/jacqueline/Downloads/ZaberTkinterGUI/mockups/shots/cyclical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929" y="1810512"/>
            <a:ext cx="6595373" cy="43708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853508" y="2708366"/>
            <a:ext cx="205261" cy="205261"/>
          </a:xfrm>
          <a:prstGeom prst="roundRect">
            <a:avLst>
              <a:gd name="adj" fmla="val 1781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99703" y="3211403"/>
            <a:ext cx="205261" cy="205261"/>
          </a:xfrm>
          <a:prstGeom prst="roundRect">
            <a:avLst>
              <a:gd name="adj" fmla="val 1781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04070" y="3731208"/>
            <a:ext cx="205261" cy="205261"/>
          </a:xfrm>
          <a:prstGeom prst="roundRect">
            <a:avLst>
              <a:gd name="adj" fmla="val 1781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46268" y="4251013"/>
            <a:ext cx="205261" cy="205261"/>
          </a:xfrm>
          <a:prstGeom prst="roundRect">
            <a:avLst>
              <a:gd name="adj" fmla="val 1781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4422" y="4770818"/>
            <a:ext cx="205261" cy="205261"/>
          </a:xfrm>
          <a:prstGeom prst="roundRect">
            <a:avLst>
              <a:gd name="adj" fmla="val 17819"/>
            </a:avLst>
          </a:prstGeom>
          <a:solidFill>
            <a:srgbClr val="F08A24">
              <a:alpha val="10000"/>
            </a:srgbClr>
          </a:solidFill>
          <a:ln w="25400">
            <a:solidFill>
              <a:srgbClr val="F08A2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Fixture GUI Mockups</dc:title>
  <dc:subject>PptxGenJS Presentation</dc:subject>
  <dc:creator>Jacqueline Chuang</dc:creator>
  <cp:lastModifiedBy>Jacqueline Chuang</cp:lastModifiedBy>
  <cp:revision>1</cp:revision>
  <dcterms:created xsi:type="dcterms:W3CDTF">2026-06-24T23:49:17Z</dcterms:created>
  <dcterms:modified xsi:type="dcterms:W3CDTF">2026-06-24T23:49:17Z</dcterms:modified>
</cp:coreProperties>
</file>