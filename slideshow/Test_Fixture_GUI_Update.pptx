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3"/>
        </a:solidFill>
      </p:bgPr>
    </p:bg>
    <p:spTree>
      <p:nvGrpSpPr>
        <p:cNvPr id="1" name=""/>
        <p:cNvGrpSpPr/>
        <p:nvPr/>
      </p:nvGrpSpPr>
      <p:grpSpPr>
        <a:xfrm>
          <a:off x="0" y="0"/>
          <a:ext cx="0" cy="0"/>
          <a:chOff x="0" y="0"/>
          <a:chExt cx="0" cy="0"/>
        </a:xfrm>
      </p:grpSpPr>
      <p:sp>
        <p:nvSpPr>
          <p:cNvPr id="2" name="Text 0"/>
          <p:cNvSpPr/>
          <p:nvPr/>
        </p:nvSpPr>
        <p:spPr>
          <a:xfrm>
            <a:off x="640080" y="1828800"/>
            <a:ext cx="10908792" cy="320040"/>
          </a:xfrm>
          <a:prstGeom prst="rect">
            <a:avLst/>
          </a:prstGeom>
          <a:noFill/>
          <a:ln/>
        </p:spPr>
        <p:txBody>
          <a:bodyPr wrap="square" lIns="0" tIns="0" rIns="0" bIns="0" rtlCol="0" anchor="ctr"/>
          <a:lstStyle/>
          <a:p>
            <a:pPr indent="0" marL="0">
              <a:buNone/>
            </a:pPr>
            <a:r>
              <a:rPr lang="en-US" sz="1300" b="1" spc="300" kern="0" dirty="0">
                <a:solidFill>
                  <a:srgbClr val="2F6FE0"/>
                </a:solidFill>
                <a:latin typeface="Nunito" pitchFamily="34" charset="0"/>
                <a:ea typeface="Nunito" pitchFamily="34" charset="-122"/>
                <a:cs typeface="Nunito" pitchFamily="34" charset="-120"/>
              </a:rPr>
              <a:t>PROGRESS UPDATE  ·  JUNE-JULY 2026</a:t>
            </a:r>
            <a:endParaRPr lang="en-US" sz="1300" dirty="0"/>
          </a:p>
        </p:txBody>
      </p:sp>
      <p:sp>
        <p:nvSpPr>
          <p:cNvPr id="3" name="Text 1"/>
          <p:cNvSpPr/>
          <p:nvPr/>
        </p:nvSpPr>
        <p:spPr>
          <a:xfrm>
            <a:off x="640080" y="2240280"/>
            <a:ext cx="10908792" cy="1097280"/>
          </a:xfrm>
          <a:prstGeom prst="rect">
            <a:avLst/>
          </a:prstGeom>
          <a:noFill/>
          <a:ln/>
        </p:spPr>
        <p:txBody>
          <a:bodyPr wrap="square" lIns="0" tIns="0" rIns="0" bIns="0" rtlCol="0" anchor="ctr"/>
          <a:lstStyle/>
          <a:p>
            <a:pPr indent="0" marL="0">
              <a:buNone/>
            </a:pPr>
            <a:r>
              <a:rPr lang="en-US" sz="6000" b="1" dirty="0">
                <a:solidFill>
                  <a:srgbClr val="FFFFFF"/>
                </a:solidFill>
                <a:latin typeface="Nunito" pitchFamily="34" charset="0"/>
                <a:ea typeface="Nunito" pitchFamily="34" charset="-122"/>
                <a:cs typeface="Nunito" pitchFamily="34" charset="-120"/>
              </a:rPr>
              <a:t>Test Fixture GUI</a:t>
            </a:r>
            <a:endParaRPr lang="en-US" sz="6000" dirty="0"/>
          </a:p>
        </p:txBody>
      </p:sp>
      <p:sp>
        <p:nvSpPr>
          <p:cNvPr id="4" name="Text 2"/>
          <p:cNvSpPr/>
          <p:nvPr/>
        </p:nvSpPr>
        <p:spPr>
          <a:xfrm>
            <a:off x="640080" y="3383280"/>
            <a:ext cx="10908792" cy="457200"/>
          </a:xfrm>
          <a:prstGeom prst="rect">
            <a:avLst/>
          </a:prstGeom>
          <a:noFill/>
          <a:ln/>
        </p:spPr>
        <p:txBody>
          <a:bodyPr wrap="square" lIns="0" tIns="0" rIns="0" bIns="0" rtlCol="0" anchor="ctr"/>
          <a:lstStyle/>
          <a:p>
            <a:pPr indent="0" marL="0">
              <a:buNone/>
            </a:pPr>
            <a:r>
              <a:rPr lang="en-US" sz="2100" dirty="0">
                <a:solidFill>
                  <a:srgbClr val="C7D0D6"/>
                </a:solidFill>
                <a:latin typeface="Nunito" pitchFamily="34" charset="0"/>
                <a:ea typeface="Nunito" pitchFamily="34" charset="-122"/>
                <a:cs typeface="Nunito" pitchFamily="34" charset="-120"/>
              </a:rPr>
              <a:t>Bench control software for the sensor-team test fixture</a:t>
            </a:r>
            <a:endParaRPr lang="en-US" sz="2100" dirty="0"/>
          </a:p>
        </p:txBody>
      </p:sp>
      <p:sp>
        <p:nvSpPr>
          <p:cNvPr id="5" name="Text 3"/>
          <p:cNvSpPr/>
          <p:nvPr/>
        </p:nvSpPr>
        <p:spPr>
          <a:xfrm>
            <a:off x="640080" y="5806440"/>
            <a:ext cx="10908792" cy="365760"/>
          </a:xfrm>
          <a:prstGeom prst="rect">
            <a:avLst/>
          </a:prstGeom>
          <a:noFill/>
          <a:ln/>
        </p:spPr>
        <p:txBody>
          <a:bodyPr wrap="square" lIns="0" tIns="0" rIns="0" bIns="0" rtlCol="0" anchor="ctr"/>
          <a:lstStyle/>
          <a:p>
            <a:pPr indent="0" marL="0">
              <a:buNone/>
            </a:pPr>
            <a:r>
              <a:rPr lang="en-US" sz="1300" b="1" spc="100" kern="0" dirty="0">
                <a:solidFill>
                  <a:srgbClr val="7E8B94"/>
                </a:solidFill>
                <a:latin typeface="Nunito" pitchFamily="34" charset="0"/>
                <a:ea typeface="Nunito" pitchFamily="34" charset="-122"/>
                <a:cs typeface="Nunito" pitchFamily="34" charset="-120"/>
              </a:rPr>
              <a:t>EM      ·      Calibration      ·      Manual      ·      Shear      ·      Fatigue</a:t>
            </a:r>
            <a:endParaRPr lang="en-US" sz="1300" dirty="0"/>
          </a:p>
        </p:txBody>
      </p:sp>
      <p:sp>
        <p:nvSpPr>
          <p:cNvPr id="6" name="Text 4"/>
          <p:cNvSpPr/>
          <p:nvPr/>
        </p:nvSpPr>
        <p:spPr>
          <a:xfrm>
            <a:off x="640080" y="6199632"/>
            <a:ext cx="10908792" cy="320040"/>
          </a:xfrm>
          <a:prstGeom prst="rect">
            <a:avLst/>
          </a:prstGeom>
          <a:noFill/>
          <a:ln/>
        </p:spPr>
        <p:txBody>
          <a:bodyPr wrap="square" lIns="0" tIns="0" rIns="0" bIns="0" rtlCol="0" anchor="ctr"/>
          <a:lstStyle/>
          <a:p>
            <a:pPr indent="0" marL="0">
              <a:buNone/>
            </a:pPr>
            <a:r>
              <a:rPr lang="en-US" sz="1300" dirty="0">
                <a:solidFill>
                  <a:srgbClr val="C7D0D6"/>
                </a:solidFill>
                <a:latin typeface="Nunito" pitchFamily="34" charset="0"/>
                <a:ea typeface="Nunito" pitchFamily="34" charset="-122"/>
                <a:cs typeface="Nunito" pitchFamily="34" charset="-120"/>
              </a:rPr>
              <a:t>Jacqueline Chuang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OVERVIEW</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What it is</a:t>
            </a:r>
            <a:endParaRPr lang="en-US" sz="3100" dirty="0"/>
          </a:p>
        </p:txBody>
      </p:sp>
      <p:sp>
        <p:nvSpPr>
          <p:cNvPr id="4" name="Text 2"/>
          <p:cNvSpPr/>
          <p:nvPr/>
        </p:nvSpPr>
        <p:spPr>
          <a:xfrm>
            <a:off x="640080" y="1691640"/>
            <a:ext cx="10908792" cy="914400"/>
          </a:xfrm>
          <a:prstGeom prst="rect">
            <a:avLst/>
          </a:prstGeom>
          <a:noFill/>
          <a:ln/>
        </p:spPr>
        <p:txBody>
          <a:bodyPr wrap="square" lIns="0" tIns="0" rIns="0" bIns="0" rtlCol="0" anchor="ctr"/>
          <a:lstStyle/>
          <a:p>
            <a:pPr indent="0" marL="0">
              <a:lnSpc>
                <a:spcPct val="120000"/>
              </a:lnSpc>
              <a:buNone/>
            </a:pPr>
            <a:r>
              <a:rPr lang="en-US" sz="1700" dirty="0">
                <a:solidFill>
                  <a:srgbClr val="5B6770"/>
                </a:solidFill>
                <a:latin typeface="Nunito" pitchFamily="34" charset="0"/>
                <a:ea typeface="Nunito" pitchFamily="34" charset="-122"/>
                <a:cs typeface="Nunito" pitchFamily="34" charset="-120"/>
              </a:rPr>
              <a:t>A single browser-based app an operator uses at the bench to run the sensor team's mechanical tests - driving a precision actuator into a sensor while reading a load cell, with every test, safety check, and result in one place.</a:t>
            </a:r>
            <a:endParaRPr lang="en-US" sz="1700" dirty="0"/>
          </a:p>
        </p:txBody>
      </p:sp>
      <p:sp>
        <p:nvSpPr>
          <p:cNvPr id="5" name="Shape 3"/>
          <p:cNvSpPr/>
          <p:nvPr/>
        </p:nvSpPr>
        <p:spPr>
          <a:xfrm>
            <a:off x="640080" y="3200400"/>
            <a:ext cx="2743200" cy="1554480"/>
          </a:xfrm>
          <a:prstGeom prst="roundRect">
            <a:avLst>
              <a:gd name="adj" fmla="val 3529"/>
            </a:avLst>
          </a:prstGeom>
          <a:solidFill>
            <a:srgbClr val="F4F6F8"/>
          </a:solidFill>
          <a:ln/>
          <a:effectLst>
            <a:outerShdw sx="100000" sy="100000" kx="0" ky="0" algn="bl" rotWithShape="0" blurRad="101600" dist="38100" dir="5400000">
              <a:srgbClr val="000000">
                <a:alpha val="10000"/>
              </a:srgbClr>
            </a:outerShdw>
          </a:effectLst>
        </p:spPr>
      </p:sp>
      <p:sp>
        <p:nvSpPr>
          <p:cNvPr id="6" name="Text 4"/>
          <p:cNvSpPr/>
          <p:nvPr/>
        </p:nvSpPr>
        <p:spPr>
          <a:xfrm>
            <a:off x="914400" y="3456432"/>
            <a:ext cx="2194560" cy="457200"/>
          </a:xfrm>
          <a:prstGeom prst="rect">
            <a:avLst/>
          </a:prstGeom>
          <a:noFill/>
          <a:ln/>
        </p:spPr>
        <p:txBody>
          <a:bodyPr wrap="square" lIns="0" tIns="0" rIns="0" bIns="0" rtlCol="0" anchor="ctr"/>
          <a:lstStyle/>
          <a:p>
            <a:pPr indent="0" marL="0">
              <a:buNone/>
            </a:pPr>
            <a:r>
              <a:rPr lang="en-US" sz="2000" b="1" dirty="0">
                <a:solidFill>
                  <a:srgbClr val="2F6FE0"/>
                </a:solidFill>
                <a:latin typeface="Nunito" pitchFamily="34" charset="0"/>
                <a:ea typeface="Nunito" pitchFamily="34" charset="-122"/>
                <a:cs typeface="Nunito" pitchFamily="34" charset="-120"/>
              </a:rPr>
              <a:t>GUI</a:t>
            </a:r>
            <a:endParaRPr lang="en-US" sz="2000" dirty="0"/>
          </a:p>
        </p:txBody>
      </p:sp>
      <p:sp>
        <p:nvSpPr>
          <p:cNvPr id="7" name="Text 5"/>
          <p:cNvSpPr/>
          <p:nvPr/>
        </p:nvSpPr>
        <p:spPr>
          <a:xfrm>
            <a:off x="914400" y="3950208"/>
            <a:ext cx="2194560" cy="640080"/>
          </a:xfrm>
          <a:prstGeom prst="rect">
            <a:avLst/>
          </a:prstGeom>
          <a:noFill/>
          <a:ln/>
        </p:spPr>
        <p:txBody>
          <a:bodyPr wrap="square" lIns="0" tIns="0" rIns="0" bIns="0" rtlCol="0" anchor="ctr"/>
          <a:lstStyle/>
          <a:p>
            <a:pPr indent="0" marL="0">
              <a:lnSpc>
                <a:spcPct val="105000"/>
              </a:lnSpc>
              <a:buNone/>
            </a:pPr>
            <a:r>
              <a:rPr lang="en-US" sz="1350" dirty="0">
                <a:solidFill>
                  <a:srgbClr val="5B6770"/>
                </a:solidFill>
                <a:latin typeface="Nunito" pitchFamily="34" charset="0"/>
                <a:ea typeface="Nunito" pitchFamily="34" charset="-122"/>
                <a:cs typeface="Nunito" pitchFamily="34" charset="-120"/>
              </a:rPr>
              <a:t>Operator's laptop</a:t>
            </a:r>
            <a:endParaRPr lang="en-US" sz="1350" dirty="0"/>
          </a:p>
          <a:p>
            <a:pPr indent="0" marL="0">
              <a:lnSpc>
                <a:spcPct val="105000"/>
              </a:lnSpc>
              <a:buNone/>
            </a:pPr>
            <a:r>
              <a:rPr lang="en-US" sz="1350" dirty="0">
                <a:solidFill>
                  <a:srgbClr val="5B6770"/>
                </a:solidFill>
                <a:latin typeface="Nunito" pitchFamily="34" charset="0"/>
                <a:ea typeface="Nunito" pitchFamily="34" charset="-122"/>
                <a:cs typeface="Nunito" pitchFamily="34" charset="-120"/>
              </a:rPr>
              <a:t>or the bench PC</a:t>
            </a:r>
            <a:endParaRPr lang="en-US" sz="1350" dirty="0"/>
          </a:p>
        </p:txBody>
      </p:sp>
      <p:sp>
        <p:nvSpPr>
          <p:cNvPr id="8" name="Text 6"/>
          <p:cNvSpPr/>
          <p:nvPr/>
        </p:nvSpPr>
        <p:spPr>
          <a:xfrm>
            <a:off x="3383280" y="3200400"/>
            <a:ext cx="1339596" cy="1554480"/>
          </a:xfrm>
          <a:prstGeom prst="rect">
            <a:avLst/>
          </a:prstGeom>
          <a:noFill/>
          <a:ln/>
        </p:spPr>
        <p:txBody>
          <a:bodyPr wrap="square" lIns="0" tIns="0" rIns="0" bIns="0" rtlCol="0" anchor="ctr"/>
          <a:lstStyle/>
          <a:p>
            <a:pPr algn="ctr" indent="0" marL="0">
              <a:buNone/>
            </a:pPr>
            <a:r>
              <a:rPr lang="en-US" sz="2600" dirty="0">
                <a:solidFill>
                  <a:srgbClr val="AEB7BE"/>
                </a:solidFill>
                <a:latin typeface="Nunito" pitchFamily="34" charset="0"/>
                <a:ea typeface="Nunito" pitchFamily="34" charset="-122"/>
                <a:cs typeface="Nunito" pitchFamily="34" charset="-120"/>
              </a:rPr>
              <a:t>→</a:t>
            </a:r>
            <a:endParaRPr lang="en-US" sz="2600" dirty="0"/>
          </a:p>
        </p:txBody>
      </p:sp>
      <p:sp>
        <p:nvSpPr>
          <p:cNvPr id="9" name="Shape 7"/>
          <p:cNvSpPr/>
          <p:nvPr/>
        </p:nvSpPr>
        <p:spPr>
          <a:xfrm>
            <a:off x="4722876" y="3200400"/>
            <a:ext cx="2743200" cy="1554480"/>
          </a:xfrm>
          <a:prstGeom prst="roundRect">
            <a:avLst>
              <a:gd name="adj" fmla="val 3529"/>
            </a:avLst>
          </a:prstGeom>
          <a:solidFill>
            <a:srgbClr val="F4F6F8"/>
          </a:solidFill>
          <a:ln/>
          <a:effectLst>
            <a:outerShdw sx="100000" sy="100000" kx="0" ky="0" algn="bl" rotWithShape="0" blurRad="101600" dist="38100" dir="5400000">
              <a:srgbClr val="000000">
                <a:alpha val="10000"/>
              </a:srgbClr>
            </a:outerShdw>
          </a:effectLst>
        </p:spPr>
      </p:sp>
      <p:sp>
        <p:nvSpPr>
          <p:cNvPr id="10" name="Text 8"/>
          <p:cNvSpPr/>
          <p:nvPr/>
        </p:nvSpPr>
        <p:spPr>
          <a:xfrm>
            <a:off x="4997196" y="3456432"/>
            <a:ext cx="2194560" cy="457200"/>
          </a:xfrm>
          <a:prstGeom prst="rect">
            <a:avLst/>
          </a:prstGeom>
          <a:noFill/>
          <a:ln/>
        </p:spPr>
        <p:txBody>
          <a:bodyPr wrap="square" lIns="0" tIns="0" rIns="0" bIns="0" rtlCol="0" anchor="ctr"/>
          <a:lstStyle/>
          <a:p>
            <a:pPr indent="0" marL="0">
              <a:buNone/>
            </a:pPr>
            <a:r>
              <a:rPr lang="en-US" sz="2000" b="1" dirty="0">
                <a:solidFill>
                  <a:srgbClr val="1F2933"/>
                </a:solidFill>
                <a:latin typeface="Nunito" pitchFamily="34" charset="0"/>
                <a:ea typeface="Nunito" pitchFamily="34" charset="-122"/>
                <a:cs typeface="Nunito" pitchFamily="34" charset="-120"/>
              </a:rPr>
              <a:t>Hardware</a:t>
            </a:r>
            <a:endParaRPr lang="en-US" sz="2000" dirty="0"/>
          </a:p>
        </p:txBody>
      </p:sp>
      <p:sp>
        <p:nvSpPr>
          <p:cNvPr id="11" name="Text 9"/>
          <p:cNvSpPr/>
          <p:nvPr/>
        </p:nvSpPr>
        <p:spPr>
          <a:xfrm>
            <a:off x="4997196" y="3950208"/>
            <a:ext cx="2194560" cy="640080"/>
          </a:xfrm>
          <a:prstGeom prst="rect">
            <a:avLst/>
          </a:prstGeom>
          <a:noFill/>
          <a:ln/>
        </p:spPr>
        <p:txBody>
          <a:bodyPr wrap="square" lIns="0" tIns="0" rIns="0" bIns="0" rtlCol="0" anchor="ctr"/>
          <a:lstStyle/>
          <a:p>
            <a:pPr indent="0" marL="0">
              <a:lnSpc>
                <a:spcPct val="105000"/>
              </a:lnSpc>
              <a:buNone/>
            </a:pPr>
            <a:r>
              <a:rPr lang="en-US" sz="1350" dirty="0">
                <a:solidFill>
                  <a:srgbClr val="5B6770"/>
                </a:solidFill>
                <a:latin typeface="Nunito" pitchFamily="34" charset="0"/>
                <a:ea typeface="Nunito" pitchFamily="34" charset="-122"/>
                <a:cs typeface="Nunito" pitchFamily="34" charset="-120"/>
              </a:rPr>
              <a:t>Zaber actuator +</a:t>
            </a:r>
            <a:endParaRPr lang="en-US" sz="1350" dirty="0"/>
          </a:p>
          <a:p>
            <a:pPr indent="0" marL="0">
              <a:lnSpc>
                <a:spcPct val="105000"/>
              </a:lnSpc>
              <a:buNone/>
            </a:pPr>
            <a:r>
              <a:rPr lang="en-US" sz="1350" dirty="0">
                <a:solidFill>
                  <a:srgbClr val="5B6770"/>
                </a:solidFill>
                <a:latin typeface="Nunito" pitchFamily="34" charset="0"/>
                <a:ea typeface="Nunito" pitchFamily="34" charset="-122"/>
                <a:cs typeface="Nunito" pitchFamily="34" charset="-120"/>
              </a:rPr>
              <a:t>FUTEK load cell</a:t>
            </a:r>
            <a:endParaRPr lang="en-US" sz="1350" dirty="0"/>
          </a:p>
        </p:txBody>
      </p:sp>
      <p:sp>
        <p:nvSpPr>
          <p:cNvPr id="12" name="Text 10"/>
          <p:cNvSpPr/>
          <p:nvPr/>
        </p:nvSpPr>
        <p:spPr>
          <a:xfrm>
            <a:off x="7466076" y="3200400"/>
            <a:ext cx="1339596" cy="1554480"/>
          </a:xfrm>
          <a:prstGeom prst="rect">
            <a:avLst/>
          </a:prstGeom>
          <a:noFill/>
          <a:ln/>
        </p:spPr>
        <p:txBody>
          <a:bodyPr wrap="square" lIns="0" tIns="0" rIns="0" bIns="0" rtlCol="0" anchor="ctr"/>
          <a:lstStyle/>
          <a:p>
            <a:pPr algn="ctr" indent="0" marL="0">
              <a:buNone/>
            </a:pPr>
            <a:r>
              <a:rPr lang="en-US" sz="2600" dirty="0">
                <a:solidFill>
                  <a:srgbClr val="AEB7BE"/>
                </a:solidFill>
                <a:latin typeface="Nunito" pitchFamily="34" charset="0"/>
                <a:ea typeface="Nunito" pitchFamily="34" charset="-122"/>
                <a:cs typeface="Nunito" pitchFamily="34" charset="-120"/>
              </a:rPr>
              <a:t>→</a:t>
            </a:r>
            <a:endParaRPr lang="en-US" sz="2600" dirty="0"/>
          </a:p>
        </p:txBody>
      </p:sp>
      <p:sp>
        <p:nvSpPr>
          <p:cNvPr id="13" name="Shape 11"/>
          <p:cNvSpPr/>
          <p:nvPr/>
        </p:nvSpPr>
        <p:spPr>
          <a:xfrm>
            <a:off x="8805672" y="3200400"/>
            <a:ext cx="2743200" cy="1554480"/>
          </a:xfrm>
          <a:prstGeom prst="roundRect">
            <a:avLst>
              <a:gd name="adj" fmla="val 3529"/>
            </a:avLst>
          </a:prstGeom>
          <a:solidFill>
            <a:srgbClr val="F4F6F8"/>
          </a:solidFill>
          <a:ln/>
          <a:effectLst>
            <a:outerShdw sx="100000" sy="100000" kx="0" ky="0" algn="bl" rotWithShape="0" blurRad="101600" dist="38100" dir="5400000">
              <a:srgbClr val="000000">
                <a:alpha val="10000"/>
              </a:srgbClr>
            </a:outerShdw>
          </a:effectLst>
        </p:spPr>
      </p:sp>
      <p:sp>
        <p:nvSpPr>
          <p:cNvPr id="14" name="Text 12"/>
          <p:cNvSpPr/>
          <p:nvPr/>
        </p:nvSpPr>
        <p:spPr>
          <a:xfrm>
            <a:off x="9079992" y="3456432"/>
            <a:ext cx="2194560" cy="457200"/>
          </a:xfrm>
          <a:prstGeom prst="rect">
            <a:avLst/>
          </a:prstGeom>
          <a:noFill/>
          <a:ln/>
        </p:spPr>
        <p:txBody>
          <a:bodyPr wrap="square" lIns="0" tIns="0" rIns="0" bIns="0" rtlCol="0" anchor="ctr"/>
          <a:lstStyle/>
          <a:p>
            <a:pPr indent="0" marL="0">
              <a:buNone/>
            </a:pPr>
            <a:r>
              <a:rPr lang="en-US" sz="2000" b="1" dirty="0">
                <a:solidFill>
                  <a:srgbClr val="2E875B"/>
                </a:solidFill>
                <a:latin typeface="Nunito" pitchFamily="34" charset="0"/>
                <a:ea typeface="Nunito" pitchFamily="34" charset="-122"/>
                <a:cs typeface="Nunito" pitchFamily="34" charset="-120"/>
              </a:rPr>
              <a:t>Sensor</a:t>
            </a:r>
            <a:endParaRPr lang="en-US" sz="2000" dirty="0"/>
          </a:p>
        </p:txBody>
      </p:sp>
      <p:sp>
        <p:nvSpPr>
          <p:cNvPr id="15" name="Text 13"/>
          <p:cNvSpPr/>
          <p:nvPr/>
        </p:nvSpPr>
        <p:spPr>
          <a:xfrm>
            <a:off x="9079992" y="3950208"/>
            <a:ext cx="2194560" cy="640080"/>
          </a:xfrm>
          <a:prstGeom prst="rect">
            <a:avLst/>
          </a:prstGeom>
          <a:noFill/>
          <a:ln/>
        </p:spPr>
        <p:txBody>
          <a:bodyPr wrap="square" lIns="0" tIns="0" rIns="0" bIns="0" rtlCol="0" anchor="ctr"/>
          <a:lstStyle/>
          <a:p>
            <a:pPr indent="0" marL="0">
              <a:lnSpc>
                <a:spcPct val="105000"/>
              </a:lnSpc>
              <a:buNone/>
            </a:pPr>
            <a:r>
              <a:rPr lang="en-US" sz="1350" dirty="0">
                <a:solidFill>
                  <a:srgbClr val="5B6770"/>
                </a:solidFill>
                <a:latin typeface="Nunito" pitchFamily="34" charset="0"/>
                <a:ea typeface="Nunito" pitchFamily="34" charset="-122"/>
                <a:cs typeface="Nunito" pitchFamily="34" charset="-120"/>
              </a:rPr>
              <a:t>The sensor</a:t>
            </a:r>
            <a:endParaRPr lang="en-US" sz="1350" dirty="0"/>
          </a:p>
          <a:p>
            <a:pPr indent="0" marL="0">
              <a:lnSpc>
                <a:spcPct val="105000"/>
              </a:lnSpc>
              <a:buNone/>
            </a:pPr>
            <a:r>
              <a:rPr lang="en-US" sz="1350" dirty="0">
                <a:solidFill>
                  <a:srgbClr val="5B6770"/>
                </a:solidFill>
                <a:latin typeface="Nunito" pitchFamily="34" charset="0"/>
                <a:ea typeface="Nunito" pitchFamily="34" charset="-122"/>
                <a:cs typeface="Nunito" pitchFamily="34" charset="-120"/>
              </a:rPr>
              <a:t>under test</a:t>
            </a:r>
            <a:endParaRPr lang="en-US" sz="1350" dirty="0"/>
          </a:p>
        </p:txBody>
      </p:sp>
      <p:sp>
        <p:nvSpPr>
          <p:cNvPr id="16" name="Text 14"/>
          <p:cNvSpPr/>
          <p:nvPr/>
        </p:nvSpPr>
        <p:spPr>
          <a:xfrm>
            <a:off x="640080" y="5212080"/>
            <a:ext cx="10908792" cy="365760"/>
          </a:xfrm>
          <a:prstGeom prst="rect">
            <a:avLst/>
          </a:prstGeom>
          <a:noFill/>
          <a:ln/>
        </p:spPr>
        <p:txBody>
          <a:bodyPr wrap="square" lIns="0" tIns="0" rIns="0" bIns="0" rtlCol="0" anchor="ctr"/>
          <a:lstStyle/>
          <a:p>
            <a:pPr indent="0" marL="0">
              <a:buNone/>
            </a:pPr>
            <a:r>
              <a:rPr lang="en-US" sz="1400" i="1" dirty="0">
                <a:solidFill>
                  <a:srgbClr val="1F2933"/>
                </a:solidFill>
                <a:latin typeface="Nunito" pitchFamily="34" charset="0"/>
                <a:ea typeface="Nunito" pitchFamily="34" charset="-122"/>
                <a:cs typeface="Nunito" pitchFamily="34" charset="-120"/>
              </a:rPr>
              <a:t>Closed-loop control: the GUI moves the actuator based on the live load-cell reading.</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OVERVIEW</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Project goals</a:t>
            </a:r>
            <a:endParaRPr lang="en-US" sz="3100" dirty="0"/>
          </a:p>
        </p:txBody>
      </p:sp>
      <p:sp>
        <p:nvSpPr>
          <p:cNvPr id="4" name="Text 2"/>
          <p:cNvSpPr/>
          <p:nvPr/>
        </p:nvSpPr>
        <p:spPr>
          <a:xfrm>
            <a:off x="640080" y="1591056"/>
            <a:ext cx="10908792" cy="640080"/>
          </a:xfrm>
          <a:prstGeom prst="rect">
            <a:avLst/>
          </a:prstGeom>
          <a:noFill/>
          <a:ln/>
        </p:spPr>
        <p:txBody>
          <a:bodyPr wrap="square" lIns="0" tIns="0" rIns="0" bIns="0" rtlCol="0" anchor="ctr"/>
          <a:lstStyle/>
          <a:p>
            <a:pPr indent="0" marL="0">
              <a:lnSpc>
                <a:spcPct val="115000"/>
              </a:lnSpc>
              <a:buNone/>
            </a:pPr>
            <a:r>
              <a:rPr lang="en-US" sz="1450" dirty="0">
                <a:solidFill>
                  <a:srgbClr val="5B6770"/>
                </a:solidFill>
                <a:latin typeface="Nunito" pitchFamily="34" charset="0"/>
                <a:ea typeface="Nunito" pitchFamily="34" charset="-122"/>
                <a:cs typeface="Nunito" pitchFamily="34" charset="-120"/>
              </a:rPr>
              <a:t>A platform for configuring, executing, monitoring, and analyzing sensor characterization tests, while keeping ease of use, operator safety, data integrity, and workflow efficiency front and center.</a:t>
            </a:r>
            <a:endParaRPr lang="en-US" sz="1450" dirty="0"/>
          </a:p>
        </p:txBody>
      </p:sp>
      <p:sp>
        <p:nvSpPr>
          <p:cNvPr id="5" name="Shape 3"/>
          <p:cNvSpPr/>
          <p:nvPr/>
        </p:nvSpPr>
        <p:spPr>
          <a:xfrm>
            <a:off x="640080" y="2395728"/>
            <a:ext cx="5248656" cy="914400"/>
          </a:xfrm>
          <a:prstGeom prst="roundRect">
            <a:avLst>
              <a:gd name="adj" fmla="val 6000"/>
            </a:avLst>
          </a:prstGeom>
          <a:solidFill>
            <a:srgbClr val="F4F6F8"/>
          </a:solidFill>
          <a:ln/>
          <a:effectLst>
            <a:outerShdw sx="100000" sy="100000" kx="0" ky="0" algn="bl" rotWithShape="0" blurRad="101600" dist="38100" dir="5400000">
              <a:srgbClr val="000000">
                <a:alpha val="10000"/>
              </a:srgbClr>
            </a:outerShdw>
          </a:effectLst>
        </p:spPr>
      </p:sp>
      <p:sp>
        <p:nvSpPr>
          <p:cNvPr id="6" name="Shape 4"/>
          <p:cNvSpPr/>
          <p:nvPr/>
        </p:nvSpPr>
        <p:spPr>
          <a:xfrm>
            <a:off x="877824" y="2670048"/>
            <a:ext cx="384048" cy="384048"/>
          </a:xfrm>
          <a:prstGeom prst="ellipse">
            <a:avLst/>
          </a:prstGeom>
          <a:solidFill>
            <a:srgbClr val="2F6FE0"/>
          </a:solidFill>
          <a:ln/>
        </p:spPr>
      </p:sp>
      <p:sp>
        <p:nvSpPr>
          <p:cNvPr id="7" name="Text 5"/>
          <p:cNvSpPr/>
          <p:nvPr/>
        </p:nvSpPr>
        <p:spPr>
          <a:xfrm>
            <a:off x="877824" y="26700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Nunito" pitchFamily="34" charset="0"/>
                <a:ea typeface="Nunito" pitchFamily="34" charset="-122"/>
                <a:cs typeface="Nunito" pitchFamily="34" charset="-120"/>
              </a:rPr>
              <a:t>1</a:t>
            </a:r>
            <a:endParaRPr lang="en-US" sz="1200" dirty="0"/>
          </a:p>
        </p:txBody>
      </p:sp>
      <p:sp>
        <p:nvSpPr>
          <p:cNvPr id="8" name="Text 6"/>
          <p:cNvSpPr/>
          <p:nvPr/>
        </p:nvSpPr>
        <p:spPr>
          <a:xfrm>
            <a:off x="1426464" y="2542032"/>
            <a:ext cx="4242816" cy="320040"/>
          </a:xfrm>
          <a:prstGeom prst="rect">
            <a:avLst/>
          </a:prstGeom>
          <a:noFill/>
          <a:ln/>
        </p:spPr>
        <p:txBody>
          <a:bodyPr wrap="square" lIns="0" tIns="0" rIns="0" bIns="0" rtlCol="0" anchor="ctr"/>
          <a:lstStyle/>
          <a:p>
            <a:pPr indent="0" marL="0">
              <a:buNone/>
            </a:pPr>
            <a:r>
              <a:rPr lang="en-US" sz="1450" b="1" dirty="0">
                <a:solidFill>
                  <a:srgbClr val="1F2933"/>
                </a:solidFill>
                <a:latin typeface="Nunito" pitchFamily="34" charset="0"/>
                <a:ea typeface="Nunito" pitchFamily="34" charset="-122"/>
                <a:cs typeface="Nunito" pitchFamily="34" charset="-120"/>
              </a:rPr>
              <a:t>Intuitive user experience</a:t>
            </a:r>
            <a:endParaRPr lang="en-US" sz="1450" dirty="0"/>
          </a:p>
        </p:txBody>
      </p:sp>
      <p:sp>
        <p:nvSpPr>
          <p:cNvPr id="9" name="Text 7"/>
          <p:cNvSpPr/>
          <p:nvPr/>
        </p:nvSpPr>
        <p:spPr>
          <a:xfrm>
            <a:off x="1426464" y="2852928"/>
            <a:ext cx="4242816" cy="384048"/>
          </a:xfrm>
          <a:prstGeom prst="rect">
            <a:avLst/>
          </a:prstGeom>
          <a:noFill/>
          <a:ln/>
        </p:spPr>
        <p:txBody>
          <a:bodyPr wrap="square" lIns="0" tIns="0" rIns="0" bIns="0" rtlCol="0" anchor="ctr"/>
          <a:lstStyle/>
          <a:p>
            <a:pPr indent="0" marL="0">
              <a:lnSpc>
                <a:spcPct val="102000"/>
              </a:lnSpc>
              <a:buNone/>
            </a:pPr>
            <a:r>
              <a:rPr lang="en-US" sz="1150" dirty="0">
                <a:solidFill>
                  <a:srgbClr val="5B6770"/>
                </a:solidFill>
                <a:latin typeface="Nunito" pitchFamily="34" charset="0"/>
                <a:ea typeface="Nunito" pitchFamily="34" charset="-122"/>
                <a:cs typeface="Nunito" pitchFamily="34" charset="-120"/>
              </a:rPr>
              <a:t>Easy to learn and operate with minimal training.</a:t>
            </a:r>
            <a:endParaRPr lang="en-US" sz="1150" dirty="0"/>
          </a:p>
        </p:txBody>
      </p:sp>
      <p:sp>
        <p:nvSpPr>
          <p:cNvPr id="10" name="Shape 8"/>
          <p:cNvSpPr/>
          <p:nvPr/>
        </p:nvSpPr>
        <p:spPr>
          <a:xfrm>
            <a:off x="6300216" y="2395728"/>
            <a:ext cx="5248656" cy="914400"/>
          </a:xfrm>
          <a:prstGeom prst="roundRect">
            <a:avLst>
              <a:gd name="adj" fmla="val 6000"/>
            </a:avLst>
          </a:prstGeom>
          <a:solidFill>
            <a:srgbClr val="F4F6F8"/>
          </a:solidFill>
          <a:ln/>
          <a:effectLst>
            <a:outerShdw sx="100000" sy="100000" kx="0" ky="0" algn="bl" rotWithShape="0" blurRad="101600" dist="38100" dir="5400000">
              <a:srgbClr val="000000">
                <a:alpha val="10000"/>
              </a:srgbClr>
            </a:outerShdw>
          </a:effectLst>
        </p:spPr>
      </p:sp>
      <p:sp>
        <p:nvSpPr>
          <p:cNvPr id="11" name="Shape 9"/>
          <p:cNvSpPr/>
          <p:nvPr/>
        </p:nvSpPr>
        <p:spPr>
          <a:xfrm>
            <a:off x="6537960" y="2670048"/>
            <a:ext cx="384048" cy="384048"/>
          </a:xfrm>
          <a:prstGeom prst="ellipse">
            <a:avLst/>
          </a:prstGeom>
          <a:solidFill>
            <a:srgbClr val="2F6FE0"/>
          </a:solidFill>
          <a:ln/>
        </p:spPr>
      </p:sp>
      <p:sp>
        <p:nvSpPr>
          <p:cNvPr id="12" name="Text 10"/>
          <p:cNvSpPr/>
          <p:nvPr/>
        </p:nvSpPr>
        <p:spPr>
          <a:xfrm>
            <a:off x="6537960" y="26700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Nunito" pitchFamily="34" charset="0"/>
                <a:ea typeface="Nunito" pitchFamily="34" charset="-122"/>
                <a:cs typeface="Nunito" pitchFamily="34" charset="-120"/>
              </a:rPr>
              <a:t>2</a:t>
            </a:r>
            <a:endParaRPr lang="en-US" sz="1200" dirty="0"/>
          </a:p>
        </p:txBody>
      </p:sp>
      <p:sp>
        <p:nvSpPr>
          <p:cNvPr id="13" name="Text 11"/>
          <p:cNvSpPr/>
          <p:nvPr/>
        </p:nvSpPr>
        <p:spPr>
          <a:xfrm>
            <a:off x="7086600" y="2542032"/>
            <a:ext cx="4242816" cy="320040"/>
          </a:xfrm>
          <a:prstGeom prst="rect">
            <a:avLst/>
          </a:prstGeom>
          <a:noFill/>
          <a:ln/>
        </p:spPr>
        <p:txBody>
          <a:bodyPr wrap="square" lIns="0" tIns="0" rIns="0" bIns="0" rtlCol="0" anchor="ctr"/>
          <a:lstStyle/>
          <a:p>
            <a:pPr indent="0" marL="0">
              <a:buNone/>
            </a:pPr>
            <a:r>
              <a:rPr lang="en-US" sz="1450" b="1" dirty="0">
                <a:solidFill>
                  <a:srgbClr val="1F2933"/>
                </a:solidFill>
                <a:latin typeface="Nunito" pitchFamily="34" charset="0"/>
                <a:ea typeface="Nunito" pitchFamily="34" charset="-122"/>
                <a:cs typeface="Nunito" pitchFamily="34" charset="-120"/>
              </a:rPr>
              <a:t>Safe hardware operation</a:t>
            </a:r>
            <a:endParaRPr lang="en-US" sz="1450" dirty="0"/>
          </a:p>
        </p:txBody>
      </p:sp>
      <p:sp>
        <p:nvSpPr>
          <p:cNvPr id="14" name="Text 12"/>
          <p:cNvSpPr/>
          <p:nvPr/>
        </p:nvSpPr>
        <p:spPr>
          <a:xfrm>
            <a:off x="7086600" y="2852928"/>
            <a:ext cx="4242816" cy="384048"/>
          </a:xfrm>
          <a:prstGeom prst="rect">
            <a:avLst/>
          </a:prstGeom>
          <a:noFill/>
          <a:ln/>
        </p:spPr>
        <p:txBody>
          <a:bodyPr wrap="square" lIns="0" tIns="0" rIns="0" bIns="0" rtlCol="0" anchor="ctr"/>
          <a:lstStyle/>
          <a:p>
            <a:pPr indent="0" marL="0">
              <a:lnSpc>
                <a:spcPct val="102000"/>
              </a:lnSpc>
              <a:buNone/>
            </a:pPr>
            <a:r>
              <a:rPr lang="en-US" sz="1150" dirty="0">
                <a:solidFill>
                  <a:srgbClr val="5B6770"/>
                </a:solidFill>
                <a:latin typeface="Nunito" pitchFamily="34" charset="0"/>
                <a:ea typeface="Nunito" pitchFamily="34" charset="-122"/>
                <a:cs typeface="Nunito" pitchFamily="34" charset="-120"/>
              </a:rPr>
              <a:t>Reduces the risk of accidental misuse or unsafe actuator movement.</a:t>
            </a:r>
            <a:endParaRPr lang="en-US" sz="1150" dirty="0"/>
          </a:p>
        </p:txBody>
      </p:sp>
      <p:sp>
        <p:nvSpPr>
          <p:cNvPr id="15" name="Shape 13"/>
          <p:cNvSpPr/>
          <p:nvPr/>
        </p:nvSpPr>
        <p:spPr>
          <a:xfrm>
            <a:off x="640080" y="3419856"/>
            <a:ext cx="5248656" cy="914400"/>
          </a:xfrm>
          <a:prstGeom prst="roundRect">
            <a:avLst>
              <a:gd name="adj" fmla="val 6000"/>
            </a:avLst>
          </a:prstGeom>
          <a:solidFill>
            <a:srgbClr val="F4F6F8"/>
          </a:solidFill>
          <a:ln/>
          <a:effectLst>
            <a:outerShdw sx="100000" sy="100000" kx="0" ky="0" algn="bl" rotWithShape="0" blurRad="101600" dist="38100" dir="5400000">
              <a:srgbClr val="000000">
                <a:alpha val="10000"/>
              </a:srgbClr>
            </a:outerShdw>
          </a:effectLst>
        </p:spPr>
      </p:sp>
      <p:sp>
        <p:nvSpPr>
          <p:cNvPr id="16" name="Shape 14"/>
          <p:cNvSpPr/>
          <p:nvPr/>
        </p:nvSpPr>
        <p:spPr>
          <a:xfrm>
            <a:off x="877824" y="3694176"/>
            <a:ext cx="384048" cy="384048"/>
          </a:xfrm>
          <a:prstGeom prst="ellipse">
            <a:avLst/>
          </a:prstGeom>
          <a:solidFill>
            <a:srgbClr val="2F6FE0"/>
          </a:solidFill>
          <a:ln/>
        </p:spPr>
      </p:sp>
      <p:sp>
        <p:nvSpPr>
          <p:cNvPr id="17" name="Text 15"/>
          <p:cNvSpPr/>
          <p:nvPr/>
        </p:nvSpPr>
        <p:spPr>
          <a:xfrm>
            <a:off x="877824" y="3694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Nunito" pitchFamily="34" charset="0"/>
                <a:ea typeface="Nunito" pitchFamily="34" charset="-122"/>
                <a:cs typeface="Nunito" pitchFamily="34" charset="-120"/>
              </a:rPr>
              <a:t>3</a:t>
            </a:r>
            <a:endParaRPr lang="en-US" sz="1200" dirty="0"/>
          </a:p>
        </p:txBody>
      </p:sp>
      <p:sp>
        <p:nvSpPr>
          <p:cNvPr id="18" name="Text 16"/>
          <p:cNvSpPr/>
          <p:nvPr/>
        </p:nvSpPr>
        <p:spPr>
          <a:xfrm>
            <a:off x="1426464" y="3566160"/>
            <a:ext cx="4242816" cy="320040"/>
          </a:xfrm>
          <a:prstGeom prst="rect">
            <a:avLst/>
          </a:prstGeom>
          <a:noFill/>
          <a:ln/>
        </p:spPr>
        <p:txBody>
          <a:bodyPr wrap="square" lIns="0" tIns="0" rIns="0" bIns="0" rtlCol="0" anchor="ctr"/>
          <a:lstStyle/>
          <a:p>
            <a:pPr indent="0" marL="0">
              <a:buNone/>
            </a:pPr>
            <a:r>
              <a:rPr lang="en-US" sz="1450" b="1" dirty="0">
                <a:solidFill>
                  <a:srgbClr val="1F2933"/>
                </a:solidFill>
                <a:latin typeface="Nunito" pitchFamily="34" charset="0"/>
                <a:ea typeface="Nunito" pitchFamily="34" charset="-122"/>
                <a:cs typeface="Nunito" pitchFamily="34" charset="-120"/>
              </a:rPr>
              <a:t>Data integrity &amp; traceability</a:t>
            </a:r>
            <a:endParaRPr lang="en-US" sz="1450" dirty="0"/>
          </a:p>
        </p:txBody>
      </p:sp>
      <p:sp>
        <p:nvSpPr>
          <p:cNvPr id="19" name="Text 17"/>
          <p:cNvSpPr/>
          <p:nvPr/>
        </p:nvSpPr>
        <p:spPr>
          <a:xfrm>
            <a:off x="1426464" y="3877056"/>
            <a:ext cx="4242816" cy="384048"/>
          </a:xfrm>
          <a:prstGeom prst="rect">
            <a:avLst/>
          </a:prstGeom>
          <a:noFill/>
          <a:ln/>
        </p:spPr>
        <p:txBody>
          <a:bodyPr wrap="square" lIns="0" tIns="0" rIns="0" bIns="0" rtlCol="0" anchor="ctr"/>
          <a:lstStyle/>
          <a:p>
            <a:pPr indent="0" marL="0">
              <a:lnSpc>
                <a:spcPct val="102000"/>
              </a:lnSpc>
              <a:buNone/>
            </a:pPr>
            <a:r>
              <a:rPr lang="en-US" sz="1150" dirty="0">
                <a:solidFill>
                  <a:srgbClr val="5B6770"/>
                </a:solidFill>
                <a:latin typeface="Nunito" pitchFamily="34" charset="0"/>
                <a:ea typeface="Nunito" pitchFamily="34" charset="-122"/>
                <a:cs typeface="Nunito" pitchFamily="34" charset="-120"/>
              </a:rPr>
              <a:t>Every test organized, reproducible, and tied to a sensor and configuration.</a:t>
            </a:r>
            <a:endParaRPr lang="en-US" sz="1150" dirty="0"/>
          </a:p>
        </p:txBody>
      </p:sp>
      <p:sp>
        <p:nvSpPr>
          <p:cNvPr id="20" name="Shape 18"/>
          <p:cNvSpPr/>
          <p:nvPr/>
        </p:nvSpPr>
        <p:spPr>
          <a:xfrm>
            <a:off x="6300216" y="3419856"/>
            <a:ext cx="5248656" cy="914400"/>
          </a:xfrm>
          <a:prstGeom prst="roundRect">
            <a:avLst>
              <a:gd name="adj" fmla="val 6000"/>
            </a:avLst>
          </a:prstGeom>
          <a:solidFill>
            <a:srgbClr val="F4F6F8"/>
          </a:solidFill>
          <a:ln/>
          <a:effectLst>
            <a:outerShdw sx="100000" sy="100000" kx="0" ky="0" algn="bl" rotWithShape="0" blurRad="101600" dist="38100" dir="5400000">
              <a:srgbClr val="000000">
                <a:alpha val="10000"/>
              </a:srgbClr>
            </a:outerShdw>
          </a:effectLst>
        </p:spPr>
      </p:sp>
      <p:sp>
        <p:nvSpPr>
          <p:cNvPr id="21" name="Shape 19"/>
          <p:cNvSpPr/>
          <p:nvPr/>
        </p:nvSpPr>
        <p:spPr>
          <a:xfrm>
            <a:off x="6537960" y="3694176"/>
            <a:ext cx="384048" cy="384048"/>
          </a:xfrm>
          <a:prstGeom prst="ellipse">
            <a:avLst/>
          </a:prstGeom>
          <a:solidFill>
            <a:srgbClr val="2F6FE0"/>
          </a:solidFill>
          <a:ln/>
        </p:spPr>
      </p:sp>
      <p:sp>
        <p:nvSpPr>
          <p:cNvPr id="22" name="Text 20"/>
          <p:cNvSpPr/>
          <p:nvPr/>
        </p:nvSpPr>
        <p:spPr>
          <a:xfrm>
            <a:off x="6537960" y="3694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Nunito" pitchFamily="34" charset="0"/>
                <a:ea typeface="Nunito" pitchFamily="34" charset="-122"/>
                <a:cs typeface="Nunito" pitchFamily="34" charset="-120"/>
              </a:rPr>
              <a:t>4</a:t>
            </a:r>
            <a:endParaRPr lang="en-US" sz="1200" dirty="0"/>
          </a:p>
        </p:txBody>
      </p:sp>
      <p:sp>
        <p:nvSpPr>
          <p:cNvPr id="23" name="Text 21"/>
          <p:cNvSpPr/>
          <p:nvPr/>
        </p:nvSpPr>
        <p:spPr>
          <a:xfrm>
            <a:off x="7086600" y="3566160"/>
            <a:ext cx="4242816" cy="320040"/>
          </a:xfrm>
          <a:prstGeom prst="rect">
            <a:avLst/>
          </a:prstGeom>
          <a:noFill/>
          <a:ln/>
        </p:spPr>
        <p:txBody>
          <a:bodyPr wrap="square" lIns="0" tIns="0" rIns="0" bIns="0" rtlCol="0" anchor="ctr"/>
          <a:lstStyle/>
          <a:p>
            <a:pPr indent="0" marL="0">
              <a:buNone/>
            </a:pPr>
            <a:r>
              <a:rPr lang="en-US" sz="1450" b="1" dirty="0">
                <a:solidFill>
                  <a:srgbClr val="1F2933"/>
                </a:solidFill>
                <a:latin typeface="Nunito" pitchFamily="34" charset="0"/>
                <a:ea typeface="Nunito" pitchFamily="34" charset="-122"/>
                <a:cs typeface="Nunito" pitchFamily="34" charset="-120"/>
              </a:rPr>
              <a:t>Efficiency</a:t>
            </a:r>
            <a:endParaRPr lang="en-US" sz="1450" dirty="0"/>
          </a:p>
        </p:txBody>
      </p:sp>
      <p:sp>
        <p:nvSpPr>
          <p:cNvPr id="24" name="Text 22"/>
          <p:cNvSpPr/>
          <p:nvPr/>
        </p:nvSpPr>
        <p:spPr>
          <a:xfrm>
            <a:off x="7086600" y="3877056"/>
            <a:ext cx="4242816" cy="384048"/>
          </a:xfrm>
          <a:prstGeom prst="rect">
            <a:avLst/>
          </a:prstGeom>
          <a:noFill/>
          <a:ln/>
        </p:spPr>
        <p:txBody>
          <a:bodyPr wrap="square" lIns="0" tIns="0" rIns="0" bIns="0" rtlCol="0" anchor="ctr"/>
          <a:lstStyle/>
          <a:p>
            <a:pPr indent="0" marL="0">
              <a:lnSpc>
                <a:spcPct val="102000"/>
              </a:lnSpc>
              <a:buNone/>
            </a:pPr>
            <a:r>
              <a:rPr lang="en-US" sz="1150" dirty="0">
                <a:solidFill>
                  <a:srgbClr val="5B6770"/>
                </a:solidFill>
                <a:latin typeface="Nunito" pitchFamily="34" charset="0"/>
                <a:ea typeface="Nunito" pitchFamily="34" charset="-122"/>
                <a:cs typeface="Nunito" pitchFamily="34" charset="-120"/>
              </a:rPr>
              <a:t>Minimizes repetitive actions and streamlines characterization.</a:t>
            </a:r>
            <a:endParaRPr lang="en-US" sz="1150" dirty="0"/>
          </a:p>
        </p:txBody>
      </p:sp>
      <p:sp>
        <p:nvSpPr>
          <p:cNvPr id="25" name="Shape 23"/>
          <p:cNvSpPr/>
          <p:nvPr/>
        </p:nvSpPr>
        <p:spPr>
          <a:xfrm>
            <a:off x="640080" y="4443984"/>
            <a:ext cx="5248656" cy="914400"/>
          </a:xfrm>
          <a:prstGeom prst="roundRect">
            <a:avLst>
              <a:gd name="adj" fmla="val 6000"/>
            </a:avLst>
          </a:prstGeom>
          <a:solidFill>
            <a:srgbClr val="F4F6F8"/>
          </a:solidFill>
          <a:ln/>
          <a:effectLst>
            <a:outerShdw sx="100000" sy="100000" kx="0" ky="0" algn="bl" rotWithShape="0" blurRad="101600" dist="38100" dir="5400000">
              <a:srgbClr val="000000">
                <a:alpha val="10000"/>
              </a:srgbClr>
            </a:outerShdw>
          </a:effectLst>
        </p:spPr>
      </p:sp>
      <p:sp>
        <p:nvSpPr>
          <p:cNvPr id="26" name="Shape 24"/>
          <p:cNvSpPr/>
          <p:nvPr/>
        </p:nvSpPr>
        <p:spPr>
          <a:xfrm>
            <a:off x="877824" y="4718304"/>
            <a:ext cx="384048" cy="384048"/>
          </a:xfrm>
          <a:prstGeom prst="ellipse">
            <a:avLst/>
          </a:prstGeom>
          <a:solidFill>
            <a:srgbClr val="2F6FE0"/>
          </a:solidFill>
          <a:ln/>
        </p:spPr>
      </p:sp>
      <p:sp>
        <p:nvSpPr>
          <p:cNvPr id="27" name="Text 25"/>
          <p:cNvSpPr/>
          <p:nvPr/>
        </p:nvSpPr>
        <p:spPr>
          <a:xfrm>
            <a:off x="877824" y="47183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Nunito" pitchFamily="34" charset="0"/>
                <a:ea typeface="Nunito" pitchFamily="34" charset="-122"/>
                <a:cs typeface="Nunito" pitchFamily="34" charset="-120"/>
              </a:rPr>
              <a:t>5</a:t>
            </a:r>
            <a:endParaRPr lang="en-US" sz="1200" dirty="0"/>
          </a:p>
        </p:txBody>
      </p:sp>
      <p:sp>
        <p:nvSpPr>
          <p:cNvPr id="28" name="Text 26"/>
          <p:cNvSpPr/>
          <p:nvPr/>
        </p:nvSpPr>
        <p:spPr>
          <a:xfrm>
            <a:off x="1426464" y="4590288"/>
            <a:ext cx="4242816" cy="320040"/>
          </a:xfrm>
          <a:prstGeom prst="rect">
            <a:avLst/>
          </a:prstGeom>
          <a:noFill/>
          <a:ln/>
        </p:spPr>
        <p:txBody>
          <a:bodyPr wrap="square" lIns="0" tIns="0" rIns="0" bIns="0" rtlCol="0" anchor="ctr"/>
          <a:lstStyle/>
          <a:p>
            <a:pPr indent="0" marL="0">
              <a:buNone/>
            </a:pPr>
            <a:r>
              <a:rPr lang="en-US" sz="1450" b="1" dirty="0">
                <a:solidFill>
                  <a:srgbClr val="1F2933"/>
                </a:solidFill>
                <a:latin typeface="Nunito" pitchFamily="34" charset="0"/>
                <a:ea typeface="Nunito" pitchFamily="34" charset="-122"/>
                <a:cs typeface="Nunito" pitchFamily="34" charset="-120"/>
              </a:rPr>
              <a:t>Clear test monitoring</a:t>
            </a:r>
            <a:endParaRPr lang="en-US" sz="1450" dirty="0"/>
          </a:p>
        </p:txBody>
      </p:sp>
      <p:sp>
        <p:nvSpPr>
          <p:cNvPr id="29" name="Text 27"/>
          <p:cNvSpPr/>
          <p:nvPr/>
        </p:nvSpPr>
        <p:spPr>
          <a:xfrm>
            <a:off x="1426464" y="4901184"/>
            <a:ext cx="4242816" cy="384048"/>
          </a:xfrm>
          <a:prstGeom prst="rect">
            <a:avLst/>
          </a:prstGeom>
          <a:noFill/>
          <a:ln/>
        </p:spPr>
        <p:txBody>
          <a:bodyPr wrap="square" lIns="0" tIns="0" rIns="0" bIns="0" rtlCol="0" anchor="ctr"/>
          <a:lstStyle/>
          <a:p>
            <a:pPr indent="0" marL="0">
              <a:lnSpc>
                <a:spcPct val="102000"/>
              </a:lnSpc>
              <a:buNone/>
            </a:pPr>
            <a:r>
              <a:rPr lang="en-US" sz="1150" dirty="0">
                <a:solidFill>
                  <a:srgbClr val="5B6770"/>
                </a:solidFill>
                <a:latin typeface="Nunito" pitchFamily="34" charset="0"/>
                <a:ea typeface="Nunito" pitchFamily="34" charset="-122"/>
                <a:cs typeface="Nunito" pitchFamily="34" charset="-120"/>
              </a:rPr>
              <a:t>Test progress and system status are understandable in real time.</a:t>
            </a:r>
            <a:endParaRPr lang="en-US" sz="1150" dirty="0"/>
          </a:p>
        </p:txBody>
      </p:sp>
      <p:sp>
        <p:nvSpPr>
          <p:cNvPr id="30" name="Shape 28"/>
          <p:cNvSpPr/>
          <p:nvPr/>
        </p:nvSpPr>
        <p:spPr>
          <a:xfrm>
            <a:off x="6300216" y="4443984"/>
            <a:ext cx="5248656" cy="914400"/>
          </a:xfrm>
          <a:prstGeom prst="roundRect">
            <a:avLst>
              <a:gd name="adj" fmla="val 6000"/>
            </a:avLst>
          </a:prstGeom>
          <a:solidFill>
            <a:srgbClr val="F4F6F8"/>
          </a:solidFill>
          <a:ln/>
          <a:effectLst>
            <a:outerShdw sx="100000" sy="100000" kx="0" ky="0" algn="bl" rotWithShape="0" blurRad="101600" dist="38100" dir="5400000">
              <a:srgbClr val="000000">
                <a:alpha val="10000"/>
              </a:srgbClr>
            </a:outerShdw>
          </a:effectLst>
        </p:spPr>
      </p:sp>
      <p:sp>
        <p:nvSpPr>
          <p:cNvPr id="31" name="Shape 29"/>
          <p:cNvSpPr/>
          <p:nvPr/>
        </p:nvSpPr>
        <p:spPr>
          <a:xfrm>
            <a:off x="6537960" y="4718304"/>
            <a:ext cx="384048" cy="384048"/>
          </a:xfrm>
          <a:prstGeom prst="ellipse">
            <a:avLst/>
          </a:prstGeom>
          <a:solidFill>
            <a:srgbClr val="2F6FE0"/>
          </a:solidFill>
          <a:ln/>
        </p:spPr>
      </p:sp>
      <p:sp>
        <p:nvSpPr>
          <p:cNvPr id="32" name="Text 30"/>
          <p:cNvSpPr/>
          <p:nvPr/>
        </p:nvSpPr>
        <p:spPr>
          <a:xfrm>
            <a:off x="6537960" y="47183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Nunito" pitchFamily="34" charset="0"/>
                <a:ea typeface="Nunito" pitchFamily="34" charset="-122"/>
                <a:cs typeface="Nunito" pitchFamily="34" charset="-120"/>
              </a:rPr>
              <a:t>6</a:t>
            </a:r>
            <a:endParaRPr lang="en-US" sz="1200" dirty="0"/>
          </a:p>
        </p:txBody>
      </p:sp>
      <p:sp>
        <p:nvSpPr>
          <p:cNvPr id="33" name="Text 31"/>
          <p:cNvSpPr/>
          <p:nvPr/>
        </p:nvSpPr>
        <p:spPr>
          <a:xfrm>
            <a:off x="7086600" y="4590288"/>
            <a:ext cx="4242816" cy="320040"/>
          </a:xfrm>
          <a:prstGeom prst="rect">
            <a:avLst/>
          </a:prstGeom>
          <a:noFill/>
          <a:ln/>
        </p:spPr>
        <p:txBody>
          <a:bodyPr wrap="square" lIns="0" tIns="0" rIns="0" bIns="0" rtlCol="0" anchor="ctr"/>
          <a:lstStyle/>
          <a:p>
            <a:pPr indent="0" marL="0">
              <a:buNone/>
            </a:pPr>
            <a:r>
              <a:rPr lang="en-US" sz="1450" b="1" dirty="0">
                <a:solidFill>
                  <a:srgbClr val="1F2933"/>
                </a:solidFill>
                <a:latin typeface="Nunito" pitchFamily="34" charset="0"/>
                <a:ea typeface="Nunito" pitchFamily="34" charset="-122"/>
                <a:cs typeface="Nunito" pitchFamily="34" charset="-120"/>
              </a:rPr>
              <a:t>Multiple test modes</a:t>
            </a:r>
            <a:endParaRPr lang="en-US" sz="1450" dirty="0"/>
          </a:p>
        </p:txBody>
      </p:sp>
      <p:sp>
        <p:nvSpPr>
          <p:cNvPr id="34" name="Text 32"/>
          <p:cNvSpPr/>
          <p:nvPr/>
        </p:nvSpPr>
        <p:spPr>
          <a:xfrm>
            <a:off x="7086600" y="4901184"/>
            <a:ext cx="4242816" cy="384048"/>
          </a:xfrm>
          <a:prstGeom prst="rect">
            <a:avLst/>
          </a:prstGeom>
          <a:noFill/>
          <a:ln/>
        </p:spPr>
        <p:txBody>
          <a:bodyPr wrap="square" lIns="0" tIns="0" rIns="0" bIns="0" rtlCol="0" anchor="ctr"/>
          <a:lstStyle/>
          <a:p>
            <a:pPr indent="0" marL="0">
              <a:lnSpc>
                <a:spcPct val="102000"/>
              </a:lnSpc>
              <a:buNone/>
            </a:pPr>
            <a:r>
              <a:rPr lang="en-US" sz="1150" dirty="0">
                <a:solidFill>
                  <a:srgbClr val="5B6770"/>
                </a:solidFill>
                <a:latin typeface="Nunito" pitchFamily="34" charset="0"/>
                <a:ea typeface="Nunito" pitchFamily="34" charset="-122"/>
                <a:cs typeface="Nunito" pitchFamily="34" charset="-120"/>
              </a:rPr>
              <a:t>Supports EM, Shear, Manual, and Cyclical testing.</a:t>
            </a:r>
            <a:endParaRPr lang="en-US" sz="1150" dirty="0"/>
          </a:p>
        </p:txBody>
      </p:sp>
      <p:sp>
        <p:nvSpPr>
          <p:cNvPr id="35" name="Shape 33"/>
          <p:cNvSpPr/>
          <p:nvPr/>
        </p:nvSpPr>
        <p:spPr>
          <a:xfrm>
            <a:off x="640080" y="5468112"/>
            <a:ext cx="5248656" cy="914400"/>
          </a:xfrm>
          <a:prstGeom prst="roundRect">
            <a:avLst>
              <a:gd name="adj" fmla="val 6000"/>
            </a:avLst>
          </a:prstGeom>
          <a:solidFill>
            <a:srgbClr val="F4F6F8"/>
          </a:solidFill>
          <a:ln/>
          <a:effectLst>
            <a:outerShdw sx="100000" sy="100000" kx="0" ky="0" algn="bl" rotWithShape="0" blurRad="101600" dist="38100" dir="5400000">
              <a:srgbClr val="000000">
                <a:alpha val="10000"/>
              </a:srgbClr>
            </a:outerShdw>
          </a:effectLst>
        </p:spPr>
      </p:sp>
      <p:sp>
        <p:nvSpPr>
          <p:cNvPr id="36" name="Shape 34"/>
          <p:cNvSpPr/>
          <p:nvPr/>
        </p:nvSpPr>
        <p:spPr>
          <a:xfrm>
            <a:off x="877824" y="5742432"/>
            <a:ext cx="384048" cy="384048"/>
          </a:xfrm>
          <a:prstGeom prst="ellipse">
            <a:avLst/>
          </a:prstGeom>
          <a:solidFill>
            <a:srgbClr val="2F6FE0"/>
          </a:solidFill>
          <a:ln/>
        </p:spPr>
      </p:sp>
      <p:sp>
        <p:nvSpPr>
          <p:cNvPr id="37" name="Text 35"/>
          <p:cNvSpPr/>
          <p:nvPr/>
        </p:nvSpPr>
        <p:spPr>
          <a:xfrm>
            <a:off x="877824" y="57424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Nunito" pitchFamily="34" charset="0"/>
                <a:ea typeface="Nunito" pitchFamily="34" charset="-122"/>
                <a:cs typeface="Nunito" pitchFamily="34" charset="-120"/>
              </a:rPr>
              <a:t>7</a:t>
            </a:r>
            <a:endParaRPr lang="en-US" sz="1200" dirty="0"/>
          </a:p>
        </p:txBody>
      </p:sp>
      <p:sp>
        <p:nvSpPr>
          <p:cNvPr id="38" name="Text 36"/>
          <p:cNvSpPr/>
          <p:nvPr/>
        </p:nvSpPr>
        <p:spPr>
          <a:xfrm>
            <a:off x="1426464" y="5614416"/>
            <a:ext cx="4242816" cy="320040"/>
          </a:xfrm>
          <a:prstGeom prst="rect">
            <a:avLst/>
          </a:prstGeom>
          <a:noFill/>
          <a:ln/>
        </p:spPr>
        <p:txBody>
          <a:bodyPr wrap="square" lIns="0" tIns="0" rIns="0" bIns="0" rtlCol="0" anchor="ctr"/>
          <a:lstStyle/>
          <a:p>
            <a:pPr indent="0" marL="0">
              <a:buNone/>
            </a:pPr>
            <a:r>
              <a:rPr lang="en-US" sz="1450" b="1" dirty="0">
                <a:solidFill>
                  <a:srgbClr val="1F2933"/>
                </a:solidFill>
                <a:latin typeface="Nunito" pitchFamily="34" charset="0"/>
                <a:ea typeface="Nunito" pitchFamily="34" charset="-122"/>
                <a:cs typeface="Nunito" pitchFamily="34" charset="-120"/>
              </a:rPr>
              <a:t>Extensibility</a:t>
            </a:r>
            <a:endParaRPr lang="en-US" sz="1450" dirty="0"/>
          </a:p>
        </p:txBody>
      </p:sp>
      <p:sp>
        <p:nvSpPr>
          <p:cNvPr id="39" name="Text 37"/>
          <p:cNvSpPr/>
          <p:nvPr/>
        </p:nvSpPr>
        <p:spPr>
          <a:xfrm>
            <a:off x="1426464" y="5925312"/>
            <a:ext cx="4242816" cy="384048"/>
          </a:xfrm>
          <a:prstGeom prst="rect">
            <a:avLst/>
          </a:prstGeom>
          <a:noFill/>
          <a:ln/>
        </p:spPr>
        <p:txBody>
          <a:bodyPr wrap="square" lIns="0" tIns="0" rIns="0" bIns="0" rtlCol="0" anchor="ctr"/>
          <a:lstStyle/>
          <a:p>
            <a:pPr indent="0" marL="0">
              <a:lnSpc>
                <a:spcPct val="102000"/>
              </a:lnSpc>
              <a:buNone/>
            </a:pPr>
            <a:r>
              <a:rPr lang="en-US" sz="1150" dirty="0">
                <a:solidFill>
                  <a:srgbClr val="5B6770"/>
                </a:solidFill>
                <a:latin typeface="Nunito" pitchFamily="34" charset="0"/>
                <a:ea typeface="Nunito" pitchFamily="34" charset="-122"/>
                <a:cs typeface="Nunito" pitchFamily="34" charset="-120"/>
              </a:rPr>
              <a:t>New tests and analysis tools can be added without a major redesign.</a:t>
            </a:r>
            <a:endParaRPr lang="en-US" sz="1150" dirty="0"/>
          </a:p>
        </p:txBody>
      </p:sp>
      <p:sp>
        <p:nvSpPr>
          <p:cNvPr id="40" name="Shape 38"/>
          <p:cNvSpPr/>
          <p:nvPr/>
        </p:nvSpPr>
        <p:spPr>
          <a:xfrm>
            <a:off x="6300216" y="5468112"/>
            <a:ext cx="5248656" cy="914400"/>
          </a:xfrm>
          <a:prstGeom prst="roundRect">
            <a:avLst>
              <a:gd name="adj" fmla="val 6000"/>
            </a:avLst>
          </a:prstGeom>
          <a:solidFill>
            <a:srgbClr val="F4F6F8"/>
          </a:solidFill>
          <a:ln/>
          <a:effectLst>
            <a:outerShdw sx="100000" sy="100000" kx="0" ky="0" algn="bl" rotWithShape="0" blurRad="101600" dist="38100" dir="5400000">
              <a:srgbClr val="000000">
                <a:alpha val="10000"/>
              </a:srgbClr>
            </a:outerShdw>
          </a:effectLst>
        </p:spPr>
      </p:sp>
      <p:sp>
        <p:nvSpPr>
          <p:cNvPr id="41" name="Shape 39"/>
          <p:cNvSpPr/>
          <p:nvPr/>
        </p:nvSpPr>
        <p:spPr>
          <a:xfrm>
            <a:off x="6537960" y="5742432"/>
            <a:ext cx="384048" cy="384048"/>
          </a:xfrm>
          <a:prstGeom prst="ellipse">
            <a:avLst/>
          </a:prstGeom>
          <a:solidFill>
            <a:srgbClr val="2F6FE0"/>
          </a:solidFill>
          <a:ln/>
        </p:spPr>
      </p:sp>
      <p:sp>
        <p:nvSpPr>
          <p:cNvPr id="42" name="Text 40"/>
          <p:cNvSpPr/>
          <p:nvPr/>
        </p:nvSpPr>
        <p:spPr>
          <a:xfrm>
            <a:off x="6537960" y="57424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Nunito" pitchFamily="34" charset="0"/>
                <a:ea typeface="Nunito" pitchFamily="34" charset="-122"/>
                <a:cs typeface="Nunito" pitchFamily="34" charset="-120"/>
              </a:rPr>
              <a:t>8</a:t>
            </a:r>
            <a:endParaRPr lang="en-US" sz="1200" dirty="0"/>
          </a:p>
        </p:txBody>
      </p:sp>
      <p:sp>
        <p:nvSpPr>
          <p:cNvPr id="43" name="Text 41"/>
          <p:cNvSpPr/>
          <p:nvPr/>
        </p:nvSpPr>
        <p:spPr>
          <a:xfrm>
            <a:off x="7086600" y="5614416"/>
            <a:ext cx="4242816" cy="320040"/>
          </a:xfrm>
          <a:prstGeom prst="rect">
            <a:avLst/>
          </a:prstGeom>
          <a:noFill/>
          <a:ln/>
        </p:spPr>
        <p:txBody>
          <a:bodyPr wrap="square" lIns="0" tIns="0" rIns="0" bIns="0" rtlCol="0" anchor="ctr"/>
          <a:lstStyle/>
          <a:p>
            <a:pPr indent="0" marL="0">
              <a:buNone/>
            </a:pPr>
            <a:r>
              <a:rPr lang="en-US" sz="1450" b="1" dirty="0">
                <a:solidFill>
                  <a:srgbClr val="1F2933"/>
                </a:solidFill>
                <a:latin typeface="Nunito" pitchFamily="34" charset="0"/>
                <a:ea typeface="Nunito" pitchFamily="34" charset="-122"/>
                <a:cs typeface="Nunito" pitchFamily="34" charset="-120"/>
              </a:rPr>
              <a:t>Maintainability</a:t>
            </a:r>
            <a:endParaRPr lang="en-US" sz="1450" dirty="0"/>
          </a:p>
        </p:txBody>
      </p:sp>
      <p:sp>
        <p:nvSpPr>
          <p:cNvPr id="44" name="Text 42"/>
          <p:cNvSpPr/>
          <p:nvPr/>
        </p:nvSpPr>
        <p:spPr>
          <a:xfrm>
            <a:off x="7086600" y="5925312"/>
            <a:ext cx="4242816" cy="384048"/>
          </a:xfrm>
          <a:prstGeom prst="rect">
            <a:avLst/>
          </a:prstGeom>
          <a:noFill/>
          <a:ln/>
        </p:spPr>
        <p:txBody>
          <a:bodyPr wrap="square" lIns="0" tIns="0" rIns="0" bIns="0" rtlCol="0" anchor="ctr"/>
          <a:lstStyle/>
          <a:p>
            <a:pPr indent="0" marL="0">
              <a:lnSpc>
                <a:spcPct val="102000"/>
              </a:lnSpc>
              <a:buNone/>
            </a:pPr>
            <a:r>
              <a:rPr lang="en-US" sz="1150" dirty="0">
                <a:solidFill>
                  <a:srgbClr val="5B6770"/>
                </a:solidFill>
                <a:latin typeface="Nunito" pitchFamily="34" charset="0"/>
                <a:ea typeface="Nunito" pitchFamily="34" charset="-122"/>
                <a:cs typeface="Nunito" pitchFamily="34" charset="-120"/>
              </a:rPr>
              <a:t>Organized so future developers can understand, modify, and extend it.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STATUS</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Where the project is</a:t>
            </a:r>
            <a:endParaRPr lang="en-US" sz="3100" dirty="0"/>
          </a:p>
        </p:txBody>
      </p:sp>
      <p:sp>
        <p:nvSpPr>
          <p:cNvPr id="4" name="Shape 2"/>
          <p:cNvSpPr/>
          <p:nvPr/>
        </p:nvSpPr>
        <p:spPr>
          <a:xfrm>
            <a:off x="640080" y="1874520"/>
            <a:ext cx="3392424" cy="2286000"/>
          </a:xfrm>
          <a:prstGeom prst="roundRect">
            <a:avLst>
              <a:gd name="adj" fmla="val 2400"/>
            </a:avLst>
          </a:prstGeom>
          <a:solidFill>
            <a:srgbClr val="F4F6F8"/>
          </a:solidFill>
          <a:ln/>
          <a:effectLst>
            <a:outerShdw sx="100000" sy="100000" kx="0" ky="0" algn="bl" rotWithShape="0" blurRad="101600" dist="38100" dir="5400000">
              <a:srgbClr val="000000">
                <a:alpha val="10000"/>
              </a:srgbClr>
            </a:outerShdw>
          </a:effectLst>
        </p:spPr>
      </p:sp>
      <p:sp>
        <p:nvSpPr>
          <p:cNvPr id="5" name="Text 3"/>
          <p:cNvSpPr/>
          <p:nvPr/>
        </p:nvSpPr>
        <p:spPr>
          <a:xfrm>
            <a:off x="914400" y="2112264"/>
            <a:ext cx="2843784" cy="914400"/>
          </a:xfrm>
          <a:prstGeom prst="rect">
            <a:avLst/>
          </a:prstGeom>
          <a:noFill/>
          <a:ln/>
        </p:spPr>
        <p:txBody>
          <a:bodyPr wrap="square" lIns="0" tIns="0" rIns="0" bIns="0" rtlCol="0" anchor="ctr"/>
          <a:lstStyle/>
          <a:p>
            <a:pPr indent="0" marL="0">
              <a:buNone/>
            </a:pPr>
            <a:r>
              <a:rPr lang="en-US" sz="5000" b="1" dirty="0">
                <a:solidFill>
                  <a:srgbClr val="2F6FE0"/>
                </a:solidFill>
                <a:latin typeface="Nunito" pitchFamily="34" charset="0"/>
                <a:ea typeface="Nunito" pitchFamily="34" charset="-122"/>
                <a:cs typeface="Nunito" pitchFamily="34" charset="-120"/>
              </a:rPr>
              <a:t>5</a:t>
            </a:r>
            <a:endParaRPr lang="en-US" sz="5000" dirty="0"/>
          </a:p>
        </p:txBody>
      </p:sp>
      <p:sp>
        <p:nvSpPr>
          <p:cNvPr id="6" name="Text 4"/>
          <p:cNvSpPr/>
          <p:nvPr/>
        </p:nvSpPr>
        <p:spPr>
          <a:xfrm>
            <a:off x="932688" y="3081528"/>
            <a:ext cx="2843784" cy="365760"/>
          </a:xfrm>
          <a:prstGeom prst="rect">
            <a:avLst/>
          </a:prstGeom>
          <a:noFill/>
          <a:ln/>
        </p:spPr>
        <p:txBody>
          <a:bodyPr wrap="square" lIns="0" tIns="0" rIns="0" bIns="0" rtlCol="0" anchor="ctr"/>
          <a:lstStyle/>
          <a:p>
            <a:pPr indent="0" marL="0">
              <a:buNone/>
            </a:pPr>
            <a:r>
              <a:rPr lang="en-US" sz="1800" b="1" dirty="0">
                <a:solidFill>
                  <a:srgbClr val="1F2933"/>
                </a:solidFill>
                <a:latin typeface="Nunito" pitchFamily="34" charset="0"/>
                <a:ea typeface="Nunito" pitchFamily="34" charset="-122"/>
                <a:cs typeface="Nunito" pitchFamily="34" charset="-120"/>
              </a:rPr>
              <a:t>test workflows</a:t>
            </a:r>
            <a:endParaRPr lang="en-US" sz="1800" dirty="0"/>
          </a:p>
        </p:txBody>
      </p:sp>
      <p:sp>
        <p:nvSpPr>
          <p:cNvPr id="7" name="Text 5"/>
          <p:cNvSpPr/>
          <p:nvPr/>
        </p:nvSpPr>
        <p:spPr>
          <a:xfrm>
            <a:off x="932688" y="3465576"/>
            <a:ext cx="2843784" cy="64008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EM, Calibration, Manual,</a:t>
            </a:r>
            <a:endParaRPr lang="en-US" sz="1250" dirty="0"/>
          </a:p>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Shear, and Fatigue</a:t>
            </a:r>
            <a:endParaRPr lang="en-US" sz="1250" dirty="0"/>
          </a:p>
        </p:txBody>
      </p:sp>
      <p:sp>
        <p:nvSpPr>
          <p:cNvPr id="8" name="Shape 6"/>
          <p:cNvSpPr/>
          <p:nvPr/>
        </p:nvSpPr>
        <p:spPr>
          <a:xfrm>
            <a:off x="4398264" y="1874520"/>
            <a:ext cx="3392424" cy="2286000"/>
          </a:xfrm>
          <a:prstGeom prst="roundRect">
            <a:avLst>
              <a:gd name="adj" fmla="val 2400"/>
            </a:avLst>
          </a:prstGeom>
          <a:solidFill>
            <a:srgbClr val="F4F6F8"/>
          </a:solidFill>
          <a:ln/>
          <a:effectLst>
            <a:outerShdw sx="100000" sy="100000" kx="0" ky="0" algn="bl" rotWithShape="0" blurRad="101600" dist="38100" dir="5400000">
              <a:srgbClr val="000000">
                <a:alpha val="10000"/>
              </a:srgbClr>
            </a:outerShdw>
          </a:effectLst>
        </p:spPr>
      </p:sp>
      <p:sp>
        <p:nvSpPr>
          <p:cNvPr id="9" name="Text 7"/>
          <p:cNvSpPr/>
          <p:nvPr/>
        </p:nvSpPr>
        <p:spPr>
          <a:xfrm>
            <a:off x="4672584" y="2112264"/>
            <a:ext cx="2843784" cy="914400"/>
          </a:xfrm>
          <a:prstGeom prst="rect">
            <a:avLst/>
          </a:prstGeom>
          <a:noFill/>
          <a:ln/>
        </p:spPr>
        <p:txBody>
          <a:bodyPr wrap="square" lIns="0" tIns="0" rIns="0" bIns="0" rtlCol="0" anchor="ctr"/>
          <a:lstStyle/>
          <a:p>
            <a:pPr indent="0" marL="0">
              <a:buNone/>
            </a:pPr>
            <a:r>
              <a:rPr lang="en-US" sz="5000" b="1" dirty="0">
                <a:solidFill>
                  <a:srgbClr val="2F6FE0"/>
                </a:solidFill>
                <a:latin typeface="Nunito" pitchFamily="34" charset="0"/>
                <a:ea typeface="Nunito" pitchFamily="34" charset="-122"/>
                <a:cs typeface="Nunito" pitchFamily="34" charset="-120"/>
              </a:rPr>
              <a:t>6</a:t>
            </a:r>
            <a:endParaRPr lang="en-US" sz="5000" dirty="0"/>
          </a:p>
        </p:txBody>
      </p:sp>
      <p:sp>
        <p:nvSpPr>
          <p:cNvPr id="10" name="Text 8"/>
          <p:cNvSpPr/>
          <p:nvPr/>
        </p:nvSpPr>
        <p:spPr>
          <a:xfrm>
            <a:off x="4690872" y="3081528"/>
            <a:ext cx="2843784" cy="365760"/>
          </a:xfrm>
          <a:prstGeom prst="rect">
            <a:avLst/>
          </a:prstGeom>
          <a:noFill/>
          <a:ln/>
        </p:spPr>
        <p:txBody>
          <a:bodyPr wrap="square" lIns="0" tIns="0" rIns="0" bIns="0" rtlCol="0" anchor="ctr"/>
          <a:lstStyle/>
          <a:p>
            <a:pPr indent="0" marL="0">
              <a:buNone/>
            </a:pPr>
            <a:r>
              <a:rPr lang="en-US" sz="1800" b="1" dirty="0">
                <a:solidFill>
                  <a:srgbClr val="1F2933"/>
                </a:solidFill>
                <a:latin typeface="Nunito" pitchFamily="34" charset="0"/>
                <a:ea typeface="Nunito" pitchFamily="34" charset="-122"/>
                <a:cs typeface="Nunito" pitchFamily="34" charset="-120"/>
              </a:rPr>
              <a:t>safety systems</a:t>
            </a:r>
            <a:endParaRPr lang="en-US" sz="1800" dirty="0"/>
          </a:p>
        </p:txBody>
      </p:sp>
      <p:sp>
        <p:nvSpPr>
          <p:cNvPr id="11" name="Text 9"/>
          <p:cNvSpPr/>
          <p:nvPr/>
        </p:nvSpPr>
        <p:spPr>
          <a:xfrm>
            <a:off x="4690872" y="3465576"/>
            <a:ext cx="2843784" cy="64008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Force, spike, travel, disconnect,</a:t>
            </a:r>
            <a:endParaRPr lang="en-US" sz="1250" dirty="0"/>
          </a:p>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snap-to, single-owner reader</a:t>
            </a:r>
            <a:endParaRPr lang="en-US" sz="1250" dirty="0"/>
          </a:p>
        </p:txBody>
      </p:sp>
      <p:sp>
        <p:nvSpPr>
          <p:cNvPr id="12" name="Shape 10"/>
          <p:cNvSpPr/>
          <p:nvPr/>
        </p:nvSpPr>
        <p:spPr>
          <a:xfrm>
            <a:off x="8156448" y="1874520"/>
            <a:ext cx="3392424" cy="2286000"/>
          </a:xfrm>
          <a:prstGeom prst="roundRect">
            <a:avLst>
              <a:gd name="adj" fmla="val 2400"/>
            </a:avLst>
          </a:prstGeom>
          <a:solidFill>
            <a:srgbClr val="F4F6F8"/>
          </a:solidFill>
          <a:ln/>
          <a:effectLst>
            <a:outerShdw sx="100000" sy="100000" kx="0" ky="0" algn="bl" rotWithShape="0" blurRad="101600" dist="38100" dir="5400000">
              <a:srgbClr val="000000">
                <a:alpha val="10000"/>
              </a:srgbClr>
            </a:outerShdw>
          </a:effectLst>
        </p:spPr>
      </p:sp>
      <p:sp>
        <p:nvSpPr>
          <p:cNvPr id="13" name="Text 11"/>
          <p:cNvSpPr/>
          <p:nvPr/>
        </p:nvSpPr>
        <p:spPr>
          <a:xfrm>
            <a:off x="8430768" y="2112264"/>
            <a:ext cx="2843784" cy="914400"/>
          </a:xfrm>
          <a:prstGeom prst="rect">
            <a:avLst/>
          </a:prstGeom>
          <a:noFill/>
          <a:ln/>
        </p:spPr>
        <p:txBody>
          <a:bodyPr wrap="square" lIns="0" tIns="0" rIns="0" bIns="0" rtlCol="0" anchor="ctr"/>
          <a:lstStyle/>
          <a:p>
            <a:pPr indent="0" marL="0">
              <a:buNone/>
            </a:pPr>
            <a:r>
              <a:rPr lang="en-US" sz="5000" b="1" dirty="0">
                <a:solidFill>
                  <a:srgbClr val="2F6FE0"/>
                </a:solidFill>
                <a:latin typeface="Nunito" pitchFamily="34" charset="0"/>
                <a:ea typeface="Nunito" pitchFamily="34" charset="-122"/>
                <a:cs typeface="Nunito" pitchFamily="34" charset="-120"/>
              </a:rPr>
              <a:t>100+</a:t>
            </a:r>
            <a:endParaRPr lang="en-US" sz="5000" dirty="0"/>
          </a:p>
        </p:txBody>
      </p:sp>
      <p:sp>
        <p:nvSpPr>
          <p:cNvPr id="14" name="Text 12"/>
          <p:cNvSpPr/>
          <p:nvPr/>
        </p:nvSpPr>
        <p:spPr>
          <a:xfrm>
            <a:off x="8449056" y="3081528"/>
            <a:ext cx="2843784" cy="365760"/>
          </a:xfrm>
          <a:prstGeom prst="rect">
            <a:avLst/>
          </a:prstGeom>
          <a:noFill/>
          <a:ln/>
        </p:spPr>
        <p:txBody>
          <a:bodyPr wrap="square" lIns="0" tIns="0" rIns="0" bIns="0" rtlCol="0" anchor="ctr"/>
          <a:lstStyle/>
          <a:p>
            <a:pPr indent="0" marL="0">
              <a:buNone/>
            </a:pPr>
            <a:r>
              <a:rPr lang="en-US" sz="1800" b="1" dirty="0">
                <a:solidFill>
                  <a:srgbClr val="1F2933"/>
                </a:solidFill>
                <a:latin typeface="Nunito" pitchFamily="34" charset="0"/>
                <a:ea typeface="Nunito" pitchFamily="34" charset="-122"/>
                <a:cs typeface="Nunito" pitchFamily="34" charset="-120"/>
              </a:rPr>
              <a:t>user stories</a:t>
            </a:r>
            <a:endParaRPr lang="en-US" sz="1800" dirty="0"/>
          </a:p>
        </p:txBody>
      </p:sp>
      <p:sp>
        <p:nvSpPr>
          <p:cNvPr id="15" name="Text 13"/>
          <p:cNvSpPr/>
          <p:nvPr/>
        </p:nvSpPr>
        <p:spPr>
          <a:xfrm>
            <a:off x="8449056" y="3465576"/>
            <a:ext cx="2843784" cy="64008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Across 11 features; test</a:t>
            </a:r>
            <a:endParaRPr lang="en-US" sz="1250" dirty="0"/>
          </a:p>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cases done for 7 of 11</a:t>
            </a:r>
            <a:endParaRPr lang="en-US" sz="1250" dirty="0"/>
          </a:p>
        </p:txBody>
      </p:sp>
      <p:sp>
        <p:nvSpPr>
          <p:cNvPr id="16" name="Text 14"/>
          <p:cNvSpPr/>
          <p:nvPr/>
        </p:nvSpPr>
        <p:spPr>
          <a:xfrm>
            <a:off x="640080" y="4526280"/>
            <a:ext cx="10908792" cy="10972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3"/>
                </a:solidFill>
                <a:latin typeface="Nunito" pitchFamily="34" charset="0"/>
                <a:ea typeface="Nunito" pitchFamily="34" charset="-122"/>
                <a:cs typeface="Nunito" pitchFamily="34" charset="-120"/>
              </a:rPr>
              <a:t>MVP built and running end to end - every test type completes.</a:t>
            </a:r>
            <a:endParaRPr lang="en-US" sz="1600" dirty="0"/>
          </a:p>
          <a:p>
            <a:pPr marL="342900" indent="-342900">
              <a:spcAft>
                <a:spcPts val="800"/>
              </a:spcAft>
              <a:buSzPct val="100000"/>
              <a:buChar char="•"/>
            </a:pPr>
            <a:r>
              <a:rPr lang="en-US" sz="1600" dirty="0">
                <a:solidFill>
                  <a:srgbClr val="1F2933"/>
                </a:solidFill>
                <a:latin typeface="Nunito" pitchFamily="34" charset="0"/>
                <a:ea typeface="Nunito" pitchFamily="34" charset="-122"/>
                <a:cs typeface="Nunito" pitchFamily="34" charset="-120"/>
              </a:rPr>
              <a:t>Packaged as a double-clickable desktop app on Mac and Windows.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33"/>
        </a:solidFill>
      </p:bgPr>
    </p:bg>
    <p:spTree>
      <p:nvGrpSpPr>
        <p:cNvPr id="1" name=""/>
        <p:cNvGrpSpPr/>
        <p:nvPr/>
      </p:nvGrpSpPr>
      <p:grpSpPr>
        <a:xfrm>
          <a:off x="0" y="0"/>
          <a:ext cx="0" cy="0"/>
          <a:chOff x="0" y="0"/>
          <a:chExt cx="0" cy="0"/>
        </a:xfrm>
      </p:grpSpPr>
      <p:sp>
        <p:nvSpPr>
          <p:cNvPr id="2" name="Text 0"/>
          <p:cNvSpPr/>
          <p:nvPr/>
        </p:nvSpPr>
        <p:spPr>
          <a:xfrm>
            <a:off x="640080" y="2651760"/>
            <a:ext cx="10908792" cy="365760"/>
          </a:xfrm>
          <a:prstGeom prst="rect">
            <a:avLst/>
          </a:prstGeom>
          <a:noFill/>
          <a:ln/>
        </p:spPr>
        <p:txBody>
          <a:bodyPr wrap="square" lIns="0" tIns="0" rIns="0" bIns="0" rtlCol="0" anchor="ctr"/>
          <a:lstStyle/>
          <a:p>
            <a:pPr indent="0" marL="0">
              <a:buNone/>
            </a:pPr>
            <a:r>
              <a:rPr lang="en-US" sz="1400" b="1" spc="300" kern="0" dirty="0">
                <a:solidFill>
                  <a:srgbClr val="2F6FE0"/>
                </a:solidFill>
                <a:latin typeface="Nunito" pitchFamily="34" charset="0"/>
                <a:ea typeface="Nunito" pitchFamily="34" charset="-122"/>
                <a:cs typeface="Nunito" pitchFamily="34" charset="-120"/>
              </a:rPr>
              <a:t>PART 1</a:t>
            </a:r>
            <a:endParaRPr lang="en-US" sz="1400" dirty="0"/>
          </a:p>
        </p:txBody>
      </p:sp>
      <p:sp>
        <p:nvSpPr>
          <p:cNvPr id="3" name="Text 1"/>
          <p:cNvSpPr/>
          <p:nvPr/>
        </p:nvSpPr>
        <p:spPr>
          <a:xfrm>
            <a:off x="640080" y="3063240"/>
            <a:ext cx="10908792" cy="1005840"/>
          </a:xfrm>
          <a:prstGeom prst="rect">
            <a:avLst/>
          </a:prstGeom>
          <a:noFill/>
          <a:ln/>
        </p:spPr>
        <p:txBody>
          <a:bodyPr wrap="square" lIns="0" tIns="0" rIns="0" bIns="0" rtlCol="0" anchor="ctr"/>
          <a:lstStyle/>
          <a:p>
            <a:pPr indent="0" marL="0">
              <a:buNone/>
            </a:pPr>
            <a:r>
              <a:rPr lang="en-US" sz="4400" b="1" dirty="0">
                <a:solidFill>
                  <a:srgbClr val="FFFFFF"/>
                </a:solidFill>
                <a:latin typeface="Nunito" pitchFamily="34" charset="0"/>
                <a:ea typeface="Nunito" pitchFamily="34" charset="-122"/>
                <a:cs typeface="Nunito" pitchFamily="34" charset="-120"/>
              </a:rPr>
              <a:t>What I built</a:t>
            </a:r>
            <a:endParaRPr lang="en-US" sz="4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CAPABILITIES</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Five test workflows</a:t>
            </a:r>
            <a:endParaRPr lang="en-US" sz="3100" dirty="0"/>
          </a:p>
        </p:txBody>
      </p:sp>
      <p:sp>
        <p:nvSpPr>
          <p:cNvPr id="4" name="Shape 2"/>
          <p:cNvSpPr/>
          <p:nvPr/>
        </p:nvSpPr>
        <p:spPr>
          <a:xfrm>
            <a:off x="640080" y="1828800"/>
            <a:ext cx="402336" cy="402336"/>
          </a:xfrm>
          <a:prstGeom prst="ellipse">
            <a:avLst/>
          </a:prstGeom>
          <a:solidFill>
            <a:srgbClr val="2F6FE0"/>
          </a:solidFill>
          <a:ln/>
        </p:spPr>
      </p:sp>
      <p:sp>
        <p:nvSpPr>
          <p:cNvPr id="5" name="Text 3"/>
          <p:cNvSpPr/>
          <p:nvPr/>
        </p:nvSpPr>
        <p:spPr>
          <a:xfrm>
            <a:off x="640080" y="182880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Nunito" pitchFamily="34" charset="0"/>
                <a:ea typeface="Nunito" pitchFamily="34" charset="-122"/>
                <a:cs typeface="Nunito" pitchFamily="34" charset="-120"/>
              </a:rPr>
              <a:t>1</a:t>
            </a:r>
            <a:endParaRPr lang="en-US" sz="1200" dirty="0"/>
          </a:p>
        </p:txBody>
      </p:sp>
      <p:sp>
        <p:nvSpPr>
          <p:cNvPr id="6" name="Text 4"/>
          <p:cNvSpPr/>
          <p:nvPr/>
        </p:nvSpPr>
        <p:spPr>
          <a:xfrm>
            <a:off x="1280160" y="1746504"/>
            <a:ext cx="2743200" cy="457200"/>
          </a:xfrm>
          <a:prstGeom prst="rect">
            <a:avLst/>
          </a:prstGeom>
          <a:noFill/>
          <a:ln/>
        </p:spPr>
        <p:txBody>
          <a:bodyPr wrap="square" lIns="0" tIns="0" rIns="0" bIns="0" rtlCol="0" anchor="ctr"/>
          <a:lstStyle/>
          <a:p>
            <a:pPr indent="0" marL="0">
              <a:buNone/>
            </a:pPr>
            <a:r>
              <a:rPr lang="en-US" sz="1800" b="1" dirty="0">
                <a:solidFill>
                  <a:srgbClr val="1F2933"/>
                </a:solidFill>
                <a:latin typeface="Nunito" pitchFamily="34" charset="0"/>
                <a:ea typeface="Nunito" pitchFamily="34" charset="-122"/>
                <a:cs typeface="Nunito" pitchFamily="34" charset="-120"/>
              </a:rPr>
              <a:t>EM</a:t>
            </a:r>
            <a:endParaRPr lang="en-US" sz="1800" dirty="0"/>
          </a:p>
        </p:txBody>
      </p:sp>
      <p:sp>
        <p:nvSpPr>
          <p:cNvPr id="7" name="Text 5"/>
          <p:cNvSpPr/>
          <p:nvPr/>
        </p:nvSpPr>
        <p:spPr>
          <a:xfrm>
            <a:off x="4114800" y="1764792"/>
            <a:ext cx="7434072" cy="548640"/>
          </a:xfrm>
          <a:prstGeom prst="rect">
            <a:avLst/>
          </a:prstGeom>
          <a:noFill/>
          <a:ln/>
        </p:spPr>
        <p:txBody>
          <a:bodyPr wrap="square" lIns="0" tIns="0" rIns="0" bIns="0" rtlCol="0" anchor="ctr"/>
          <a:lstStyle/>
          <a:p>
            <a:pPr indent="0" marL="0">
              <a:lnSpc>
                <a:spcPct val="105000"/>
              </a:lnSpc>
              <a:buNone/>
            </a:pPr>
            <a:r>
              <a:rPr lang="en-US" sz="1450" dirty="0">
                <a:solidFill>
                  <a:srgbClr val="5B6770"/>
                </a:solidFill>
                <a:latin typeface="Nunito" pitchFamily="34" charset="0"/>
                <a:ea typeface="Nunito" pitchFamily="34" charset="-122"/>
                <a:cs typeface="Nunito" pitchFamily="34" charset="-120"/>
              </a:rPr>
              <a:t>Press the sensor and read its response against pressure, automated across repeated runs.</a:t>
            </a:r>
            <a:endParaRPr lang="en-US" sz="1450" dirty="0"/>
          </a:p>
        </p:txBody>
      </p:sp>
      <p:sp>
        <p:nvSpPr>
          <p:cNvPr id="8" name="Shape 6"/>
          <p:cNvSpPr/>
          <p:nvPr/>
        </p:nvSpPr>
        <p:spPr>
          <a:xfrm>
            <a:off x="640080" y="2743200"/>
            <a:ext cx="402336" cy="402336"/>
          </a:xfrm>
          <a:prstGeom prst="ellipse">
            <a:avLst/>
          </a:prstGeom>
          <a:solidFill>
            <a:srgbClr val="2F6FE0"/>
          </a:solidFill>
          <a:ln/>
        </p:spPr>
      </p:sp>
      <p:sp>
        <p:nvSpPr>
          <p:cNvPr id="9" name="Text 7"/>
          <p:cNvSpPr/>
          <p:nvPr/>
        </p:nvSpPr>
        <p:spPr>
          <a:xfrm>
            <a:off x="640080" y="274320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Nunito" pitchFamily="34" charset="0"/>
                <a:ea typeface="Nunito" pitchFamily="34" charset="-122"/>
                <a:cs typeface="Nunito" pitchFamily="34" charset="-120"/>
              </a:rPr>
              <a:t>2</a:t>
            </a:r>
            <a:endParaRPr lang="en-US" sz="1200" dirty="0"/>
          </a:p>
        </p:txBody>
      </p:sp>
      <p:sp>
        <p:nvSpPr>
          <p:cNvPr id="10" name="Text 8"/>
          <p:cNvSpPr/>
          <p:nvPr/>
        </p:nvSpPr>
        <p:spPr>
          <a:xfrm>
            <a:off x="1280160" y="2660904"/>
            <a:ext cx="2743200" cy="457200"/>
          </a:xfrm>
          <a:prstGeom prst="rect">
            <a:avLst/>
          </a:prstGeom>
          <a:noFill/>
          <a:ln/>
        </p:spPr>
        <p:txBody>
          <a:bodyPr wrap="square" lIns="0" tIns="0" rIns="0" bIns="0" rtlCol="0" anchor="ctr"/>
          <a:lstStyle/>
          <a:p>
            <a:pPr indent="0" marL="0">
              <a:buNone/>
            </a:pPr>
            <a:r>
              <a:rPr lang="en-US" sz="1800" b="1" dirty="0">
                <a:solidFill>
                  <a:srgbClr val="1F2933"/>
                </a:solidFill>
                <a:latin typeface="Nunito" pitchFamily="34" charset="0"/>
                <a:ea typeface="Nunito" pitchFamily="34" charset="-122"/>
                <a:cs typeface="Nunito" pitchFamily="34" charset="-120"/>
              </a:rPr>
              <a:t>Calibration / Fuji</a:t>
            </a:r>
            <a:endParaRPr lang="en-US" sz="1800" dirty="0"/>
          </a:p>
        </p:txBody>
      </p:sp>
      <p:sp>
        <p:nvSpPr>
          <p:cNvPr id="11" name="Text 9"/>
          <p:cNvSpPr/>
          <p:nvPr/>
        </p:nvSpPr>
        <p:spPr>
          <a:xfrm>
            <a:off x="4114800" y="2679192"/>
            <a:ext cx="7434072" cy="548640"/>
          </a:xfrm>
          <a:prstGeom prst="rect">
            <a:avLst/>
          </a:prstGeom>
          <a:noFill/>
          <a:ln/>
        </p:spPr>
        <p:txBody>
          <a:bodyPr wrap="square" lIns="0" tIns="0" rIns="0" bIns="0" rtlCol="0" anchor="ctr"/>
          <a:lstStyle/>
          <a:p>
            <a:pPr indent="0" marL="0">
              <a:lnSpc>
                <a:spcPct val="105000"/>
              </a:lnSpc>
              <a:buNone/>
            </a:pPr>
            <a:r>
              <a:rPr lang="en-US" sz="1450" dirty="0">
                <a:solidFill>
                  <a:srgbClr val="5B6770"/>
                </a:solidFill>
                <a:latin typeface="Nunito" pitchFamily="34" charset="0"/>
                <a:ea typeface="Nunito" pitchFamily="34" charset="-122"/>
                <a:cs typeface="Nunito" pitchFamily="34" charset="-120"/>
              </a:rPr>
              <a:t>Fuji-film calibration with an operator-set extrusion distance and a fine manual jog.</a:t>
            </a:r>
            <a:endParaRPr lang="en-US" sz="1450" dirty="0"/>
          </a:p>
        </p:txBody>
      </p:sp>
      <p:sp>
        <p:nvSpPr>
          <p:cNvPr id="12" name="Shape 10"/>
          <p:cNvSpPr/>
          <p:nvPr/>
        </p:nvSpPr>
        <p:spPr>
          <a:xfrm>
            <a:off x="640080" y="3657600"/>
            <a:ext cx="402336" cy="402336"/>
          </a:xfrm>
          <a:prstGeom prst="ellipse">
            <a:avLst/>
          </a:prstGeom>
          <a:solidFill>
            <a:srgbClr val="2F6FE0"/>
          </a:solidFill>
          <a:ln/>
        </p:spPr>
      </p:sp>
      <p:sp>
        <p:nvSpPr>
          <p:cNvPr id="13" name="Text 11"/>
          <p:cNvSpPr/>
          <p:nvPr/>
        </p:nvSpPr>
        <p:spPr>
          <a:xfrm>
            <a:off x="640080" y="365760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Nunito" pitchFamily="34" charset="0"/>
                <a:ea typeface="Nunito" pitchFamily="34" charset="-122"/>
                <a:cs typeface="Nunito" pitchFamily="34" charset="-120"/>
              </a:rPr>
              <a:t>3</a:t>
            </a:r>
            <a:endParaRPr lang="en-US" sz="1200" dirty="0"/>
          </a:p>
        </p:txBody>
      </p:sp>
      <p:sp>
        <p:nvSpPr>
          <p:cNvPr id="14" name="Text 12"/>
          <p:cNvSpPr/>
          <p:nvPr/>
        </p:nvSpPr>
        <p:spPr>
          <a:xfrm>
            <a:off x="1280160" y="3575304"/>
            <a:ext cx="2743200" cy="457200"/>
          </a:xfrm>
          <a:prstGeom prst="rect">
            <a:avLst/>
          </a:prstGeom>
          <a:noFill/>
          <a:ln/>
        </p:spPr>
        <p:txBody>
          <a:bodyPr wrap="square" lIns="0" tIns="0" rIns="0" bIns="0" rtlCol="0" anchor="ctr"/>
          <a:lstStyle/>
          <a:p>
            <a:pPr indent="0" marL="0">
              <a:buNone/>
            </a:pPr>
            <a:r>
              <a:rPr lang="en-US" sz="1800" b="1" dirty="0">
                <a:solidFill>
                  <a:srgbClr val="1F2933"/>
                </a:solidFill>
                <a:latin typeface="Nunito" pitchFamily="34" charset="0"/>
                <a:ea typeface="Nunito" pitchFamily="34" charset="-122"/>
                <a:cs typeface="Nunito" pitchFamily="34" charset="-120"/>
              </a:rPr>
              <a:t>Manual</a:t>
            </a:r>
            <a:endParaRPr lang="en-US" sz="1800" dirty="0"/>
          </a:p>
        </p:txBody>
      </p:sp>
      <p:sp>
        <p:nvSpPr>
          <p:cNvPr id="15" name="Text 13"/>
          <p:cNvSpPr/>
          <p:nvPr/>
        </p:nvSpPr>
        <p:spPr>
          <a:xfrm>
            <a:off x="4114800" y="3593592"/>
            <a:ext cx="7434072" cy="548640"/>
          </a:xfrm>
          <a:prstGeom prst="rect">
            <a:avLst/>
          </a:prstGeom>
          <a:noFill/>
          <a:ln/>
        </p:spPr>
        <p:txBody>
          <a:bodyPr wrap="square" lIns="0" tIns="0" rIns="0" bIns="0" rtlCol="0" anchor="ctr"/>
          <a:lstStyle/>
          <a:p>
            <a:pPr indent="0" marL="0">
              <a:lnSpc>
                <a:spcPct val="105000"/>
              </a:lnSpc>
              <a:buNone/>
            </a:pPr>
            <a:r>
              <a:rPr lang="en-US" sz="1450" dirty="0">
                <a:solidFill>
                  <a:srgbClr val="5B6770"/>
                </a:solidFill>
                <a:latin typeface="Nunito" pitchFamily="34" charset="0"/>
                <a:ea typeface="Nunito" pitchFamily="34" charset="-122"/>
                <a:cs typeface="Nunito" pitchFamily="34" charset="-120"/>
              </a:rPr>
              <a:t>Free actuator control by distance or force, with live force recording for exploratory tests.</a:t>
            </a:r>
            <a:endParaRPr lang="en-US" sz="1450" dirty="0"/>
          </a:p>
        </p:txBody>
      </p:sp>
      <p:sp>
        <p:nvSpPr>
          <p:cNvPr id="16" name="Shape 14"/>
          <p:cNvSpPr/>
          <p:nvPr/>
        </p:nvSpPr>
        <p:spPr>
          <a:xfrm>
            <a:off x="640080" y="4572000"/>
            <a:ext cx="402336" cy="402336"/>
          </a:xfrm>
          <a:prstGeom prst="ellipse">
            <a:avLst/>
          </a:prstGeom>
          <a:solidFill>
            <a:srgbClr val="2F6FE0"/>
          </a:solidFill>
          <a:ln/>
        </p:spPr>
      </p:sp>
      <p:sp>
        <p:nvSpPr>
          <p:cNvPr id="17" name="Text 15"/>
          <p:cNvSpPr/>
          <p:nvPr/>
        </p:nvSpPr>
        <p:spPr>
          <a:xfrm>
            <a:off x="640080" y="457200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Nunito" pitchFamily="34" charset="0"/>
                <a:ea typeface="Nunito" pitchFamily="34" charset="-122"/>
                <a:cs typeface="Nunito" pitchFamily="34" charset="-120"/>
              </a:rPr>
              <a:t>4</a:t>
            </a:r>
            <a:endParaRPr lang="en-US" sz="1200" dirty="0"/>
          </a:p>
        </p:txBody>
      </p:sp>
      <p:sp>
        <p:nvSpPr>
          <p:cNvPr id="18" name="Text 16"/>
          <p:cNvSpPr/>
          <p:nvPr/>
        </p:nvSpPr>
        <p:spPr>
          <a:xfrm>
            <a:off x="1280160" y="4489704"/>
            <a:ext cx="2743200" cy="457200"/>
          </a:xfrm>
          <a:prstGeom prst="rect">
            <a:avLst/>
          </a:prstGeom>
          <a:noFill/>
          <a:ln/>
        </p:spPr>
        <p:txBody>
          <a:bodyPr wrap="square" lIns="0" tIns="0" rIns="0" bIns="0" rtlCol="0" anchor="ctr"/>
          <a:lstStyle/>
          <a:p>
            <a:pPr indent="0" marL="0">
              <a:buNone/>
            </a:pPr>
            <a:r>
              <a:rPr lang="en-US" sz="1800" b="1" dirty="0">
                <a:solidFill>
                  <a:srgbClr val="1F2933"/>
                </a:solidFill>
                <a:latin typeface="Nunito" pitchFamily="34" charset="0"/>
                <a:ea typeface="Nunito" pitchFamily="34" charset="-122"/>
                <a:cs typeface="Nunito" pitchFamily="34" charset="-120"/>
              </a:rPr>
              <a:t>Shear</a:t>
            </a:r>
            <a:endParaRPr lang="en-US" sz="1800" dirty="0"/>
          </a:p>
        </p:txBody>
      </p:sp>
      <p:sp>
        <p:nvSpPr>
          <p:cNvPr id="19" name="Text 17"/>
          <p:cNvSpPr/>
          <p:nvPr/>
        </p:nvSpPr>
        <p:spPr>
          <a:xfrm>
            <a:off x="4114800" y="4507992"/>
            <a:ext cx="7434072" cy="548640"/>
          </a:xfrm>
          <a:prstGeom prst="rect">
            <a:avLst/>
          </a:prstGeom>
          <a:noFill/>
          <a:ln/>
        </p:spPr>
        <p:txBody>
          <a:bodyPr wrap="square" lIns="0" tIns="0" rIns="0" bIns="0" rtlCol="0" anchor="ctr"/>
          <a:lstStyle/>
          <a:p>
            <a:pPr indent="0" marL="0">
              <a:lnSpc>
                <a:spcPct val="105000"/>
              </a:lnSpc>
              <a:buNone/>
            </a:pPr>
            <a:r>
              <a:rPr lang="en-US" sz="1450" dirty="0">
                <a:solidFill>
                  <a:srgbClr val="5B6770"/>
                </a:solidFill>
                <a:latin typeface="Nunito" pitchFamily="34" charset="0"/>
                <a:ea typeface="Nunito" pitchFamily="34" charset="-122"/>
                <a:cs typeface="Nunito" pitchFamily="34" charset="-120"/>
              </a:rPr>
              <a:t>Load-cell-only capture - the operator applies force by hand while the GUI records it.</a:t>
            </a:r>
            <a:endParaRPr lang="en-US" sz="1450" dirty="0"/>
          </a:p>
        </p:txBody>
      </p:sp>
      <p:sp>
        <p:nvSpPr>
          <p:cNvPr id="20" name="Shape 18"/>
          <p:cNvSpPr/>
          <p:nvPr/>
        </p:nvSpPr>
        <p:spPr>
          <a:xfrm>
            <a:off x="640080" y="5486400"/>
            <a:ext cx="402336" cy="402336"/>
          </a:xfrm>
          <a:prstGeom prst="ellipse">
            <a:avLst/>
          </a:prstGeom>
          <a:solidFill>
            <a:srgbClr val="2F6FE0"/>
          </a:solidFill>
          <a:ln/>
        </p:spPr>
      </p:sp>
      <p:sp>
        <p:nvSpPr>
          <p:cNvPr id="21" name="Text 19"/>
          <p:cNvSpPr/>
          <p:nvPr/>
        </p:nvSpPr>
        <p:spPr>
          <a:xfrm>
            <a:off x="640080" y="548640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Nunito" pitchFamily="34" charset="0"/>
                <a:ea typeface="Nunito" pitchFamily="34" charset="-122"/>
                <a:cs typeface="Nunito" pitchFamily="34" charset="-120"/>
              </a:rPr>
              <a:t>5</a:t>
            </a:r>
            <a:endParaRPr lang="en-US" sz="1200" dirty="0"/>
          </a:p>
        </p:txBody>
      </p:sp>
      <p:sp>
        <p:nvSpPr>
          <p:cNvPr id="22" name="Text 20"/>
          <p:cNvSpPr/>
          <p:nvPr/>
        </p:nvSpPr>
        <p:spPr>
          <a:xfrm>
            <a:off x="1280160" y="5404104"/>
            <a:ext cx="2743200" cy="457200"/>
          </a:xfrm>
          <a:prstGeom prst="rect">
            <a:avLst/>
          </a:prstGeom>
          <a:noFill/>
          <a:ln/>
        </p:spPr>
        <p:txBody>
          <a:bodyPr wrap="square" lIns="0" tIns="0" rIns="0" bIns="0" rtlCol="0" anchor="ctr"/>
          <a:lstStyle/>
          <a:p>
            <a:pPr indent="0" marL="0">
              <a:buNone/>
            </a:pPr>
            <a:r>
              <a:rPr lang="en-US" sz="1800" b="1" dirty="0">
                <a:solidFill>
                  <a:srgbClr val="1F2933"/>
                </a:solidFill>
                <a:latin typeface="Nunito" pitchFamily="34" charset="0"/>
                <a:ea typeface="Nunito" pitchFamily="34" charset="-122"/>
                <a:cs typeface="Nunito" pitchFamily="34" charset="-120"/>
              </a:rPr>
              <a:t>Fatigue</a:t>
            </a:r>
            <a:endParaRPr lang="en-US" sz="1800" dirty="0"/>
          </a:p>
        </p:txBody>
      </p:sp>
      <p:sp>
        <p:nvSpPr>
          <p:cNvPr id="23" name="Text 21"/>
          <p:cNvSpPr/>
          <p:nvPr/>
        </p:nvSpPr>
        <p:spPr>
          <a:xfrm>
            <a:off x="4114800" y="5422392"/>
            <a:ext cx="7434072" cy="548640"/>
          </a:xfrm>
          <a:prstGeom prst="rect">
            <a:avLst/>
          </a:prstGeom>
          <a:noFill/>
          <a:ln/>
        </p:spPr>
        <p:txBody>
          <a:bodyPr wrap="square" lIns="0" tIns="0" rIns="0" bIns="0" rtlCol="0" anchor="ctr"/>
          <a:lstStyle/>
          <a:p>
            <a:pPr indent="0" marL="0">
              <a:lnSpc>
                <a:spcPct val="105000"/>
              </a:lnSpc>
              <a:buNone/>
            </a:pPr>
            <a:r>
              <a:rPr lang="en-US" sz="1450" dirty="0">
                <a:solidFill>
                  <a:srgbClr val="5B6770"/>
                </a:solidFill>
                <a:latin typeface="Nunito" pitchFamily="34" charset="0"/>
                <a:ea typeface="Nunito" pitchFamily="34" charset="-122"/>
                <a:cs typeface="Nunito" pitchFamily="34" charset="-120"/>
              </a:rPr>
              <a:t>Cyclical loading on a choice of waveforms - sine, square, triangle, sawtooth, or a blood-pressure pulse - for thousands of cycles, with a live preview.</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DEMO</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Fatigue testing window</a:t>
            </a:r>
            <a:endParaRPr lang="en-US" sz="3100" dirty="0"/>
          </a:p>
        </p:txBody>
      </p:sp>
      <p:sp>
        <p:nvSpPr>
          <p:cNvPr id="4" name="Shape 2"/>
          <p:cNvSpPr/>
          <p:nvPr/>
        </p:nvSpPr>
        <p:spPr>
          <a:xfrm>
            <a:off x="640080" y="1892808"/>
            <a:ext cx="128016" cy="128016"/>
          </a:xfrm>
          <a:prstGeom prst="ellipse">
            <a:avLst/>
          </a:prstGeom>
          <a:solidFill>
            <a:srgbClr val="2F6FE0"/>
          </a:solidFill>
          <a:ln/>
        </p:spPr>
      </p:sp>
      <p:sp>
        <p:nvSpPr>
          <p:cNvPr id="5" name="Text 3"/>
          <p:cNvSpPr/>
          <p:nvPr/>
        </p:nvSpPr>
        <p:spPr>
          <a:xfrm>
            <a:off x="932688" y="1783080"/>
            <a:ext cx="3822192" cy="320040"/>
          </a:xfrm>
          <a:prstGeom prst="rect">
            <a:avLst/>
          </a:prstGeom>
          <a:noFill/>
          <a:ln/>
        </p:spPr>
        <p:txBody>
          <a:bodyPr wrap="square" lIns="0" tIns="0" rIns="0" bIns="0" rtlCol="0" anchor="ctr"/>
          <a:lstStyle/>
          <a:p>
            <a:pPr indent="0" marL="0">
              <a:buNone/>
            </a:pPr>
            <a:r>
              <a:rPr lang="en-US" sz="1550" b="1" dirty="0">
                <a:solidFill>
                  <a:srgbClr val="1F2933"/>
                </a:solidFill>
                <a:latin typeface="Nunito" pitchFamily="34" charset="0"/>
                <a:ea typeface="Nunito" pitchFamily="34" charset="-122"/>
                <a:cs typeface="Nunito" pitchFamily="34" charset="-120"/>
              </a:rPr>
              <a:t>Five waveform types</a:t>
            </a:r>
            <a:endParaRPr lang="en-US" sz="1550" dirty="0"/>
          </a:p>
        </p:txBody>
      </p:sp>
      <p:sp>
        <p:nvSpPr>
          <p:cNvPr id="6" name="Text 4"/>
          <p:cNvSpPr/>
          <p:nvPr/>
        </p:nvSpPr>
        <p:spPr>
          <a:xfrm>
            <a:off x="932688" y="2103120"/>
            <a:ext cx="3822192" cy="54864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Sine, square, triangle, sawtooth, and a blood-pressure pulse, each redrawn live as the bounds and frequency change.</a:t>
            </a:r>
            <a:endParaRPr lang="en-US" sz="1250" dirty="0"/>
          </a:p>
        </p:txBody>
      </p:sp>
      <p:sp>
        <p:nvSpPr>
          <p:cNvPr id="7" name="Shape 5"/>
          <p:cNvSpPr/>
          <p:nvPr/>
        </p:nvSpPr>
        <p:spPr>
          <a:xfrm>
            <a:off x="640080" y="2916936"/>
            <a:ext cx="128016" cy="128016"/>
          </a:xfrm>
          <a:prstGeom prst="ellipse">
            <a:avLst/>
          </a:prstGeom>
          <a:solidFill>
            <a:srgbClr val="2F6FE0"/>
          </a:solidFill>
          <a:ln/>
        </p:spPr>
      </p:sp>
      <p:sp>
        <p:nvSpPr>
          <p:cNvPr id="8" name="Text 6"/>
          <p:cNvSpPr/>
          <p:nvPr/>
        </p:nvSpPr>
        <p:spPr>
          <a:xfrm>
            <a:off x="932688" y="2807208"/>
            <a:ext cx="3822192" cy="320040"/>
          </a:xfrm>
          <a:prstGeom prst="rect">
            <a:avLst/>
          </a:prstGeom>
          <a:noFill/>
          <a:ln/>
        </p:spPr>
        <p:txBody>
          <a:bodyPr wrap="square" lIns="0" tIns="0" rIns="0" bIns="0" rtlCol="0" anchor="ctr"/>
          <a:lstStyle/>
          <a:p>
            <a:pPr indent="0" marL="0">
              <a:buNone/>
            </a:pPr>
            <a:r>
              <a:rPr lang="en-US" sz="1550" b="1" dirty="0">
                <a:solidFill>
                  <a:srgbClr val="1F2933"/>
                </a:solidFill>
                <a:latin typeface="Nunito" pitchFamily="34" charset="0"/>
                <a:ea typeface="Nunito" pitchFamily="34" charset="-122"/>
                <a:cs typeface="Nunito" pitchFamily="34" charset="-120"/>
              </a:rPr>
              <a:t>Whole-number force bounds</a:t>
            </a:r>
            <a:endParaRPr lang="en-US" sz="1550" dirty="0"/>
          </a:p>
        </p:txBody>
      </p:sp>
      <p:sp>
        <p:nvSpPr>
          <p:cNvPr id="9" name="Text 7"/>
          <p:cNvSpPr/>
          <p:nvPr/>
        </p:nvSpPr>
        <p:spPr>
          <a:xfrm>
            <a:off x="932688" y="3127248"/>
            <a:ext cx="3822192" cy="54864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Lower and upper force, snapped into the safe range on entry.</a:t>
            </a:r>
            <a:endParaRPr lang="en-US" sz="1250" dirty="0"/>
          </a:p>
        </p:txBody>
      </p:sp>
      <p:sp>
        <p:nvSpPr>
          <p:cNvPr id="10" name="Shape 8"/>
          <p:cNvSpPr/>
          <p:nvPr/>
        </p:nvSpPr>
        <p:spPr>
          <a:xfrm>
            <a:off x="640080" y="3941064"/>
            <a:ext cx="128016" cy="128016"/>
          </a:xfrm>
          <a:prstGeom prst="ellipse">
            <a:avLst/>
          </a:prstGeom>
          <a:solidFill>
            <a:srgbClr val="2F6FE0"/>
          </a:solidFill>
          <a:ln/>
        </p:spPr>
      </p:sp>
      <p:sp>
        <p:nvSpPr>
          <p:cNvPr id="11" name="Text 9"/>
          <p:cNvSpPr/>
          <p:nvPr/>
        </p:nvSpPr>
        <p:spPr>
          <a:xfrm>
            <a:off x="932688" y="3831336"/>
            <a:ext cx="3822192" cy="320040"/>
          </a:xfrm>
          <a:prstGeom prst="rect">
            <a:avLst/>
          </a:prstGeom>
          <a:noFill/>
          <a:ln/>
        </p:spPr>
        <p:txBody>
          <a:bodyPr wrap="square" lIns="0" tIns="0" rIns="0" bIns="0" rtlCol="0" anchor="ctr"/>
          <a:lstStyle/>
          <a:p>
            <a:pPr indent="0" marL="0">
              <a:buNone/>
            </a:pPr>
            <a:r>
              <a:rPr lang="en-US" sz="1550" b="1" dirty="0">
                <a:solidFill>
                  <a:srgbClr val="1F2933"/>
                </a:solidFill>
                <a:latin typeface="Nunito" pitchFamily="34" charset="0"/>
                <a:ea typeface="Nunito" pitchFamily="34" charset="-122"/>
                <a:cs typeface="Nunito" pitchFamily="34" charset="-120"/>
              </a:rPr>
              <a:t>Cycle count + duration</a:t>
            </a:r>
            <a:endParaRPr lang="en-US" sz="1550" dirty="0"/>
          </a:p>
        </p:txBody>
      </p:sp>
      <p:sp>
        <p:nvSpPr>
          <p:cNvPr id="12" name="Text 10"/>
          <p:cNvSpPr/>
          <p:nvPr/>
        </p:nvSpPr>
        <p:spPr>
          <a:xfrm>
            <a:off x="932688" y="4151376"/>
            <a:ext cx="3822192" cy="54864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Shows the estimated test length - here, ~8 hours for 28,800 cycles.</a:t>
            </a:r>
            <a:endParaRPr lang="en-US" sz="1250" dirty="0"/>
          </a:p>
        </p:txBody>
      </p:sp>
      <p:sp>
        <p:nvSpPr>
          <p:cNvPr id="13" name="Shape 11"/>
          <p:cNvSpPr/>
          <p:nvPr/>
        </p:nvSpPr>
        <p:spPr>
          <a:xfrm>
            <a:off x="640080" y="4965192"/>
            <a:ext cx="128016" cy="128016"/>
          </a:xfrm>
          <a:prstGeom prst="ellipse">
            <a:avLst/>
          </a:prstGeom>
          <a:solidFill>
            <a:srgbClr val="2F6FE0"/>
          </a:solidFill>
          <a:ln/>
        </p:spPr>
      </p:sp>
      <p:sp>
        <p:nvSpPr>
          <p:cNvPr id="14" name="Text 12"/>
          <p:cNvSpPr/>
          <p:nvPr/>
        </p:nvSpPr>
        <p:spPr>
          <a:xfrm>
            <a:off x="932688" y="4855464"/>
            <a:ext cx="3822192" cy="320040"/>
          </a:xfrm>
          <a:prstGeom prst="rect">
            <a:avLst/>
          </a:prstGeom>
          <a:noFill/>
          <a:ln/>
        </p:spPr>
        <p:txBody>
          <a:bodyPr wrap="square" lIns="0" tIns="0" rIns="0" bIns="0" rtlCol="0" anchor="ctr"/>
          <a:lstStyle/>
          <a:p>
            <a:pPr indent="0" marL="0">
              <a:buNone/>
            </a:pPr>
            <a:r>
              <a:rPr lang="en-US" sz="1550" b="1" dirty="0">
                <a:solidFill>
                  <a:srgbClr val="1F2933"/>
                </a:solidFill>
                <a:latin typeface="Nunito" pitchFamily="34" charset="0"/>
                <a:ea typeface="Nunito" pitchFamily="34" charset="-122"/>
                <a:cs typeface="Nunito" pitchFamily="34" charset="-120"/>
              </a:rPr>
              <a:t>Force-spike protection</a:t>
            </a:r>
            <a:endParaRPr lang="en-US" sz="1550" dirty="0"/>
          </a:p>
        </p:txBody>
      </p:sp>
      <p:sp>
        <p:nvSpPr>
          <p:cNvPr id="15" name="Text 13"/>
          <p:cNvSpPr/>
          <p:nvPr/>
        </p:nvSpPr>
        <p:spPr>
          <a:xfrm>
            <a:off x="932688" y="5175504"/>
            <a:ext cx="3822192" cy="54864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Stops safely if the load ever jumps beyond the configured swing.</a:t>
            </a:r>
            <a:endParaRPr lang="en-US" sz="1250" dirty="0"/>
          </a:p>
        </p:txBody>
      </p:sp>
      <p:sp>
        <p:nvSpPr>
          <p:cNvPr id="16" name="Shape 14"/>
          <p:cNvSpPr/>
          <p:nvPr/>
        </p:nvSpPr>
        <p:spPr>
          <a:xfrm>
            <a:off x="5212080" y="1783080"/>
            <a:ext cx="6492240" cy="4345542"/>
          </a:xfrm>
          <a:prstGeom prst="rect">
            <a:avLst/>
          </a:prstGeom>
          <a:solidFill>
            <a:srgbClr val="FFFFFF"/>
          </a:solidFill>
          <a:ln w="9525">
            <a:solidFill>
              <a:srgbClr val="E3E7EB"/>
            </a:solidFill>
            <a:prstDash val="solid"/>
          </a:ln>
          <a:effectLst>
            <a:outerShdw sx="100000" sy="100000" kx="0" ky="0" algn="bl" rotWithShape="0" blurRad="152400" dist="50800" dir="5400000">
              <a:srgbClr val="000000">
                <a:alpha val="18000"/>
              </a:srgbClr>
            </a:outerShdw>
          </a:effectLst>
        </p:spPr>
      </p:sp>
      <p:pic>
        <p:nvPicPr>
          <p:cNvPr id="17" name="Image 0" descr="shot_fatigue.png">    </p:cNvPr>
          <p:cNvPicPr>
            <a:picLocks noChangeAspect="1"/>
          </p:cNvPicPr>
          <p:nvPr/>
        </p:nvPicPr>
        <p:blipFill>
          <a:blip r:embed="rId1"/>
          <a:stretch>
            <a:fillRect/>
          </a:stretch>
        </p:blipFill>
        <p:spPr>
          <a:xfrm>
            <a:off x="5212080" y="1783080"/>
            <a:ext cx="6492240" cy="434554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CONCEPT</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Fatigue waveform builder</a:t>
            </a:r>
            <a:endParaRPr lang="en-US" sz="3100" dirty="0"/>
          </a:p>
        </p:txBody>
      </p:sp>
      <p:sp>
        <p:nvSpPr>
          <p:cNvPr id="4" name="Shape 2"/>
          <p:cNvSpPr/>
          <p:nvPr/>
        </p:nvSpPr>
        <p:spPr>
          <a:xfrm>
            <a:off x="640080" y="1892808"/>
            <a:ext cx="128016" cy="128016"/>
          </a:xfrm>
          <a:prstGeom prst="ellipse">
            <a:avLst/>
          </a:prstGeom>
          <a:solidFill>
            <a:srgbClr val="2F6FE0"/>
          </a:solidFill>
          <a:ln/>
        </p:spPr>
      </p:sp>
      <p:sp>
        <p:nvSpPr>
          <p:cNvPr id="5" name="Text 3"/>
          <p:cNvSpPr/>
          <p:nvPr/>
        </p:nvSpPr>
        <p:spPr>
          <a:xfrm>
            <a:off x="932688" y="1783080"/>
            <a:ext cx="3822192" cy="320040"/>
          </a:xfrm>
          <a:prstGeom prst="rect">
            <a:avLst/>
          </a:prstGeom>
          <a:noFill/>
          <a:ln/>
        </p:spPr>
        <p:txBody>
          <a:bodyPr wrap="square" lIns="0" tIns="0" rIns="0" bIns="0" rtlCol="0" anchor="ctr"/>
          <a:lstStyle/>
          <a:p>
            <a:pPr indent="0" marL="0">
              <a:buNone/>
            </a:pPr>
            <a:r>
              <a:rPr lang="en-US" sz="1550" b="1" dirty="0">
                <a:solidFill>
                  <a:srgbClr val="1F2933"/>
                </a:solidFill>
                <a:latin typeface="Nunito" pitchFamily="34" charset="0"/>
                <a:ea typeface="Nunito" pitchFamily="34" charset="-122"/>
                <a:cs typeface="Nunito" pitchFamily="34" charset="-120"/>
              </a:rPr>
              <a:t>Presets, no math</a:t>
            </a:r>
            <a:endParaRPr lang="en-US" sz="1550" dirty="0"/>
          </a:p>
        </p:txBody>
      </p:sp>
      <p:sp>
        <p:nvSpPr>
          <p:cNvPr id="6" name="Text 4"/>
          <p:cNvSpPr/>
          <p:nvPr/>
        </p:nvSpPr>
        <p:spPr>
          <a:xfrm>
            <a:off x="932688" y="2103120"/>
            <a:ext cx="3822192" cy="64008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Sine, square, triangle, sawtooth, or a blood-pressure pulse: pick one and go.</a:t>
            </a:r>
            <a:endParaRPr lang="en-US" sz="1250" dirty="0"/>
          </a:p>
        </p:txBody>
      </p:sp>
      <p:sp>
        <p:nvSpPr>
          <p:cNvPr id="7" name="Shape 5"/>
          <p:cNvSpPr/>
          <p:nvPr/>
        </p:nvSpPr>
        <p:spPr>
          <a:xfrm>
            <a:off x="640080" y="2916936"/>
            <a:ext cx="128016" cy="128016"/>
          </a:xfrm>
          <a:prstGeom prst="ellipse">
            <a:avLst/>
          </a:prstGeom>
          <a:solidFill>
            <a:srgbClr val="2F6FE0"/>
          </a:solidFill>
          <a:ln/>
        </p:spPr>
      </p:sp>
      <p:sp>
        <p:nvSpPr>
          <p:cNvPr id="8" name="Text 6"/>
          <p:cNvSpPr/>
          <p:nvPr/>
        </p:nvSpPr>
        <p:spPr>
          <a:xfrm>
            <a:off x="932688" y="2807208"/>
            <a:ext cx="3822192" cy="320040"/>
          </a:xfrm>
          <a:prstGeom prst="rect">
            <a:avLst/>
          </a:prstGeom>
          <a:noFill/>
          <a:ln/>
        </p:spPr>
        <p:txBody>
          <a:bodyPr wrap="square" lIns="0" tIns="0" rIns="0" bIns="0" rtlCol="0" anchor="ctr"/>
          <a:lstStyle/>
          <a:p>
            <a:pPr indent="0" marL="0">
              <a:buNone/>
            </a:pPr>
            <a:r>
              <a:rPr lang="en-US" sz="1550" b="1" dirty="0">
                <a:solidFill>
                  <a:srgbClr val="1F2933"/>
                </a:solidFill>
                <a:latin typeface="Nunito" pitchFamily="34" charset="0"/>
                <a:ea typeface="Nunito" pitchFamily="34" charset="-122"/>
                <a:cs typeface="Nunito" pitchFamily="34" charset="-120"/>
              </a:rPr>
              <a:t>Tunable by slider</a:t>
            </a:r>
            <a:endParaRPr lang="en-US" sz="1550" dirty="0"/>
          </a:p>
        </p:txBody>
      </p:sp>
      <p:sp>
        <p:nvSpPr>
          <p:cNvPr id="9" name="Text 7"/>
          <p:cNvSpPr/>
          <p:nvPr/>
        </p:nvSpPr>
        <p:spPr>
          <a:xfrm>
            <a:off x="932688" y="3127248"/>
            <a:ext cx="3822192" cy="64008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Blood pressure adds heart rate, dicrotic notch depth, and upstroke sharpness; the sliders write the equation.</a:t>
            </a:r>
            <a:endParaRPr lang="en-US" sz="1250" dirty="0"/>
          </a:p>
        </p:txBody>
      </p:sp>
      <p:sp>
        <p:nvSpPr>
          <p:cNvPr id="10" name="Shape 8"/>
          <p:cNvSpPr/>
          <p:nvPr/>
        </p:nvSpPr>
        <p:spPr>
          <a:xfrm>
            <a:off x="640080" y="3941064"/>
            <a:ext cx="128016" cy="128016"/>
          </a:xfrm>
          <a:prstGeom prst="ellipse">
            <a:avLst/>
          </a:prstGeom>
          <a:solidFill>
            <a:srgbClr val="2F6FE0"/>
          </a:solidFill>
          <a:ln/>
        </p:spPr>
      </p:sp>
      <p:sp>
        <p:nvSpPr>
          <p:cNvPr id="11" name="Text 9"/>
          <p:cNvSpPr/>
          <p:nvPr/>
        </p:nvSpPr>
        <p:spPr>
          <a:xfrm>
            <a:off x="932688" y="3831336"/>
            <a:ext cx="3822192" cy="320040"/>
          </a:xfrm>
          <a:prstGeom prst="rect">
            <a:avLst/>
          </a:prstGeom>
          <a:noFill/>
          <a:ln/>
        </p:spPr>
        <p:txBody>
          <a:bodyPr wrap="square" lIns="0" tIns="0" rIns="0" bIns="0" rtlCol="0" anchor="ctr"/>
          <a:lstStyle/>
          <a:p>
            <a:pPr indent="0" marL="0">
              <a:buNone/>
            </a:pPr>
            <a:r>
              <a:rPr lang="en-US" sz="1550" b="1" dirty="0">
                <a:solidFill>
                  <a:srgbClr val="1F2933"/>
                </a:solidFill>
                <a:latin typeface="Nunito" pitchFamily="34" charset="0"/>
                <a:ea typeface="Nunito" pitchFamily="34" charset="-122"/>
                <a:cs typeface="Nunito" pitchFamily="34" charset="-120"/>
              </a:rPr>
              <a:t>Too-fast-to-track warning</a:t>
            </a:r>
            <a:endParaRPr lang="en-US" sz="1550" dirty="0"/>
          </a:p>
        </p:txBody>
      </p:sp>
      <p:sp>
        <p:nvSpPr>
          <p:cNvPr id="12" name="Text 10"/>
          <p:cNvSpPr/>
          <p:nvPr/>
        </p:nvSpPr>
        <p:spPr>
          <a:xfrm>
            <a:off x="932688" y="4151376"/>
            <a:ext cx="3822192" cy="64008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Flags any shape that changes force faster than the actuator can physically follow, before it runs.</a:t>
            </a:r>
            <a:endParaRPr lang="en-US" sz="1250" dirty="0"/>
          </a:p>
        </p:txBody>
      </p:sp>
      <p:sp>
        <p:nvSpPr>
          <p:cNvPr id="13" name="Shape 11"/>
          <p:cNvSpPr/>
          <p:nvPr/>
        </p:nvSpPr>
        <p:spPr>
          <a:xfrm>
            <a:off x="640080" y="4965192"/>
            <a:ext cx="128016" cy="128016"/>
          </a:xfrm>
          <a:prstGeom prst="ellipse">
            <a:avLst/>
          </a:prstGeom>
          <a:solidFill>
            <a:srgbClr val="2F6FE0"/>
          </a:solidFill>
          <a:ln/>
        </p:spPr>
      </p:sp>
      <p:sp>
        <p:nvSpPr>
          <p:cNvPr id="14" name="Text 12"/>
          <p:cNvSpPr/>
          <p:nvPr/>
        </p:nvSpPr>
        <p:spPr>
          <a:xfrm>
            <a:off x="932688" y="4855464"/>
            <a:ext cx="3822192" cy="320040"/>
          </a:xfrm>
          <a:prstGeom prst="rect">
            <a:avLst/>
          </a:prstGeom>
          <a:noFill/>
          <a:ln/>
        </p:spPr>
        <p:txBody>
          <a:bodyPr wrap="square" lIns="0" tIns="0" rIns="0" bIns="0" rtlCol="0" anchor="ctr"/>
          <a:lstStyle/>
          <a:p>
            <a:pPr indent="0" marL="0">
              <a:buNone/>
            </a:pPr>
            <a:r>
              <a:rPr lang="en-US" sz="1550" b="1" dirty="0">
                <a:solidFill>
                  <a:srgbClr val="1F2933"/>
                </a:solidFill>
                <a:latin typeface="Nunito" pitchFamily="34" charset="0"/>
                <a:ea typeface="Nunito" pitchFamily="34" charset="-122"/>
                <a:cs typeface="Nunito" pitchFamily="34" charset="-120"/>
              </a:rPr>
              <a:t>Custom equation escape hatch</a:t>
            </a:r>
            <a:endParaRPr lang="en-US" sz="1550" dirty="0"/>
          </a:p>
        </p:txBody>
      </p:sp>
      <p:sp>
        <p:nvSpPr>
          <p:cNvPr id="15" name="Text 13"/>
          <p:cNvSpPr/>
          <p:nvPr/>
        </p:nvSpPr>
        <p:spPr>
          <a:xfrm>
            <a:off x="932688" y="5175504"/>
            <a:ext cx="3822192" cy="64008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Power users type a safe expression; live preview and validation, auto-scaled into the bounds.</a:t>
            </a:r>
            <a:endParaRPr lang="en-US" sz="1250" dirty="0"/>
          </a:p>
        </p:txBody>
      </p:sp>
      <p:sp>
        <p:nvSpPr>
          <p:cNvPr id="16" name="Text 14"/>
          <p:cNvSpPr/>
          <p:nvPr/>
        </p:nvSpPr>
        <p:spPr>
          <a:xfrm>
            <a:off x="640080" y="5989320"/>
            <a:ext cx="4114800" cy="548640"/>
          </a:xfrm>
          <a:prstGeom prst="rect">
            <a:avLst/>
          </a:prstGeom>
          <a:noFill/>
          <a:ln/>
        </p:spPr>
        <p:txBody>
          <a:bodyPr wrap="square" lIns="0" tIns="0" rIns="0" bIns="0" rtlCol="0" anchor="ctr"/>
          <a:lstStyle/>
          <a:p>
            <a:pPr indent="0" marL="0">
              <a:lnSpc>
                <a:spcPct val="105000"/>
              </a:lnSpc>
              <a:buNone/>
            </a:pPr>
            <a:r>
              <a:rPr lang="en-US" sz="1150" i="1" dirty="0">
                <a:solidFill>
                  <a:srgbClr val="5B6770"/>
                </a:solidFill>
                <a:latin typeface="Nunito" pitchFamily="34" charset="0"/>
                <a:ea typeface="Nunito" pitchFamily="34" charset="-122"/>
                <a:cs typeface="Nunito" pitchFamily="34" charset="-120"/>
              </a:rPr>
              <a:t>Mockup, not yet wired into the app. The actuator speed limit is a placeholder until measured on the rig.</a:t>
            </a:r>
            <a:endParaRPr lang="en-US" sz="1150" dirty="0"/>
          </a:p>
        </p:txBody>
      </p:sp>
      <p:sp>
        <p:nvSpPr>
          <p:cNvPr id="17" name="Shape 15"/>
          <p:cNvSpPr/>
          <p:nvPr/>
        </p:nvSpPr>
        <p:spPr>
          <a:xfrm>
            <a:off x="5212080" y="1554480"/>
            <a:ext cx="5760720" cy="4455313"/>
          </a:xfrm>
          <a:prstGeom prst="rect">
            <a:avLst/>
          </a:prstGeom>
          <a:solidFill>
            <a:srgbClr val="FFFFFF"/>
          </a:solidFill>
          <a:ln w="9525">
            <a:solidFill>
              <a:srgbClr val="E3E7EB"/>
            </a:solidFill>
            <a:prstDash val="solid"/>
          </a:ln>
          <a:effectLst>
            <a:outerShdw sx="100000" sy="100000" kx="0" ky="0" algn="bl" rotWithShape="0" blurRad="152400" dist="50800" dir="5400000">
              <a:srgbClr val="000000">
                <a:alpha val="18000"/>
              </a:srgbClr>
            </a:outerShdw>
          </a:effectLst>
        </p:spPr>
      </p:sp>
      <p:pic>
        <p:nvPicPr>
          <p:cNvPr id="18" name="Image 0" descr="shot_builder.png">    </p:cNvPr>
          <p:cNvPicPr>
            <a:picLocks noChangeAspect="1"/>
          </p:cNvPicPr>
          <p:nvPr/>
        </p:nvPicPr>
        <p:blipFill>
          <a:blip r:embed="rId1"/>
          <a:stretch>
            <a:fillRect/>
          </a:stretch>
        </p:blipFill>
        <p:spPr>
          <a:xfrm>
            <a:off x="5212080" y="1554480"/>
            <a:ext cx="5760720" cy="44553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DEMO</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Manual testing window</a:t>
            </a:r>
            <a:endParaRPr lang="en-US" sz="3100" dirty="0"/>
          </a:p>
        </p:txBody>
      </p:sp>
      <p:sp>
        <p:nvSpPr>
          <p:cNvPr id="4" name="Shape 2"/>
          <p:cNvSpPr/>
          <p:nvPr/>
        </p:nvSpPr>
        <p:spPr>
          <a:xfrm>
            <a:off x="640080" y="1783080"/>
            <a:ext cx="5383713" cy="4160520"/>
          </a:xfrm>
          <a:prstGeom prst="rect">
            <a:avLst/>
          </a:prstGeom>
          <a:solidFill>
            <a:srgbClr val="FFFFFF"/>
          </a:solidFill>
          <a:ln w="9525">
            <a:solidFill>
              <a:srgbClr val="E3E7EB"/>
            </a:solidFill>
            <a:prstDash val="solid"/>
          </a:ln>
          <a:effectLst>
            <a:outerShdw sx="100000" sy="100000" kx="0" ky="0" algn="bl" rotWithShape="0" blurRad="152400" dist="50800" dir="5400000">
              <a:srgbClr val="000000">
                <a:alpha val="18000"/>
              </a:srgbClr>
            </a:outerShdw>
          </a:effectLst>
        </p:spPr>
      </p:sp>
      <p:pic>
        <p:nvPicPr>
          <p:cNvPr id="5" name="Image 0" descr="shot_manual.png">    </p:cNvPr>
          <p:cNvPicPr>
            <a:picLocks noChangeAspect="1"/>
          </p:cNvPicPr>
          <p:nvPr/>
        </p:nvPicPr>
        <p:blipFill>
          <a:blip r:embed="rId1"/>
          <a:stretch>
            <a:fillRect/>
          </a:stretch>
        </p:blipFill>
        <p:spPr>
          <a:xfrm>
            <a:off x="640080" y="1783080"/>
            <a:ext cx="5383713" cy="4160520"/>
          </a:xfrm>
          <a:prstGeom prst="rect">
            <a:avLst/>
          </a:prstGeom>
        </p:spPr>
      </p:pic>
      <p:sp>
        <p:nvSpPr>
          <p:cNvPr id="6" name="Shape 3"/>
          <p:cNvSpPr/>
          <p:nvPr/>
        </p:nvSpPr>
        <p:spPr>
          <a:xfrm>
            <a:off x="6480993" y="1938528"/>
            <a:ext cx="128016" cy="128016"/>
          </a:xfrm>
          <a:prstGeom prst="ellipse">
            <a:avLst/>
          </a:prstGeom>
          <a:solidFill>
            <a:srgbClr val="2E875B"/>
          </a:solidFill>
          <a:ln/>
        </p:spPr>
      </p:sp>
      <p:sp>
        <p:nvSpPr>
          <p:cNvPr id="7" name="Text 4"/>
          <p:cNvSpPr/>
          <p:nvPr/>
        </p:nvSpPr>
        <p:spPr>
          <a:xfrm>
            <a:off x="6773601" y="1828800"/>
            <a:ext cx="4775271" cy="320040"/>
          </a:xfrm>
          <a:prstGeom prst="rect">
            <a:avLst/>
          </a:prstGeom>
          <a:noFill/>
          <a:ln/>
        </p:spPr>
        <p:txBody>
          <a:bodyPr wrap="square" lIns="0" tIns="0" rIns="0" bIns="0" rtlCol="0" anchor="ctr"/>
          <a:lstStyle/>
          <a:p>
            <a:pPr indent="0" marL="0">
              <a:buNone/>
            </a:pPr>
            <a:r>
              <a:rPr lang="en-US" sz="1550" b="1" dirty="0">
                <a:solidFill>
                  <a:srgbClr val="1F2933"/>
                </a:solidFill>
                <a:latin typeface="Nunito" pitchFamily="34" charset="0"/>
                <a:ea typeface="Nunito" pitchFamily="34" charset="-122"/>
                <a:cs typeface="Nunito" pitchFamily="34" charset="-120"/>
              </a:rPr>
              <a:t>Distance or force control</a:t>
            </a:r>
            <a:endParaRPr lang="en-US" sz="1550" dirty="0"/>
          </a:p>
        </p:txBody>
      </p:sp>
      <p:sp>
        <p:nvSpPr>
          <p:cNvPr id="8" name="Text 5"/>
          <p:cNvSpPr/>
          <p:nvPr/>
        </p:nvSpPr>
        <p:spPr>
          <a:xfrm>
            <a:off x="6773601" y="2148840"/>
            <a:ext cx="4775271" cy="59436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Jog by a set distance, or drive until the load cell reads a target force.</a:t>
            </a:r>
            <a:endParaRPr lang="en-US" sz="1250" dirty="0"/>
          </a:p>
        </p:txBody>
      </p:sp>
      <p:sp>
        <p:nvSpPr>
          <p:cNvPr id="9" name="Shape 6"/>
          <p:cNvSpPr/>
          <p:nvPr/>
        </p:nvSpPr>
        <p:spPr>
          <a:xfrm>
            <a:off x="6480993" y="2962656"/>
            <a:ext cx="128016" cy="128016"/>
          </a:xfrm>
          <a:prstGeom prst="ellipse">
            <a:avLst/>
          </a:prstGeom>
          <a:solidFill>
            <a:srgbClr val="2E875B"/>
          </a:solidFill>
          <a:ln/>
        </p:spPr>
      </p:sp>
      <p:sp>
        <p:nvSpPr>
          <p:cNvPr id="10" name="Text 7"/>
          <p:cNvSpPr/>
          <p:nvPr/>
        </p:nvSpPr>
        <p:spPr>
          <a:xfrm>
            <a:off x="6773601" y="2852928"/>
            <a:ext cx="4775271" cy="320040"/>
          </a:xfrm>
          <a:prstGeom prst="rect">
            <a:avLst/>
          </a:prstGeom>
          <a:noFill/>
          <a:ln/>
        </p:spPr>
        <p:txBody>
          <a:bodyPr wrap="square" lIns="0" tIns="0" rIns="0" bIns="0" rtlCol="0" anchor="ctr"/>
          <a:lstStyle/>
          <a:p>
            <a:pPr indent="0" marL="0">
              <a:buNone/>
            </a:pPr>
            <a:r>
              <a:rPr lang="en-US" sz="1550" b="1" dirty="0">
                <a:solidFill>
                  <a:srgbClr val="1F2933"/>
                </a:solidFill>
                <a:latin typeface="Nunito" pitchFamily="34" charset="0"/>
                <a:ea typeface="Nunito" pitchFamily="34" charset="-122"/>
                <a:cs typeface="Nunito" pitchFamily="34" charset="-120"/>
              </a:rPr>
              <a:t>Compress and decompress</a:t>
            </a:r>
            <a:endParaRPr lang="en-US" sz="1550" dirty="0"/>
          </a:p>
        </p:txBody>
      </p:sp>
      <p:sp>
        <p:nvSpPr>
          <p:cNvPr id="11" name="Text 8"/>
          <p:cNvSpPr/>
          <p:nvPr/>
        </p:nvSpPr>
        <p:spPr>
          <a:xfrm>
            <a:off x="6773601" y="3172968"/>
            <a:ext cx="4775271" cy="59436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Closed-loop in both directions - press to a force, then release back to one.</a:t>
            </a:r>
            <a:endParaRPr lang="en-US" sz="1250" dirty="0"/>
          </a:p>
        </p:txBody>
      </p:sp>
      <p:sp>
        <p:nvSpPr>
          <p:cNvPr id="12" name="Shape 9"/>
          <p:cNvSpPr/>
          <p:nvPr/>
        </p:nvSpPr>
        <p:spPr>
          <a:xfrm>
            <a:off x="6480993" y="3986784"/>
            <a:ext cx="128016" cy="128016"/>
          </a:xfrm>
          <a:prstGeom prst="ellipse">
            <a:avLst/>
          </a:prstGeom>
          <a:solidFill>
            <a:srgbClr val="2E875B"/>
          </a:solidFill>
          <a:ln/>
        </p:spPr>
      </p:sp>
      <p:sp>
        <p:nvSpPr>
          <p:cNvPr id="13" name="Text 10"/>
          <p:cNvSpPr/>
          <p:nvPr/>
        </p:nvSpPr>
        <p:spPr>
          <a:xfrm>
            <a:off x="6773601" y="3877056"/>
            <a:ext cx="4775271" cy="320040"/>
          </a:xfrm>
          <a:prstGeom prst="rect">
            <a:avLst/>
          </a:prstGeom>
          <a:noFill/>
          <a:ln/>
        </p:spPr>
        <p:txBody>
          <a:bodyPr wrap="square" lIns="0" tIns="0" rIns="0" bIns="0" rtlCol="0" anchor="ctr"/>
          <a:lstStyle/>
          <a:p>
            <a:pPr indent="0" marL="0">
              <a:buNone/>
            </a:pPr>
            <a:r>
              <a:rPr lang="en-US" sz="1550" b="1" dirty="0">
                <a:solidFill>
                  <a:srgbClr val="1F2933"/>
                </a:solidFill>
                <a:latin typeface="Nunito" pitchFamily="34" charset="0"/>
                <a:ea typeface="Nunito" pitchFamily="34" charset="-122"/>
                <a:cs typeface="Nunito" pitchFamily="34" charset="-120"/>
              </a:rPr>
              <a:t>Continuous force recording</a:t>
            </a:r>
            <a:endParaRPr lang="en-US" sz="1550" dirty="0"/>
          </a:p>
        </p:txBody>
      </p:sp>
      <p:sp>
        <p:nvSpPr>
          <p:cNvPr id="14" name="Text 11"/>
          <p:cNvSpPr/>
          <p:nvPr/>
        </p:nvSpPr>
        <p:spPr>
          <a:xfrm>
            <a:off x="6773601" y="4197096"/>
            <a:ext cx="4775271" cy="59436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Force vs time records from the moment the window opens.</a:t>
            </a:r>
            <a:endParaRPr lang="en-US" sz="1250" dirty="0"/>
          </a:p>
        </p:txBody>
      </p:sp>
      <p:sp>
        <p:nvSpPr>
          <p:cNvPr id="15" name="Shape 12"/>
          <p:cNvSpPr/>
          <p:nvPr/>
        </p:nvSpPr>
        <p:spPr>
          <a:xfrm>
            <a:off x="6480993" y="5010912"/>
            <a:ext cx="128016" cy="128016"/>
          </a:xfrm>
          <a:prstGeom prst="ellipse">
            <a:avLst/>
          </a:prstGeom>
          <a:solidFill>
            <a:srgbClr val="2E875B"/>
          </a:solidFill>
          <a:ln/>
        </p:spPr>
      </p:sp>
      <p:sp>
        <p:nvSpPr>
          <p:cNvPr id="16" name="Text 13"/>
          <p:cNvSpPr/>
          <p:nvPr/>
        </p:nvSpPr>
        <p:spPr>
          <a:xfrm>
            <a:off x="6773601" y="4901184"/>
            <a:ext cx="4775271" cy="320040"/>
          </a:xfrm>
          <a:prstGeom prst="rect">
            <a:avLst/>
          </a:prstGeom>
          <a:noFill/>
          <a:ln/>
        </p:spPr>
        <p:txBody>
          <a:bodyPr wrap="square" lIns="0" tIns="0" rIns="0" bIns="0" rtlCol="0" anchor="ctr"/>
          <a:lstStyle/>
          <a:p>
            <a:pPr indent="0" marL="0">
              <a:buNone/>
            </a:pPr>
            <a:r>
              <a:rPr lang="en-US" sz="1550" b="1" dirty="0">
                <a:solidFill>
                  <a:srgbClr val="1F2933"/>
                </a:solidFill>
                <a:latin typeface="Nunito" pitchFamily="34" charset="0"/>
                <a:ea typeface="Nunito" pitchFamily="34" charset="-122"/>
                <a:cs typeface="Nunito" pitchFamily="34" charset="-120"/>
              </a:rPr>
              <a:t>Editable while moving</a:t>
            </a:r>
            <a:endParaRPr lang="en-US" sz="1550" dirty="0"/>
          </a:p>
        </p:txBody>
      </p:sp>
      <p:sp>
        <p:nvSpPr>
          <p:cNvPr id="17" name="Text 14"/>
          <p:cNvSpPr/>
          <p:nvPr/>
        </p:nvSpPr>
        <p:spPr>
          <a:xfrm>
            <a:off x="6773601" y="5221224"/>
            <a:ext cx="4775271" cy="59436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Graph controls stay live mid-move; motion controls lock for safety.</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DEMO</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EM test &amp; run management</a:t>
            </a:r>
            <a:endParaRPr lang="en-US" sz="3100" dirty="0"/>
          </a:p>
        </p:txBody>
      </p:sp>
      <p:sp>
        <p:nvSpPr>
          <p:cNvPr id="4" name="Shape 2"/>
          <p:cNvSpPr/>
          <p:nvPr/>
        </p:nvSpPr>
        <p:spPr>
          <a:xfrm>
            <a:off x="640080" y="1892808"/>
            <a:ext cx="128016" cy="128016"/>
          </a:xfrm>
          <a:prstGeom prst="ellipse">
            <a:avLst/>
          </a:prstGeom>
          <a:solidFill>
            <a:srgbClr val="2F6FE0"/>
          </a:solidFill>
          <a:ln/>
        </p:spPr>
      </p:sp>
      <p:sp>
        <p:nvSpPr>
          <p:cNvPr id="5" name="Text 3"/>
          <p:cNvSpPr/>
          <p:nvPr/>
        </p:nvSpPr>
        <p:spPr>
          <a:xfrm>
            <a:off x="932688" y="1783080"/>
            <a:ext cx="3822192" cy="320040"/>
          </a:xfrm>
          <a:prstGeom prst="rect">
            <a:avLst/>
          </a:prstGeom>
          <a:noFill/>
          <a:ln/>
        </p:spPr>
        <p:txBody>
          <a:bodyPr wrap="square" lIns="0" tIns="0" rIns="0" bIns="0" rtlCol="0" anchor="ctr"/>
          <a:lstStyle/>
          <a:p>
            <a:pPr indent="0" marL="0">
              <a:buNone/>
            </a:pPr>
            <a:r>
              <a:rPr lang="en-US" sz="1550" b="1" dirty="0">
                <a:solidFill>
                  <a:srgbClr val="1F2933"/>
                </a:solidFill>
                <a:latin typeface="Nunito" pitchFamily="34" charset="0"/>
                <a:ea typeface="Nunito" pitchFamily="34" charset="-122"/>
                <a:cs typeface="Nunito" pitchFamily="34" charset="-120"/>
              </a:rPr>
              <a:t>Live state machine</a:t>
            </a:r>
            <a:endParaRPr lang="en-US" sz="1550" dirty="0"/>
          </a:p>
        </p:txBody>
      </p:sp>
      <p:sp>
        <p:nvSpPr>
          <p:cNvPr id="6" name="Text 4"/>
          <p:cNvSpPr/>
          <p:nvPr/>
        </p:nvSpPr>
        <p:spPr>
          <a:xfrm>
            <a:off x="932688" y="2103120"/>
            <a:ext cx="3822192" cy="59436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Every run moves through a strict set of states, each one timestamped in the status log.</a:t>
            </a:r>
            <a:endParaRPr lang="en-US" sz="1250" dirty="0"/>
          </a:p>
        </p:txBody>
      </p:sp>
      <p:sp>
        <p:nvSpPr>
          <p:cNvPr id="7" name="Shape 5"/>
          <p:cNvSpPr/>
          <p:nvPr/>
        </p:nvSpPr>
        <p:spPr>
          <a:xfrm>
            <a:off x="640080" y="2916936"/>
            <a:ext cx="128016" cy="128016"/>
          </a:xfrm>
          <a:prstGeom prst="ellipse">
            <a:avLst/>
          </a:prstGeom>
          <a:solidFill>
            <a:srgbClr val="2F6FE0"/>
          </a:solidFill>
          <a:ln/>
        </p:spPr>
      </p:sp>
      <p:sp>
        <p:nvSpPr>
          <p:cNvPr id="8" name="Text 6"/>
          <p:cNvSpPr/>
          <p:nvPr/>
        </p:nvSpPr>
        <p:spPr>
          <a:xfrm>
            <a:off x="932688" y="2807208"/>
            <a:ext cx="3822192" cy="320040"/>
          </a:xfrm>
          <a:prstGeom prst="rect">
            <a:avLst/>
          </a:prstGeom>
          <a:noFill/>
          <a:ln/>
        </p:spPr>
        <p:txBody>
          <a:bodyPr wrap="square" lIns="0" tIns="0" rIns="0" bIns="0" rtlCol="0" anchor="ctr"/>
          <a:lstStyle/>
          <a:p>
            <a:pPr indent="0" marL="0">
              <a:buNone/>
            </a:pPr>
            <a:r>
              <a:rPr lang="en-US" sz="1550" b="1" dirty="0">
                <a:solidFill>
                  <a:srgbClr val="1F2933"/>
                </a:solidFill>
                <a:latin typeface="Nunito" pitchFamily="34" charset="0"/>
                <a:ea typeface="Nunito" pitchFamily="34" charset="-122"/>
                <a:cs typeface="Nunito" pitchFamily="34" charset="-120"/>
              </a:rPr>
              <a:t>Automated multi-run</a:t>
            </a:r>
            <a:endParaRPr lang="en-US" sz="1550" dirty="0"/>
          </a:p>
        </p:txBody>
      </p:sp>
      <p:sp>
        <p:nvSpPr>
          <p:cNvPr id="9" name="Text 7"/>
          <p:cNvSpPr/>
          <p:nvPr/>
        </p:nvSpPr>
        <p:spPr>
          <a:xfrm>
            <a:off x="932688" y="3127248"/>
            <a:ext cx="3822192" cy="59436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Runs the configured presses back to back, auto-pausing so the sensor can be reset.</a:t>
            </a:r>
            <a:endParaRPr lang="en-US" sz="1250" dirty="0"/>
          </a:p>
        </p:txBody>
      </p:sp>
      <p:sp>
        <p:nvSpPr>
          <p:cNvPr id="10" name="Shape 8"/>
          <p:cNvSpPr/>
          <p:nvPr/>
        </p:nvSpPr>
        <p:spPr>
          <a:xfrm>
            <a:off x="640080" y="3941064"/>
            <a:ext cx="128016" cy="128016"/>
          </a:xfrm>
          <a:prstGeom prst="ellipse">
            <a:avLst/>
          </a:prstGeom>
          <a:solidFill>
            <a:srgbClr val="2F6FE0"/>
          </a:solidFill>
          <a:ln/>
        </p:spPr>
      </p:sp>
      <p:sp>
        <p:nvSpPr>
          <p:cNvPr id="11" name="Text 9"/>
          <p:cNvSpPr/>
          <p:nvPr/>
        </p:nvSpPr>
        <p:spPr>
          <a:xfrm>
            <a:off x="932688" y="3831336"/>
            <a:ext cx="3822192" cy="320040"/>
          </a:xfrm>
          <a:prstGeom prst="rect">
            <a:avLst/>
          </a:prstGeom>
          <a:noFill/>
          <a:ln/>
        </p:spPr>
        <p:txBody>
          <a:bodyPr wrap="square" lIns="0" tIns="0" rIns="0" bIns="0" rtlCol="0" anchor="ctr"/>
          <a:lstStyle/>
          <a:p>
            <a:pPr indent="0" marL="0">
              <a:buNone/>
            </a:pPr>
            <a:r>
              <a:rPr lang="en-US" sz="1550" b="1" dirty="0">
                <a:solidFill>
                  <a:srgbClr val="1F2933"/>
                </a:solidFill>
                <a:latin typeface="Nunito" pitchFamily="34" charset="0"/>
                <a:ea typeface="Nunito" pitchFamily="34" charset="-122"/>
                <a:cs typeface="Nunito" pitchFamily="34" charset="-120"/>
              </a:rPr>
              <a:t>Redo without data loss</a:t>
            </a:r>
            <a:endParaRPr lang="en-US" sz="1550" dirty="0"/>
          </a:p>
        </p:txBody>
      </p:sp>
      <p:sp>
        <p:nvSpPr>
          <p:cNvPr id="12" name="Text 10"/>
          <p:cNvSpPr/>
          <p:nvPr/>
        </p:nvSpPr>
        <p:spPr>
          <a:xfrm>
            <a:off x="932688" y="4151376"/>
            <a:ext cx="3822192" cy="59436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A redo creates a new superseding run - the original is never overwritten or deleted.</a:t>
            </a:r>
            <a:endParaRPr lang="en-US" sz="1250" dirty="0"/>
          </a:p>
        </p:txBody>
      </p:sp>
      <p:sp>
        <p:nvSpPr>
          <p:cNvPr id="13" name="Shape 11"/>
          <p:cNvSpPr/>
          <p:nvPr/>
        </p:nvSpPr>
        <p:spPr>
          <a:xfrm>
            <a:off x="640080" y="4965192"/>
            <a:ext cx="128016" cy="128016"/>
          </a:xfrm>
          <a:prstGeom prst="ellipse">
            <a:avLst/>
          </a:prstGeom>
          <a:solidFill>
            <a:srgbClr val="2F6FE0"/>
          </a:solidFill>
          <a:ln/>
        </p:spPr>
      </p:sp>
      <p:sp>
        <p:nvSpPr>
          <p:cNvPr id="14" name="Text 12"/>
          <p:cNvSpPr/>
          <p:nvPr/>
        </p:nvSpPr>
        <p:spPr>
          <a:xfrm>
            <a:off x="932688" y="4855464"/>
            <a:ext cx="3822192" cy="320040"/>
          </a:xfrm>
          <a:prstGeom prst="rect">
            <a:avLst/>
          </a:prstGeom>
          <a:noFill/>
          <a:ln/>
        </p:spPr>
        <p:txBody>
          <a:bodyPr wrap="square" lIns="0" tIns="0" rIns="0" bIns="0" rtlCol="0" anchor="ctr"/>
          <a:lstStyle/>
          <a:p>
            <a:pPr indent="0" marL="0">
              <a:buNone/>
            </a:pPr>
            <a:r>
              <a:rPr lang="en-US" sz="1550" b="1" dirty="0">
                <a:solidFill>
                  <a:srgbClr val="1F2933"/>
                </a:solidFill>
                <a:latin typeface="Nunito" pitchFamily="34" charset="0"/>
                <a:ea typeface="Nunito" pitchFamily="34" charset="-122"/>
                <a:cs typeface="Nunito" pitchFamily="34" charset="-120"/>
              </a:rPr>
              <a:t>Homes first, every time</a:t>
            </a:r>
            <a:endParaRPr lang="en-US" sz="1550" dirty="0"/>
          </a:p>
        </p:txBody>
      </p:sp>
      <p:sp>
        <p:nvSpPr>
          <p:cNvPr id="15" name="Text 13"/>
          <p:cNvSpPr/>
          <p:nvPr/>
        </p:nvSpPr>
        <p:spPr>
          <a:xfrm>
            <a:off x="932688" y="5175504"/>
            <a:ext cx="3822192" cy="594360"/>
          </a:xfrm>
          <a:prstGeom prst="rect">
            <a:avLst/>
          </a:prstGeom>
          <a:noFill/>
          <a:ln/>
        </p:spPr>
        <p:txBody>
          <a:bodyPr wrap="square" lIns="0" tIns="0" rIns="0" bIns="0" rtlCol="0" anchor="ctr"/>
          <a:lstStyle/>
          <a:p>
            <a:pPr indent="0" marL="0">
              <a:lnSpc>
                <a:spcPct val="105000"/>
              </a:lnSpc>
              <a:buNone/>
            </a:pPr>
            <a:r>
              <a:rPr lang="en-US" sz="1250" dirty="0">
                <a:solidFill>
                  <a:srgbClr val="5B6770"/>
                </a:solidFill>
                <a:latin typeface="Nunito" pitchFamily="34" charset="0"/>
                <a:ea typeface="Nunito" pitchFamily="34" charset="-122"/>
                <a:cs typeface="Nunito" pitchFamily="34" charset="-120"/>
              </a:rPr>
              <a:t>Drives to the true baseline before pressing, never starting from an unknown spot.</a:t>
            </a:r>
            <a:endParaRPr lang="en-US" sz="1250" dirty="0"/>
          </a:p>
        </p:txBody>
      </p:sp>
      <p:sp>
        <p:nvSpPr>
          <p:cNvPr id="16" name="Shape 14"/>
          <p:cNvSpPr/>
          <p:nvPr/>
        </p:nvSpPr>
        <p:spPr>
          <a:xfrm>
            <a:off x="5212080" y="2331720"/>
            <a:ext cx="6492240" cy="3477365"/>
          </a:xfrm>
          <a:prstGeom prst="rect">
            <a:avLst/>
          </a:prstGeom>
          <a:solidFill>
            <a:srgbClr val="FFFFFF"/>
          </a:solidFill>
          <a:ln w="9525">
            <a:solidFill>
              <a:srgbClr val="E3E7EB"/>
            </a:solidFill>
            <a:prstDash val="solid"/>
          </a:ln>
          <a:effectLst>
            <a:outerShdw sx="100000" sy="100000" kx="0" ky="0" algn="bl" rotWithShape="0" blurRad="152400" dist="50800" dir="5400000">
              <a:srgbClr val="000000">
                <a:alpha val="18000"/>
              </a:srgbClr>
            </a:outerShdw>
          </a:effectLst>
        </p:spPr>
      </p:sp>
      <p:pic>
        <p:nvPicPr>
          <p:cNvPr id="17" name="Image 0" descr="shot_em.png">    </p:cNvPr>
          <p:cNvPicPr>
            <a:picLocks noChangeAspect="1"/>
          </p:cNvPicPr>
          <p:nvPr/>
        </p:nvPicPr>
        <p:blipFill>
          <a:blip r:embed="rId1"/>
          <a:stretch>
            <a:fillRect/>
          </a:stretch>
        </p:blipFill>
        <p:spPr>
          <a:xfrm>
            <a:off x="5212080" y="2331720"/>
            <a:ext cx="6492240" cy="34773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DETAIL</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Calibration &amp; Fuji film</a:t>
            </a:r>
            <a:endParaRPr lang="en-US" sz="3100" dirty="0"/>
          </a:p>
        </p:txBody>
      </p:sp>
      <p:sp>
        <p:nvSpPr>
          <p:cNvPr id="4" name="Shape 2"/>
          <p:cNvSpPr/>
          <p:nvPr/>
        </p:nvSpPr>
        <p:spPr>
          <a:xfrm>
            <a:off x="640080" y="1783080"/>
            <a:ext cx="10908792" cy="1078992"/>
          </a:xfrm>
          <a:prstGeom prst="roundRect">
            <a:avLst>
              <a:gd name="adj" fmla="val 5085"/>
            </a:avLst>
          </a:prstGeom>
          <a:solidFill>
            <a:srgbClr val="F4F6F8"/>
          </a:solidFill>
          <a:ln/>
          <a:effectLst>
            <a:outerShdw sx="100000" sy="100000" kx="0" ky="0" algn="bl" rotWithShape="0" blurRad="101600" dist="38100" dir="5400000">
              <a:srgbClr val="000000">
                <a:alpha val="10000"/>
              </a:srgbClr>
            </a:outerShdw>
          </a:effectLst>
        </p:spPr>
      </p:sp>
      <p:sp>
        <p:nvSpPr>
          <p:cNvPr id="5" name="Shape 3"/>
          <p:cNvSpPr/>
          <p:nvPr/>
        </p:nvSpPr>
        <p:spPr>
          <a:xfrm>
            <a:off x="914400" y="2093976"/>
            <a:ext cx="457200" cy="457200"/>
          </a:xfrm>
          <a:prstGeom prst="ellipse">
            <a:avLst/>
          </a:prstGeom>
          <a:solidFill>
            <a:srgbClr val="2E875B"/>
          </a:solidFill>
          <a:ln/>
        </p:spPr>
      </p:sp>
      <p:sp>
        <p:nvSpPr>
          <p:cNvPr id="6" name="Text 4"/>
          <p:cNvSpPr/>
          <p:nvPr/>
        </p:nvSpPr>
        <p:spPr>
          <a:xfrm>
            <a:off x="914400" y="209397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Nunito" pitchFamily="34" charset="0"/>
                <a:ea typeface="Nunito" pitchFamily="34" charset="-122"/>
                <a:cs typeface="Nunito" pitchFamily="34" charset="-120"/>
              </a:rPr>
              <a:t>1</a:t>
            </a:r>
            <a:endParaRPr lang="en-US" sz="1200" dirty="0"/>
          </a:p>
        </p:txBody>
      </p:sp>
      <p:sp>
        <p:nvSpPr>
          <p:cNvPr id="7" name="Text 5"/>
          <p:cNvSpPr/>
          <p:nvPr/>
        </p:nvSpPr>
        <p:spPr>
          <a:xfrm>
            <a:off x="1600200" y="1965960"/>
            <a:ext cx="9720072" cy="365760"/>
          </a:xfrm>
          <a:prstGeom prst="rect">
            <a:avLst/>
          </a:prstGeom>
          <a:noFill/>
          <a:ln/>
        </p:spPr>
        <p:txBody>
          <a:bodyPr wrap="square" lIns="0" tIns="0" rIns="0" bIns="0" rtlCol="0" anchor="ctr"/>
          <a:lstStyle/>
          <a:p>
            <a:pPr indent="0" marL="0">
              <a:buNone/>
            </a:pPr>
            <a:r>
              <a:rPr lang="en-US" sz="1600" b="1" dirty="0">
                <a:solidFill>
                  <a:srgbClr val="1F2933"/>
                </a:solidFill>
                <a:latin typeface="Nunito" pitchFamily="34" charset="0"/>
                <a:ea typeface="Nunito" pitchFamily="34" charset="-122"/>
                <a:cs typeface="Nunito" pitchFamily="34" charset="-120"/>
              </a:rPr>
              <a:t>Operator-set extrusion distance</a:t>
            </a:r>
            <a:endParaRPr lang="en-US" sz="1600" dirty="0"/>
          </a:p>
        </p:txBody>
      </p:sp>
      <p:sp>
        <p:nvSpPr>
          <p:cNvPr id="8" name="Text 6"/>
          <p:cNvSpPr/>
          <p:nvPr/>
        </p:nvSpPr>
        <p:spPr>
          <a:xfrm>
            <a:off x="1600200" y="2313432"/>
            <a:ext cx="9674352" cy="457200"/>
          </a:xfrm>
          <a:prstGeom prst="rect">
            <a:avLst/>
          </a:prstGeom>
          <a:noFill/>
          <a:ln/>
        </p:spPr>
        <p:txBody>
          <a:bodyPr wrap="square" lIns="0" tIns="0" rIns="0" bIns="0" rtlCol="0" anchor="ctr"/>
          <a:lstStyle/>
          <a:p>
            <a:pPr indent="0" marL="0">
              <a:lnSpc>
                <a:spcPct val="103000"/>
              </a:lnSpc>
              <a:buNone/>
            </a:pPr>
            <a:r>
              <a:rPr lang="en-US" sz="1250" dirty="0">
                <a:solidFill>
                  <a:srgbClr val="5B6770"/>
                </a:solidFill>
                <a:latin typeface="Nunito" pitchFamily="34" charset="0"/>
                <a:ea typeface="Nunito" pitchFamily="34" charset="-122"/>
                <a:cs typeface="Nunito" pitchFamily="34" charset="-120"/>
              </a:rPr>
              <a:t>A new field controls how far the actuator extrudes for the Fuji-film press, capped at 12 mm and remembering the last value used.</a:t>
            </a:r>
            <a:endParaRPr lang="en-US" sz="1250" dirty="0"/>
          </a:p>
        </p:txBody>
      </p:sp>
      <p:sp>
        <p:nvSpPr>
          <p:cNvPr id="9" name="Shape 7"/>
          <p:cNvSpPr/>
          <p:nvPr/>
        </p:nvSpPr>
        <p:spPr>
          <a:xfrm>
            <a:off x="640080" y="3063240"/>
            <a:ext cx="10908792" cy="1078992"/>
          </a:xfrm>
          <a:prstGeom prst="roundRect">
            <a:avLst>
              <a:gd name="adj" fmla="val 5085"/>
            </a:avLst>
          </a:prstGeom>
          <a:solidFill>
            <a:srgbClr val="F4F6F8"/>
          </a:solidFill>
          <a:ln/>
          <a:effectLst>
            <a:outerShdw sx="100000" sy="100000" kx="0" ky="0" algn="bl" rotWithShape="0" blurRad="101600" dist="38100" dir="5400000">
              <a:srgbClr val="000000">
                <a:alpha val="10000"/>
              </a:srgbClr>
            </a:outerShdw>
          </a:effectLst>
        </p:spPr>
      </p:sp>
      <p:sp>
        <p:nvSpPr>
          <p:cNvPr id="10" name="Shape 8"/>
          <p:cNvSpPr/>
          <p:nvPr/>
        </p:nvSpPr>
        <p:spPr>
          <a:xfrm>
            <a:off x="914400" y="3374136"/>
            <a:ext cx="457200" cy="457200"/>
          </a:xfrm>
          <a:prstGeom prst="ellipse">
            <a:avLst/>
          </a:prstGeom>
          <a:solidFill>
            <a:srgbClr val="2E875B"/>
          </a:solidFill>
          <a:ln/>
        </p:spPr>
      </p:sp>
      <p:sp>
        <p:nvSpPr>
          <p:cNvPr id="11" name="Text 9"/>
          <p:cNvSpPr/>
          <p:nvPr/>
        </p:nvSpPr>
        <p:spPr>
          <a:xfrm>
            <a:off x="914400" y="33741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Nunito" pitchFamily="34" charset="0"/>
                <a:ea typeface="Nunito" pitchFamily="34" charset="-122"/>
                <a:cs typeface="Nunito" pitchFamily="34" charset="-120"/>
              </a:rPr>
              <a:t>2</a:t>
            </a:r>
            <a:endParaRPr lang="en-US" sz="1200" dirty="0"/>
          </a:p>
        </p:txBody>
      </p:sp>
      <p:sp>
        <p:nvSpPr>
          <p:cNvPr id="12" name="Text 10"/>
          <p:cNvSpPr/>
          <p:nvPr/>
        </p:nvSpPr>
        <p:spPr>
          <a:xfrm>
            <a:off x="1600200" y="3246120"/>
            <a:ext cx="9720072" cy="365760"/>
          </a:xfrm>
          <a:prstGeom prst="rect">
            <a:avLst/>
          </a:prstGeom>
          <a:noFill/>
          <a:ln/>
        </p:spPr>
        <p:txBody>
          <a:bodyPr wrap="square" lIns="0" tIns="0" rIns="0" bIns="0" rtlCol="0" anchor="ctr"/>
          <a:lstStyle/>
          <a:p>
            <a:pPr indent="0" marL="0">
              <a:buNone/>
            </a:pPr>
            <a:r>
              <a:rPr lang="en-US" sz="1600" b="1" dirty="0">
                <a:solidFill>
                  <a:srgbClr val="1F2933"/>
                </a:solidFill>
                <a:latin typeface="Nunito" pitchFamily="34" charset="0"/>
                <a:ea typeface="Nunito" pitchFamily="34" charset="-122"/>
                <a:cs typeface="Nunito" pitchFamily="34" charset="-120"/>
              </a:rPr>
              <a:t>Fine manual jog</a:t>
            </a:r>
            <a:endParaRPr lang="en-US" sz="1600" dirty="0"/>
          </a:p>
        </p:txBody>
      </p:sp>
      <p:sp>
        <p:nvSpPr>
          <p:cNvPr id="13" name="Text 11"/>
          <p:cNvSpPr/>
          <p:nvPr/>
        </p:nvSpPr>
        <p:spPr>
          <a:xfrm>
            <a:off x="1600200" y="3593592"/>
            <a:ext cx="9674352" cy="457200"/>
          </a:xfrm>
          <a:prstGeom prst="rect">
            <a:avLst/>
          </a:prstGeom>
          <a:noFill/>
          <a:ln/>
        </p:spPr>
        <p:txBody>
          <a:bodyPr wrap="square" lIns="0" tIns="0" rIns="0" bIns="0" rtlCol="0" anchor="ctr"/>
          <a:lstStyle/>
          <a:p>
            <a:pPr indent="0" marL="0">
              <a:lnSpc>
                <a:spcPct val="103000"/>
              </a:lnSpc>
              <a:buNone/>
            </a:pPr>
            <a:r>
              <a:rPr lang="en-US" sz="1250" dirty="0">
                <a:solidFill>
                  <a:srgbClr val="5B6770"/>
                </a:solidFill>
                <a:latin typeface="Nunito" pitchFamily="34" charset="0"/>
                <a:ea typeface="Nunito" pitchFamily="34" charset="-122"/>
                <a:cs typeface="Nunito" pitchFamily="34" charset="-120"/>
              </a:rPr>
              <a:t>Step the actuator in small increments to fine-tune position before a calibration press.</a:t>
            </a:r>
            <a:endParaRPr lang="en-US" sz="1250" dirty="0"/>
          </a:p>
        </p:txBody>
      </p:sp>
      <p:sp>
        <p:nvSpPr>
          <p:cNvPr id="14" name="Shape 12"/>
          <p:cNvSpPr/>
          <p:nvPr/>
        </p:nvSpPr>
        <p:spPr>
          <a:xfrm>
            <a:off x="640080" y="4343400"/>
            <a:ext cx="10908792" cy="1078992"/>
          </a:xfrm>
          <a:prstGeom prst="roundRect">
            <a:avLst>
              <a:gd name="adj" fmla="val 5085"/>
            </a:avLst>
          </a:prstGeom>
          <a:solidFill>
            <a:srgbClr val="F4F6F8"/>
          </a:solidFill>
          <a:ln/>
          <a:effectLst>
            <a:outerShdw sx="100000" sy="100000" kx="0" ky="0" algn="bl" rotWithShape="0" blurRad="101600" dist="38100" dir="5400000">
              <a:srgbClr val="000000">
                <a:alpha val="10000"/>
              </a:srgbClr>
            </a:outerShdw>
          </a:effectLst>
        </p:spPr>
      </p:sp>
      <p:sp>
        <p:nvSpPr>
          <p:cNvPr id="15" name="Shape 13"/>
          <p:cNvSpPr/>
          <p:nvPr/>
        </p:nvSpPr>
        <p:spPr>
          <a:xfrm>
            <a:off x="914400" y="4654296"/>
            <a:ext cx="457200" cy="457200"/>
          </a:xfrm>
          <a:prstGeom prst="ellipse">
            <a:avLst/>
          </a:prstGeom>
          <a:solidFill>
            <a:srgbClr val="2E875B"/>
          </a:solidFill>
          <a:ln/>
        </p:spPr>
      </p:sp>
      <p:sp>
        <p:nvSpPr>
          <p:cNvPr id="16" name="Text 14"/>
          <p:cNvSpPr/>
          <p:nvPr/>
        </p:nvSpPr>
        <p:spPr>
          <a:xfrm>
            <a:off x="914400" y="465429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Nunito" pitchFamily="34" charset="0"/>
                <a:ea typeface="Nunito" pitchFamily="34" charset="-122"/>
                <a:cs typeface="Nunito" pitchFamily="34" charset="-120"/>
              </a:rPr>
              <a:t>3</a:t>
            </a:r>
            <a:endParaRPr lang="en-US" sz="1200" dirty="0"/>
          </a:p>
        </p:txBody>
      </p:sp>
      <p:sp>
        <p:nvSpPr>
          <p:cNvPr id="17" name="Text 15"/>
          <p:cNvSpPr/>
          <p:nvPr/>
        </p:nvSpPr>
        <p:spPr>
          <a:xfrm>
            <a:off x="1600200" y="4526280"/>
            <a:ext cx="9720072" cy="365760"/>
          </a:xfrm>
          <a:prstGeom prst="rect">
            <a:avLst/>
          </a:prstGeom>
          <a:noFill/>
          <a:ln/>
        </p:spPr>
        <p:txBody>
          <a:bodyPr wrap="square" lIns="0" tIns="0" rIns="0" bIns="0" rtlCol="0" anchor="ctr"/>
          <a:lstStyle/>
          <a:p>
            <a:pPr indent="0" marL="0">
              <a:buNone/>
            </a:pPr>
            <a:r>
              <a:rPr lang="en-US" sz="1600" b="1" dirty="0">
                <a:solidFill>
                  <a:srgbClr val="1F2933"/>
                </a:solidFill>
                <a:latin typeface="Nunito" pitchFamily="34" charset="0"/>
                <a:ea typeface="Nunito" pitchFamily="34" charset="-122"/>
                <a:cs typeface="Nunito" pitchFamily="34" charset="-120"/>
              </a:rPr>
              <a:t>Press to a calibrated target</a:t>
            </a:r>
            <a:endParaRPr lang="en-US" sz="1600" dirty="0"/>
          </a:p>
        </p:txBody>
      </p:sp>
      <p:sp>
        <p:nvSpPr>
          <p:cNvPr id="18" name="Text 16"/>
          <p:cNvSpPr/>
          <p:nvPr/>
        </p:nvSpPr>
        <p:spPr>
          <a:xfrm>
            <a:off x="1600200" y="4873752"/>
            <a:ext cx="9674352" cy="457200"/>
          </a:xfrm>
          <a:prstGeom prst="rect">
            <a:avLst/>
          </a:prstGeom>
          <a:noFill/>
          <a:ln/>
        </p:spPr>
        <p:txBody>
          <a:bodyPr wrap="square" lIns="0" tIns="0" rIns="0" bIns="0" rtlCol="0" anchor="ctr"/>
          <a:lstStyle/>
          <a:p>
            <a:pPr indent="0" marL="0">
              <a:lnSpc>
                <a:spcPct val="103000"/>
              </a:lnSpc>
              <a:buNone/>
            </a:pPr>
            <a:r>
              <a:rPr lang="en-US" sz="1250" dirty="0">
                <a:solidFill>
                  <a:srgbClr val="5B6770"/>
                </a:solidFill>
                <a:latin typeface="Nunito" pitchFamily="34" charset="0"/>
                <a:ea typeface="Nunito" pitchFamily="34" charset="-122"/>
                <a:cs typeface="Nunito" pitchFamily="34" charset="-120"/>
              </a:rPr>
              <a:t>The Fuji press drives down until the load cell reaches its target force, then stops.</a:t>
            </a:r>
            <a:endParaRPr lang="en-US" sz="1250" dirty="0"/>
          </a:p>
        </p:txBody>
      </p:sp>
      <p:sp>
        <p:nvSpPr>
          <p:cNvPr id="19" name="Shape 17"/>
          <p:cNvSpPr/>
          <p:nvPr/>
        </p:nvSpPr>
        <p:spPr>
          <a:xfrm>
            <a:off x="640080" y="5623560"/>
            <a:ext cx="10908792" cy="1078992"/>
          </a:xfrm>
          <a:prstGeom prst="roundRect">
            <a:avLst>
              <a:gd name="adj" fmla="val 5085"/>
            </a:avLst>
          </a:prstGeom>
          <a:solidFill>
            <a:srgbClr val="F4F6F8"/>
          </a:solidFill>
          <a:ln/>
          <a:effectLst>
            <a:outerShdw sx="100000" sy="100000" kx="0" ky="0" algn="bl" rotWithShape="0" blurRad="101600" dist="38100" dir="5400000">
              <a:srgbClr val="000000">
                <a:alpha val="10000"/>
              </a:srgbClr>
            </a:outerShdw>
          </a:effectLst>
        </p:spPr>
      </p:sp>
      <p:sp>
        <p:nvSpPr>
          <p:cNvPr id="20" name="Shape 18"/>
          <p:cNvSpPr/>
          <p:nvPr/>
        </p:nvSpPr>
        <p:spPr>
          <a:xfrm>
            <a:off x="914400" y="5934456"/>
            <a:ext cx="457200" cy="457200"/>
          </a:xfrm>
          <a:prstGeom prst="ellipse">
            <a:avLst/>
          </a:prstGeom>
          <a:solidFill>
            <a:srgbClr val="2E875B"/>
          </a:solidFill>
          <a:ln/>
        </p:spPr>
      </p:sp>
      <p:sp>
        <p:nvSpPr>
          <p:cNvPr id="21" name="Text 19"/>
          <p:cNvSpPr/>
          <p:nvPr/>
        </p:nvSpPr>
        <p:spPr>
          <a:xfrm>
            <a:off x="914400" y="593445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Nunito" pitchFamily="34" charset="0"/>
                <a:ea typeface="Nunito" pitchFamily="34" charset="-122"/>
                <a:cs typeface="Nunito" pitchFamily="34" charset="-120"/>
              </a:rPr>
              <a:t>4</a:t>
            </a:r>
            <a:endParaRPr lang="en-US" sz="1200" dirty="0"/>
          </a:p>
        </p:txBody>
      </p:sp>
      <p:sp>
        <p:nvSpPr>
          <p:cNvPr id="22" name="Text 20"/>
          <p:cNvSpPr/>
          <p:nvPr/>
        </p:nvSpPr>
        <p:spPr>
          <a:xfrm>
            <a:off x="1600200" y="5806440"/>
            <a:ext cx="9720072" cy="365760"/>
          </a:xfrm>
          <a:prstGeom prst="rect">
            <a:avLst/>
          </a:prstGeom>
          <a:noFill/>
          <a:ln/>
        </p:spPr>
        <p:txBody>
          <a:bodyPr wrap="square" lIns="0" tIns="0" rIns="0" bIns="0" rtlCol="0" anchor="ctr"/>
          <a:lstStyle/>
          <a:p>
            <a:pPr indent="0" marL="0">
              <a:buNone/>
            </a:pPr>
            <a:r>
              <a:rPr lang="en-US" sz="1600" b="1" dirty="0">
                <a:solidFill>
                  <a:srgbClr val="1F2933"/>
                </a:solidFill>
                <a:latin typeface="Nunito" pitchFamily="34" charset="0"/>
                <a:ea typeface="Nunito" pitchFamily="34" charset="-122"/>
                <a:cs typeface="Nunito" pitchFamily="34" charset="-120"/>
              </a:rPr>
              <a:t>Reliable jog state</a:t>
            </a:r>
            <a:endParaRPr lang="en-US" sz="1600" dirty="0"/>
          </a:p>
        </p:txBody>
      </p:sp>
      <p:sp>
        <p:nvSpPr>
          <p:cNvPr id="23" name="Text 21"/>
          <p:cNvSpPr/>
          <p:nvPr/>
        </p:nvSpPr>
        <p:spPr>
          <a:xfrm>
            <a:off x="1600200" y="6153912"/>
            <a:ext cx="9674352" cy="457200"/>
          </a:xfrm>
          <a:prstGeom prst="rect">
            <a:avLst/>
          </a:prstGeom>
          <a:noFill/>
          <a:ln/>
        </p:spPr>
        <p:txBody>
          <a:bodyPr wrap="square" lIns="0" tIns="0" rIns="0" bIns="0" rtlCol="0" anchor="ctr"/>
          <a:lstStyle/>
          <a:p>
            <a:pPr indent="0" marL="0">
              <a:lnSpc>
                <a:spcPct val="103000"/>
              </a:lnSpc>
              <a:buNone/>
            </a:pPr>
            <a:r>
              <a:rPr lang="en-US" sz="1250" dirty="0">
                <a:solidFill>
                  <a:srgbClr val="5B6770"/>
                </a:solidFill>
                <a:latin typeface="Nunito" pitchFamily="34" charset="0"/>
                <a:ea typeface="Nunito" pitchFamily="34" charset="-122"/>
                <a:cs typeface="Nunito" pitchFamily="34" charset="-120"/>
              </a:rPr>
              <a:t>Fixed an intermittent bug where the window thought the stage was still moving after a jog finished.</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SAFETY</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Built into every test</a:t>
            </a:r>
            <a:endParaRPr lang="en-US" sz="3100" dirty="0"/>
          </a:p>
        </p:txBody>
      </p:sp>
      <p:sp>
        <p:nvSpPr>
          <p:cNvPr id="4" name="Shape 2"/>
          <p:cNvSpPr/>
          <p:nvPr/>
        </p:nvSpPr>
        <p:spPr>
          <a:xfrm>
            <a:off x="640080" y="1828800"/>
            <a:ext cx="3392424" cy="1600200"/>
          </a:xfrm>
          <a:prstGeom prst="roundRect">
            <a:avLst>
              <a:gd name="adj" fmla="val 3429"/>
            </a:avLst>
          </a:prstGeom>
          <a:solidFill>
            <a:srgbClr val="F4F6F8"/>
          </a:solidFill>
          <a:ln/>
          <a:effectLst>
            <a:outerShdw sx="100000" sy="100000" kx="0" ky="0" algn="bl" rotWithShape="0" blurRad="101600" dist="38100" dir="5400000">
              <a:srgbClr val="000000">
                <a:alpha val="10000"/>
              </a:srgbClr>
            </a:outerShdw>
          </a:effectLst>
        </p:spPr>
      </p:sp>
      <p:sp>
        <p:nvSpPr>
          <p:cNvPr id="5" name="Text 3"/>
          <p:cNvSpPr/>
          <p:nvPr/>
        </p:nvSpPr>
        <p:spPr>
          <a:xfrm>
            <a:off x="896112" y="2048256"/>
            <a:ext cx="2880360" cy="365760"/>
          </a:xfrm>
          <a:prstGeom prst="rect">
            <a:avLst/>
          </a:prstGeom>
          <a:noFill/>
          <a:ln/>
        </p:spPr>
        <p:txBody>
          <a:bodyPr wrap="square" lIns="0" tIns="0" rIns="0" bIns="0" rtlCol="0" anchor="ctr"/>
          <a:lstStyle/>
          <a:p>
            <a:pPr indent="0" marL="0">
              <a:buNone/>
            </a:pPr>
            <a:r>
              <a:rPr lang="en-US" sz="1550" b="1" dirty="0">
                <a:solidFill>
                  <a:srgbClr val="2F6FE0"/>
                </a:solidFill>
                <a:latin typeface="Nunito" pitchFamily="34" charset="0"/>
                <a:ea typeface="Nunito" pitchFamily="34" charset="-122"/>
                <a:cs typeface="Nunito" pitchFamily="34" charset="-120"/>
              </a:rPr>
              <a:t>Force ceiling</a:t>
            </a:r>
            <a:endParaRPr lang="en-US" sz="1550" dirty="0"/>
          </a:p>
        </p:txBody>
      </p:sp>
      <p:sp>
        <p:nvSpPr>
          <p:cNvPr id="6" name="Text 4"/>
          <p:cNvSpPr/>
          <p:nvPr/>
        </p:nvSpPr>
        <p:spPr>
          <a:xfrm>
            <a:off x="896112" y="2432304"/>
            <a:ext cx="2880360" cy="914400"/>
          </a:xfrm>
          <a:prstGeom prst="rect">
            <a:avLst/>
          </a:prstGeom>
          <a:noFill/>
          <a:ln/>
        </p:spPr>
        <p:txBody>
          <a:bodyPr wrap="square" lIns="0" tIns="0" rIns="0" bIns="0" rtlCol="0" anchor="ctr"/>
          <a:lstStyle/>
          <a:p>
            <a:pPr indent="0" marL="0">
              <a:lnSpc>
                <a:spcPct val="108000"/>
              </a:lnSpc>
              <a:buNone/>
            </a:pPr>
            <a:r>
              <a:rPr lang="en-US" sz="1200" dirty="0">
                <a:solidFill>
                  <a:srgbClr val="5B6770"/>
                </a:solidFill>
                <a:latin typeface="Nunito" pitchFamily="34" charset="0"/>
                <a:ea typeface="Nunito" pitchFamily="34" charset="-122"/>
                <a:cs typeface="Nunito" pitchFamily="34" charset="-120"/>
              </a:rPr>
              <a:t>A hard over-force limit stops the actuator before the load cell can be overloaded.</a:t>
            </a:r>
            <a:endParaRPr lang="en-US" sz="1200" dirty="0"/>
          </a:p>
        </p:txBody>
      </p:sp>
      <p:sp>
        <p:nvSpPr>
          <p:cNvPr id="7" name="Shape 5"/>
          <p:cNvSpPr/>
          <p:nvPr/>
        </p:nvSpPr>
        <p:spPr>
          <a:xfrm>
            <a:off x="4398264" y="1828800"/>
            <a:ext cx="3392424" cy="1600200"/>
          </a:xfrm>
          <a:prstGeom prst="roundRect">
            <a:avLst>
              <a:gd name="adj" fmla="val 3429"/>
            </a:avLst>
          </a:prstGeom>
          <a:solidFill>
            <a:srgbClr val="F4F6F8"/>
          </a:solidFill>
          <a:ln/>
          <a:effectLst>
            <a:outerShdw sx="100000" sy="100000" kx="0" ky="0" algn="bl" rotWithShape="0" blurRad="101600" dist="38100" dir="5400000">
              <a:srgbClr val="000000">
                <a:alpha val="10000"/>
              </a:srgbClr>
            </a:outerShdw>
          </a:effectLst>
        </p:spPr>
      </p:sp>
      <p:sp>
        <p:nvSpPr>
          <p:cNvPr id="8" name="Text 6"/>
          <p:cNvSpPr/>
          <p:nvPr/>
        </p:nvSpPr>
        <p:spPr>
          <a:xfrm>
            <a:off x="4654296" y="2048256"/>
            <a:ext cx="2880360" cy="365760"/>
          </a:xfrm>
          <a:prstGeom prst="rect">
            <a:avLst/>
          </a:prstGeom>
          <a:noFill/>
          <a:ln/>
        </p:spPr>
        <p:txBody>
          <a:bodyPr wrap="square" lIns="0" tIns="0" rIns="0" bIns="0" rtlCol="0" anchor="ctr"/>
          <a:lstStyle/>
          <a:p>
            <a:pPr indent="0" marL="0">
              <a:buNone/>
            </a:pPr>
            <a:r>
              <a:rPr lang="en-US" sz="1550" b="1" dirty="0">
                <a:solidFill>
                  <a:srgbClr val="2F6FE0"/>
                </a:solidFill>
                <a:latin typeface="Nunito" pitchFamily="34" charset="0"/>
                <a:ea typeface="Nunito" pitchFamily="34" charset="-122"/>
                <a:cs typeface="Nunito" pitchFamily="34" charset="-120"/>
              </a:rPr>
              <a:t>Spike detection</a:t>
            </a:r>
            <a:endParaRPr lang="en-US" sz="1550" dirty="0"/>
          </a:p>
        </p:txBody>
      </p:sp>
      <p:sp>
        <p:nvSpPr>
          <p:cNvPr id="9" name="Text 7"/>
          <p:cNvSpPr/>
          <p:nvPr/>
        </p:nvSpPr>
        <p:spPr>
          <a:xfrm>
            <a:off x="4654296" y="2432304"/>
            <a:ext cx="2880360" cy="914400"/>
          </a:xfrm>
          <a:prstGeom prst="rect">
            <a:avLst/>
          </a:prstGeom>
          <a:noFill/>
          <a:ln/>
        </p:spPr>
        <p:txBody>
          <a:bodyPr wrap="square" lIns="0" tIns="0" rIns="0" bIns="0" rtlCol="0" anchor="ctr"/>
          <a:lstStyle/>
          <a:p>
            <a:pPr indent="0" marL="0">
              <a:lnSpc>
                <a:spcPct val="108000"/>
              </a:lnSpc>
              <a:buNone/>
            </a:pPr>
            <a:r>
              <a:rPr lang="en-US" sz="1200" dirty="0">
                <a:solidFill>
                  <a:srgbClr val="5B6770"/>
                </a:solidFill>
                <a:latin typeface="Nunito" pitchFamily="34" charset="0"/>
                <a:ea typeface="Nunito" pitchFamily="34" charset="-122"/>
                <a:cs typeface="Nunito" pitchFamily="34" charset="-120"/>
              </a:rPr>
              <a:t>A sudden force jump - metal-on-metal contact - halts motion immediately.</a:t>
            </a:r>
            <a:endParaRPr lang="en-US" sz="1200" dirty="0"/>
          </a:p>
        </p:txBody>
      </p:sp>
      <p:sp>
        <p:nvSpPr>
          <p:cNvPr id="10" name="Shape 8"/>
          <p:cNvSpPr/>
          <p:nvPr/>
        </p:nvSpPr>
        <p:spPr>
          <a:xfrm>
            <a:off x="8156448" y="1828800"/>
            <a:ext cx="3392424" cy="1600200"/>
          </a:xfrm>
          <a:prstGeom prst="roundRect">
            <a:avLst>
              <a:gd name="adj" fmla="val 3429"/>
            </a:avLst>
          </a:prstGeom>
          <a:solidFill>
            <a:srgbClr val="F4F6F8"/>
          </a:solidFill>
          <a:ln/>
          <a:effectLst>
            <a:outerShdw sx="100000" sy="100000" kx="0" ky="0" algn="bl" rotWithShape="0" blurRad="101600" dist="38100" dir="5400000">
              <a:srgbClr val="000000">
                <a:alpha val="10000"/>
              </a:srgbClr>
            </a:outerShdw>
          </a:effectLst>
        </p:spPr>
      </p:sp>
      <p:sp>
        <p:nvSpPr>
          <p:cNvPr id="11" name="Text 9"/>
          <p:cNvSpPr/>
          <p:nvPr/>
        </p:nvSpPr>
        <p:spPr>
          <a:xfrm>
            <a:off x="8412480" y="2048256"/>
            <a:ext cx="2880360" cy="365760"/>
          </a:xfrm>
          <a:prstGeom prst="rect">
            <a:avLst/>
          </a:prstGeom>
          <a:noFill/>
          <a:ln/>
        </p:spPr>
        <p:txBody>
          <a:bodyPr wrap="square" lIns="0" tIns="0" rIns="0" bIns="0" rtlCol="0" anchor="ctr"/>
          <a:lstStyle/>
          <a:p>
            <a:pPr indent="0" marL="0">
              <a:buNone/>
            </a:pPr>
            <a:r>
              <a:rPr lang="en-US" sz="1550" b="1" dirty="0">
                <a:solidFill>
                  <a:srgbClr val="2F6FE0"/>
                </a:solidFill>
                <a:latin typeface="Nunito" pitchFamily="34" charset="0"/>
                <a:ea typeface="Nunito" pitchFamily="34" charset="-122"/>
                <a:cs typeface="Nunito" pitchFamily="34" charset="-120"/>
              </a:rPr>
              <a:t>Travel limits</a:t>
            </a:r>
            <a:endParaRPr lang="en-US" sz="1550" dirty="0"/>
          </a:p>
        </p:txBody>
      </p:sp>
      <p:sp>
        <p:nvSpPr>
          <p:cNvPr id="12" name="Text 10"/>
          <p:cNvSpPr/>
          <p:nvPr/>
        </p:nvSpPr>
        <p:spPr>
          <a:xfrm>
            <a:off x="8412480" y="2432304"/>
            <a:ext cx="2880360" cy="914400"/>
          </a:xfrm>
          <a:prstGeom prst="rect">
            <a:avLst/>
          </a:prstGeom>
          <a:noFill/>
          <a:ln/>
        </p:spPr>
        <p:txBody>
          <a:bodyPr wrap="square" lIns="0" tIns="0" rIns="0" bIns="0" rtlCol="0" anchor="ctr"/>
          <a:lstStyle/>
          <a:p>
            <a:pPr indent="0" marL="0">
              <a:lnSpc>
                <a:spcPct val="108000"/>
              </a:lnSpc>
              <a:buNone/>
            </a:pPr>
            <a:r>
              <a:rPr lang="en-US" sz="1200" dirty="0">
                <a:solidFill>
                  <a:srgbClr val="5B6770"/>
                </a:solidFill>
                <a:latin typeface="Nunito" pitchFamily="34" charset="0"/>
                <a:ea typeface="Nunito" pitchFamily="34" charset="-122"/>
                <a:cs typeface="Nunito" pitchFamily="34" charset="-120"/>
              </a:rPr>
              <a:t>The stage never drives into its mechanical end stop.</a:t>
            </a:r>
            <a:endParaRPr lang="en-US" sz="1200" dirty="0"/>
          </a:p>
        </p:txBody>
      </p:sp>
      <p:sp>
        <p:nvSpPr>
          <p:cNvPr id="13" name="Shape 11"/>
          <p:cNvSpPr/>
          <p:nvPr/>
        </p:nvSpPr>
        <p:spPr>
          <a:xfrm>
            <a:off x="640080" y="3721608"/>
            <a:ext cx="3392424" cy="1600200"/>
          </a:xfrm>
          <a:prstGeom prst="roundRect">
            <a:avLst>
              <a:gd name="adj" fmla="val 3429"/>
            </a:avLst>
          </a:prstGeom>
          <a:solidFill>
            <a:srgbClr val="F4F6F8"/>
          </a:solidFill>
          <a:ln/>
          <a:effectLst>
            <a:outerShdw sx="100000" sy="100000" kx="0" ky="0" algn="bl" rotWithShape="0" blurRad="101600" dist="38100" dir="5400000">
              <a:srgbClr val="000000">
                <a:alpha val="10000"/>
              </a:srgbClr>
            </a:outerShdw>
          </a:effectLst>
        </p:spPr>
      </p:sp>
      <p:sp>
        <p:nvSpPr>
          <p:cNvPr id="14" name="Text 12"/>
          <p:cNvSpPr/>
          <p:nvPr/>
        </p:nvSpPr>
        <p:spPr>
          <a:xfrm>
            <a:off x="896112" y="3941064"/>
            <a:ext cx="2880360" cy="365760"/>
          </a:xfrm>
          <a:prstGeom prst="rect">
            <a:avLst/>
          </a:prstGeom>
          <a:noFill/>
          <a:ln/>
        </p:spPr>
        <p:txBody>
          <a:bodyPr wrap="square" lIns="0" tIns="0" rIns="0" bIns="0" rtlCol="0" anchor="ctr"/>
          <a:lstStyle/>
          <a:p>
            <a:pPr indent="0" marL="0">
              <a:buNone/>
            </a:pPr>
            <a:r>
              <a:rPr lang="en-US" sz="1550" b="1" dirty="0">
                <a:solidFill>
                  <a:srgbClr val="2F6FE0"/>
                </a:solidFill>
                <a:latin typeface="Nunito" pitchFamily="34" charset="0"/>
                <a:ea typeface="Nunito" pitchFamily="34" charset="-122"/>
                <a:cs typeface="Nunito" pitchFamily="34" charset="-120"/>
              </a:rPr>
              <a:t>Disconnect handling</a:t>
            </a:r>
            <a:endParaRPr lang="en-US" sz="1550" dirty="0"/>
          </a:p>
        </p:txBody>
      </p:sp>
      <p:sp>
        <p:nvSpPr>
          <p:cNvPr id="15" name="Text 13"/>
          <p:cNvSpPr/>
          <p:nvPr/>
        </p:nvSpPr>
        <p:spPr>
          <a:xfrm>
            <a:off x="896112" y="4325112"/>
            <a:ext cx="2880360" cy="914400"/>
          </a:xfrm>
          <a:prstGeom prst="rect">
            <a:avLst/>
          </a:prstGeom>
          <a:noFill/>
          <a:ln/>
        </p:spPr>
        <p:txBody>
          <a:bodyPr wrap="square" lIns="0" tIns="0" rIns="0" bIns="0" rtlCol="0" anchor="ctr"/>
          <a:lstStyle/>
          <a:p>
            <a:pPr indent="0" marL="0">
              <a:lnSpc>
                <a:spcPct val="108000"/>
              </a:lnSpc>
              <a:buNone/>
            </a:pPr>
            <a:r>
              <a:rPr lang="en-US" sz="1200" dirty="0">
                <a:solidFill>
                  <a:srgbClr val="5B6770"/>
                </a:solidFill>
                <a:latin typeface="Nunito" pitchFamily="34" charset="0"/>
                <a:ea typeface="Nunito" pitchFamily="34" charset="-122"/>
                <a:cs typeface="Nunito" pitchFamily="34" charset="-120"/>
              </a:rPr>
              <a:t>Losing the actuator or load cell mid-test stops, retracts to home, and invalidates the run.</a:t>
            </a:r>
            <a:endParaRPr lang="en-US" sz="1200" dirty="0"/>
          </a:p>
        </p:txBody>
      </p:sp>
      <p:sp>
        <p:nvSpPr>
          <p:cNvPr id="16" name="Shape 14"/>
          <p:cNvSpPr/>
          <p:nvPr/>
        </p:nvSpPr>
        <p:spPr>
          <a:xfrm>
            <a:off x="4398264" y="3721608"/>
            <a:ext cx="3392424" cy="1600200"/>
          </a:xfrm>
          <a:prstGeom prst="roundRect">
            <a:avLst>
              <a:gd name="adj" fmla="val 3429"/>
            </a:avLst>
          </a:prstGeom>
          <a:solidFill>
            <a:srgbClr val="F4F6F8"/>
          </a:solidFill>
          <a:ln/>
          <a:effectLst>
            <a:outerShdw sx="100000" sy="100000" kx="0" ky="0" algn="bl" rotWithShape="0" blurRad="101600" dist="38100" dir="5400000">
              <a:srgbClr val="000000">
                <a:alpha val="10000"/>
              </a:srgbClr>
            </a:outerShdw>
          </a:effectLst>
        </p:spPr>
      </p:sp>
      <p:sp>
        <p:nvSpPr>
          <p:cNvPr id="17" name="Text 15"/>
          <p:cNvSpPr/>
          <p:nvPr/>
        </p:nvSpPr>
        <p:spPr>
          <a:xfrm>
            <a:off x="4654296" y="3941064"/>
            <a:ext cx="2880360" cy="365760"/>
          </a:xfrm>
          <a:prstGeom prst="rect">
            <a:avLst/>
          </a:prstGeom>
          <a:noFill/>
          <a:ln/>
        </p:spPr>
        <p:txBody>
          <a:bodyPr wrap="square" lIns="0" tIns="0" rIns="0" bIns="0" rtlCol="0" anchor="ctr"/>
          <a:lstStyle/>
          <a:p>
            <a:pPr indent="0" marL="0">
              <a:buNone/>
            </a:pPr>
            <a:r>
              <a:rPr lang="en-US" sz="1550" b="1" dirty="0">
                <a:solidFill>
                  <a:srgbClr val="2F6FE0"/>
                </a:solidFill>
                <a:latin typeface="Nunito" pitchFamily="34" charset="0"/>
                <a:ea typeface="Nunito" pitchFamily="34" charset="-122"/>
                <a:cs typeface="Nunito" pitchFamily="34" charset="-120"/>
              </a:rPr>
              <a:t>Snap-to input limits</a:t>
            </a:r>
            <a:endParaRPr lang="en-US" sz="1550" dirty="0"/>
          </a:p>
        </p:txBody>
      </p:sp>
      <p:sp>
        <p:nvSpPr>
          <p:cNvPr id="18" name="Text 16"/>
          <p:cNvSpPr/>
          <p:nvPr/>
        </p:nvSpPr>
        <p:spPr>
          <a:xfrm>
            <a:off x="4654296" y="4325112"/>
            <a:ext cx="2880360" cy="914400"/>
          </a:xfrm>
          <a:prstGeom prst="rect">
            <a:avLst/>
          </a:prstGeom>
          <a:noFill/>
          <a:ln/>
        </p:spPr>
        <p:txBody>
          <a:bodyPr wrap="square" lIns="0" tIns="0" rIns="0" bIns="0" rtlCol="0" anchor="ctr"/>
          <a:lstStyle/>
          <a:p>
            <a:pPr indent="0" marL="0">
              <a:lnSpc>
                <a:spcPct val="108000"/>
              </a:lnSpc>
              <a:buNone/>
            </a:pPr>
            <a:r>
              <a:rPr lang="en-US" sz="1200" dirty="0">
                <a:solidFill>
                  <a:srgbClr val="5B6770"/>
                </a:solidFill>
                <a:latin typeface="Nunito" pitchFamily="34" charset="0"/>
                <a:ea typeface="Nunito" pitchFamily="34" charset="-122"/>
                <a:cs typeface="Nunito" pitchFamily="34" charset="-120"/>
              </a:rPr>
              <a:t>Out-of-range entries snap to the nearest limit and say which limit they hit.</a:t>
            </a:r>
            <a:endParaRPr lang="en-US" sz="1200" dirty="0"/>
          </a:p>
        </p:txBody>
      </p:sp>
      <p:sp>
        <p:nvSpPr>
          <p:cNvPr id="19" name="Shape 17"/>
          <p:cNvSpPr/>
          <p:nvPr/>
        </p:nvSpPr>
        <p:spPr>
          <a:xfrm>
            <a:off x="8156448" y="3721608"/>
            <a:ext cx="3392424" cy="1600200"/>
          </a:xfrm>
          <a:prstGeom prst="roundRect">
            <a:avLst>
              <a:gd name="adj" fmla="val 3429"/>
            </a:avLst>
          </a:prstGeom>
          <a:solidFill>
            <a:srgbClr val="F4F6F8"/>
          </a:solidFill>
          <a:ln/>
          <a:effectLst>
            <a:outerShdw sx="100000" sy="100000" kx="0" ky="0" algn="bl" rotWithShape="0" blurRad="101600" dist="38100" dir="5400000">
              <a:srgbClr val="000000">
                <a:alpha val="10000"/>
              </a:srgbClr>
            </a:outerShdw>
          </a:effectLst>
        </p:spPr>
      </p:sp>
      <p:sp>
        <p:nvSpPr>
          <p:cNvPr id="20" name="Text 18"/>
          <p:cNvSpPr/>
          <p:nvPr/>
        </p:nvSpPr>
        <p:spPr>
          <a:xfrm>
            <a:off x="8412480" y="3941064"/>
            <a:ext cx="2880360" cy="365760"/>
          </a:xfrm>
          <a:prstGeom prst="rect">
            <a:avLst/>
          </a:prstGeom>
          <a:noFill/>
          <a:ln/>
        </p:spPr>
        <p:txBody>
          <a:bodyPr wrap="square" lIns="0" tIns="0" rIns="0" bIns="0" rtlCol="0" anchor="ctr"/>
          <a:lstStyle/>
          <a:p>
            <a:pPr indent="0" marL="0">
              <a:buNone/>
            </a:pPr>
            <a:r>
              <a:rPr lang="en-US" sz="1550" b="1" dirty="0">
                <a:solidFill>
                  <a:srgbClr val="2F6FE0"/>
                </a:solidFill>
                <a:latin typeface="Nunito" pitchFamily="34" charset="0"/>
                <a:ea typeface="Nunito" pitchFamily="34" charset="-122"/>
                <a:cs typeface="Nunito" pitchFamily="34" charset="-120"/>
              </a:rPr>
              <a:t>Single-owner load cell</a:t>
            </a:r>
            <a:endParaRPr lang="en-US" sz="1550" dirty="0"/>
          </a:p>
        </p:txBody>
      </p:sp>
      <p:sp>
        <p:nvSpPr>
          <p:cNvPr id="21" name="Text 19"/>
          <p:cNvSpPr/>
          <p:nvPr/>
        </p:nvSpPr>
        <p:spPr>
          <a:xfrm>
            <a:off x="8412480" y="4325112"/>
            <a:ext cx="2880360" cy="914400"/>
          </a:xfrm>
          <a:prstGeom prst="rect">
            <a:avLst/>
          </a:prstGeom>
          <a:noFill/>
          <a:ln/>
        </p:spPr>
        <p:txBody>
          <a:bodyPr wrap="square" lIns="0" tIns="0" rIns="0" bIns="0" rtlCol="0" anchor="ctr"/>
          <a:lstStyle/>
          <a:p>
            <a:pPr indent="0" marL="0">
              <a:lnSpc>
                <a:spcPct val="108000"/>
              </a:lnSpc>
              <a:buNone/>
            </a:pPr>
            <a:r>
              <a:rPr lang="en-US" sz="1200" dirty="0">
                <a:solidFill>
                  <a:srgbClr val="5B6770"/>
                </a:solidFill>
                <a:latin typeface="Nunito" pitchFamily="34" charset="0"/>
                <a:ea typeface="Nunito" pitchFamily="34" charset="-122"/>
                <a:cs typeface="Nunito" pitchFamily="34" charset="-120"/>
              </a:rPr>
              <a:t>Exactly one reader touches the device, so it can't be corrupted mid-session.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RESILIENCE</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Surviving a disconnect</a:t>
            </a:r>
            <a:endParaRPr lang="en-US" sz="3100" dirty="0"/>
          </a:p>
        </p:txBody>
      </p:sp>
      <p:sp>
        <p:nvSpPr>
          <p:cNvPr id="4" name="Shape 2"/>
          <p:cNvSpPr/>
          <p:nvPr/>
        </p:nvSpPr>
        <p:spPr>
          <a:xfrm>
            <a:off x="640080" y="1828800"/>
            <a:ext cx="3392424" cy="1600200"/>
          </a:xfrm>
          <a:prstGeom prst="roundRect">
            <a:avLst>
              <a:gd name="adj" fmla="val 3429"/>
            </a:avLst>
          </a:prstGeom>
          <a:solidFill>
            <a:srgbClr val="F4F6F8"/>
          </a:solidFill>
          <a:ln/>
          <a:effectLst>
            <a:outerShdw sx="100000" sy="100000" kx="0" ky="0" algn="bl" rotWithShape="0" blurRad="101600" dist="38100" dir="5400000">
              <a:srgbClr val="000000">
                <a:alpha val="10000"/>
              </a:srgbClr>
            </a:outerShdw>
          </a:effectLst>
        </p:spPr>
      </p:sp>
      <p:sp>
        <p:nvSpPr>
          <p:cNvPr id="5" name="Text 3"/>
          <p:cNvSpPr/>
          <p:nvPr/>
        </p:nvSpPr>
        <p:spPr>
          <a:xfrm>
            <a:off x="896112" y="2048256"/>
            <a:ext cx="2880360" cy="365760"/>
          </a:xfrm>
          <a:prstGeom prst="rect">
            <a:avLst/>
          </a:prstGeom>
          <a:noFill/>
          <a:ln/>
        </p:spPr>
        <p:txBody>
          <a:bodyPr wrap="square" lIns="0" tIns="0" rIns="0" bIns="0" rtlCol="0" anchor="ctr"/>
          <a:lstStyle/>
          <a:p>
            <a:pPr indent="0" marL="0">
              <a:buNone/>
            </a:pPr>
            <a:r>
              <a:rPr lang="en-US" sz="1550" b="1" dirty="0">
                <a:solidFill>
                  <a:srgbClr val="2F6FE0"/>
                </a:solidFill>
                <a:latin typeface="Nunito" pitchFamily="34" charset="0"/>
                <a:ea typeface="Nunito" pitchFamily="34" charset="-122"/>
                <a:cs typeface="Nunito" pitchFamily="34" charset="-120"/>
              </a:rPr>
              <a:t>Stop and retract home</a:t>
            </a:r>
            <a:endParaRPr lang="en-US" sz="1550" dirty="0"/>
          </a:p>
        </p:txBody>
      </p:sp>
      <p:sp>
        <p:nvSpPr>
          <p:cNvPr id="6" name="Text 4"/>
          <p:cNvSpPr/>
          <p:nvPr/>
        </p:nvSpPr>
        <p:spPr>
          <a:xfrm>
            <a:off x="896112" y="2432304"/>
            <a:ext cx="2880360" cy="914400"/>
          </a:xfrm>
          <a:prstGeom prst="rect">
            <a:avLst/>
          </a:prstGeom>
          <a:noFill/>
          <a:ln/>
        </p:spPr>
        <p:txBody>
          <a:bodyPr wrap="square" lIns="0" tIns="0" rIns="0" bIns="0" rtlCol="0" anchor="ctr"/>
          <a:lstStyle/>
          <a:p>
            <a:pPr indent="0" marL="0">
              <a:lnSpc>
                <a:spcPct val="108000"/>
              </a:lnSpc>
              <a:buNone/>
            </a:pPr>
            <a:r>
              <a:rPr lang="en-US" sz="1200" dirty="0">
                <a:solidFill>
                  <a:srgbClr val="5B6770"/>
                </a:solidFill>
                <a:latin typeface="Nunito" pitchFamily="34" charset="0"/>
                <a:ea typeface="Nunito" pitchFamily="34" charset="-122"/>
                <a:cs typeface="Nunito" pitchFamily="34" charset="-120"/>
              </a:rPr>
              <a:t>Any actuator or load-cell drop halts motion and backs the rod off the sensor, never leaving it pressed.</a:t>
            </a:r>
            <a:endParaRPr lang="en-US" sz="1200" dirty="0"/>
          </a:p>
        </p:txBody>
      </p:sp>
      <p:sp>
        <p:nvSpPr>
          <p:cNvPr id="7" name="Shape 5"/>
          <p:cNvSpPr/>
          <p:nvPr/>
        </p:nvSpPr>
        <p:spPr>
          <a:xfrm>
            <a:off x="4398264" y="1828800"/>
            <a:ext cx="3392424" cy="1600200"/>
          </a:xfrm>
          <a:prstGeom prst="roundRect">
            <a:avLst>
              <a:gd name="adj" fmla="val 3429"/>
            </a:avLst>
          </a:prstGeom>
          <a:solidFill>
            <a:srgbClr val="F4F6F8"/>
          </a:solidFill>
          <a:ln/>
          <a:effectLst>
            <a:outerShdw sx="100000" sy="100000" kx="0" ky="0" algn="bl" rotWithShape="0" blurRad="101600" dist="38100" dir="5400000">
              <a:srgbClr val="000000">
                <a:alpha val="10000"/>
              </a:srgbClr>
            </a:outerShdw>
          </a:effectLst>
        </p:spPr>
      </p:sp>
      <p:sp>
        <p:nvSpPr>
          <p:cNvPr id="8" name="Text 6"/>
          <p:cNvSpPr/>
          <p:nvPr/>
        </p:nvSpPr>
        <p:spPr>
          <a:xfrm>
            <a:off x="4654296" y="2048256"/>
            <a:ext cx="2880360" cy="365760"/>
          </a:xfrm>
          <a:prstGeom prst="rect">
            <a:avLst/>
          </a:prstGeom>
          <a:noFill/>
          <a:ln/>
        </p:spPr>
        <p:txBody>
          <a:bodyPr wrap="square" lIns="0" tIns="0" rIns="0" bIns="0" rtlCol="0" anchor="ctr"/>
          <a:lstStyle/>
          <a:p>
            <a:pPr indent="0" marL="0">
              <a:buNone/>
            </a:pPr>
            <a:r>
              <a:rPr lang="en-US" sz="1550" b="1" dirty="0">
                <a:solidFill>
                  <a:srgbClr val="2F6FE0"/>
                </a:solidFill>
                <a:latin typeface="Nunito" pitchFamily="34" charset="0"/>
                <a:ea typeface="Nunito" pitchFamily="34" charset="-122"/>
                <a:cs typeface="Nunito" pitchFamily="34" charset="-120"/>
              </a:rPr>
              <a:t>Load cell self-recovers</a:t>
            </a:r>
            <a:endParaRPr lang="en-US" sz="1550" dirty="0"/>
          </a:p>
        </p:txBody>
      </p:sp>
      <p:sp>
        <p:nvSpPr>
          <p:cNvPr id="9" name="Text 7"/>
          <p:cNvSpPr/>
          <p:nvPr/>
        </p:nvSpPr>
        <p:spPr>
          <a:xfrm>
            <a:off x="4654296" y="2432304"/>
            <a:ext cx="2880360" cy="914400"/>
          </a:xfrm>
          <a:prstGeom prst="rect">
            <a:avLst/>
          </a:prstGeom>
          <a:noFill/>
          <a:ln/>
        </p:spPr>
        <p:txBody>
          <a:bodyPr wrap="square" lIns="0" tIns="0" rIns="0" bIns="0" rtlCol="0" anchor="ctr"/>
          <a:lstStyle/>
          <a:p>
            <a:pPr indent="0" marL="0">
              <a:lnSpc>
                <a:spcPct val="108000"/>
              </a:lnSpc>
              <a:buNone/>
            </a:pPr>
            <a:r>
              <a:rPr lang="en-US" sz="1200" dirty="0">
                <a:solidFill>
                  <a:srgbClr val="5B6770"/>
                </a:solidFill>
                <a:latin typeface="Nunito" pitchFamily="34" charset="0"/>
                <a:ea typeface="Nunito" pitchFamily="34" charset="-122"/>
                <a:cs typeface="Nunito" pitchFamily="34" charset="-120"/>
              </a:rPr>
              <a:t>The reader re-initializes the device in place, so a reconnected cell reads again with no app restart.</a:t>
            </a:r>
            <a:endParaRPr lang="en-US" sz="1200" dirty="0"/>
          </a:p>
        </p:txBody>
      </p:sp>
      <p:sp>
        <p:nvSpPr>
          <p:cNvPr id="10" name="Shape 8"/>
          <p:cNvSpPr/>
          <p:nvPr/>
        </p:nvSpPr>
        <p:spPr>
          <a:xfrm>
            <a:off x="8156448" y="1828800"/>
            <a:ext cx="3392424" cy="1600200"/>
          </a:xfrm>
          <a:prstGeom prst="roundRect">
            <a:avLst>
              <a:gd name="adj" fmla="val 3429"/>
            </a:avLst>
          </a:prstGeom>
          <a:solidFill>
            <a:srgbClr val="F4F6F8"/>
          </a:solidFill>
          <a:ln/>
          <a:effectLst>
            <a:outerShdw sx="100000" sy="100000" kx="0" ky="0" algn="bl" rotWithShape="0" blurRad="101600" dist="38100" dir="5400000">
              <a:srgbClr val="000000">
                <a:alpha val="10000"/>
              </a:srgbClr>
            </a:outerShdw>
          </a:effectLst>
        </p:spPr>
      </p:sp>
      <p:sp>
        <p:nvSpPr>
          <p:cNvPr id="11" name="Text 9"/>
          <p:cNvSpPr/>
          <p:nvPr/>
        </p:nvSpPr>
        <p:spPr>
          <a:xfrm>
            <a:off x="8412480" y="2048256"/>
            <a:ext cx="2880360" cy="365760"/>
          </a:xfrm>
          <a:prstGeom prst="rect">
            <a:avLst/>
          </a:prstGeom>
          <a:noFill/>
          <a:ln/>
        </p:spPr>
        <p:txBody>
          <a:bodyPr wrap="square" lIns="0" tIns="0" rIns="0" bIns="0" rtlCol="0" anchor="ctr"/>
          <a:lstStyle/>
          <a:p>
            <a:pPr indent="0" marL="0">
              <a:buNone/>
            </a:pPr>
            <a:r>
              <a:rPr lang="en-US" sz="1550" b="1" dirty="0">
                <a:solidFill>
                  <a:srgbClr val="2F6FE0"/>
                </a:solidFill>
                <a:latin typeface="Nunito" pitchFamily="34" charset="0"/>
                <a:ea typeface="Nunito" pitchFamily="34" charset="-122"/>
                <a:cs typeface="Nunito" pitchFamily="34" charset="-120"/>
              </a:rPr>
              <a:t>Never fakes the force</a:t>
            </a:r>
            <a:endParaRPr lang="en-US" sz="1550" dirty="0"/>
          </a:p>
        </p:txBody>
      </p:sp>
      <p:sp>
        <p:nvSpPr>
          <p:cNvPr id="12" name="Text 10"/>
          <p:cNvSpPr/>
          <p:nvPr/>
        </p:nvSpPr>
        <p:spPr>
          <a:xfrm>
            <a:off x="8412480" y="2432304"/>
            <a:ext cx="2880360" cy="914400"/>
          </a:xfrm>
          <a:prstGeom prst="rect">
            <a:avLst/>
          </a:prstGeom>
          <a:noFill/>
          <a:ln/>
        </p:spPr>
        <p:txBody>
          <a:bodyPr wrap="square" lIns="0" tIns="0" rIns="0" bIns="0" rtlCol="0" anchor="ctr"/>
          <a:lstStyle/>
          <a:p>
            <a:pPr indent="0" marL="0">
              <a:lnSpc>
                <a:spcPct val="108000"/>
              </a:lnSpc>
              <a:buNone/>
            </a:pPr>
            <a:r>
              <a:rPr lang="en-US" sz="1200" dirty="0">
                <a:solidFill>
                  <a:srgbClr val="5B6770"/>
                </a:solidFill>
                <a:latin typeface="Nunito" pitchFamily="34" charset="0"/>
                <a:ea typeface="Nunito" pitchFamily="34" charset="-122"/>
                <a:cs typeface="Nunito" pitchFamily="34" charset="-120"/>
              </a:rPr>
              <a:t>On a real rig a missing load cell blocks the run instead of quietly recording simulated data.</a:t>
            </a:r>
            <a:endParaRPr lang="en-US" sz="1200" dirty="0"/>
          </a:p>
        </p:txBody>
      </p:sp>
      <p:sp>
        <p:nvSpPr>
          <p:cNvPr id="13" name="Shape 11"/>
          <p:cNvSpPr/>
          <p:nvPr/>
        </p:nvSpPr>
        <p:spPr>
          <a:xfrm>
            <a:off x="640080" y="3721608"/>
            <a:ext cx="3392424" cy="1600200"/>
          </a:xfrm>
          <a:prstGeom prst="roundRect">
            <a:avLst>
              <a:gd name="adj" fmla="val 3429"/>
            </a:avLst>
          </a:prstGeom>
          <a:solidFill>
            <a:srgbClr val="F4F6F8"/>
          </a:solidFill>
          <a:ln/>
          <a:effectLst>
            <a:outerShdw sx="100000" sy="100000" kx="0" ky="0" algn="bl" rotWithShape="0" blurRad="101600" dist="38100" dir="5400000">
              <a:srgbClr val="000000">
                <a:alpha val="10000"/>
              </a:srgbClr>
            </a:outerShdw>
          </a:effectLst>
        </p:spPr>
      </p:sp>
      <p:sp>
        <p:nvSpPr>
          <p:cNvPr id="14" name="Text 12"/>
          <p:cNvSpPr/>
          <p:nvPr/>
        </p:nvSpPr>
        <p:spPr>
          <a:xfrm>
            <a:off x="896112" y="3941064"/>
            <a:ext cx="2880360" cy="365760"/>
          </a:xfrm>
          <a:prstGeom prst="rect">
            <a:avLst/>
          </a:prstGeom>
          <a:noFill/>
          <a:ln/>
        </p:spPr>
        <p:txBody>
          <a:bodyPr wrap="square" lIns="0" tIns="0" rIns="0" bIns="0" rtlCol="0" anchor="ctr"/>
          <a:lstStyle/>
          <a:p>
            <a:pPr indent="0" marL="0">
              <a:buNone/>
            </a:pPr>
            <a:r>
              <a:rPr lang="en-US" sz="1550" b="1" dirty="0">
                <a:solidFill>
                  <a:srgbClr val="2F6FE0"/>
                </a:solidFill>
                <a:latin typeface="Nunito" pitchFamily="34" charset="0"/>
                <a:ea typeface="Nunito" pitchFamily="34" charset="-122"/>
                <a:cs typeface="Nunito" pitchFamily="34" charset="-120"/>
              </a:rPr>
              <a:t>Fast, honest detection</a:t>
            </a:r>
            <a:endParaRPr lang="en-US" sz="1550" dirty="0"/>
          </a:p>
        </p:txBody>
      </p:sp>
      <p:sp>
        <p:nvSpPr>
          <p:cNvPr id="15" name="Text 13"/>
          <p:cNvSpPr/>
          <p:nvPr/>
        </p:nvSpPr>
        <p:spPr>
          <a:xfrm>
            <a:off x="896112" y="4325112"/>
            <a:ext cx="2880360" cy="914400"/>
          </a:xfrm>
          <a:prstGeom prst="rect">
            <a:avLst/>
          </a:prstGeom>
          <a:noFill/>
          <a:ln/>
        </p:spPr>
        <p:txBody>
          <a:bodyPr wrap="square" lIns="0" tIns="0" rIns="0" bIns="0" rtlCol="0" anchor="ctr"/>
          <a:lstStyle/>
          <a:p>
            <a:pPr indent="0" marL="0">
              <a:lnSpc>
                <a:spcPct val="108000"/>
              </a:lnSpc>
              <a:buNone/>
            </a:pPr>
            <a:r>
              <a:rPr lang="en-US" sz="1200" dirty="0">
                <a:solidFill>
                  <a:srgbClr val="5B6770"/>
                </a:solidFill>
                <a:latin typeface="Nunito" pitchFamily="34" charset="0"/>
                <a:ea typeface="Nunito" pitchFamily="34" charset="-122"/>
                <a:cs typeface="Nunito" pitchFamily="34" charset="-120"/>
              </a:rPr>
              <a:t>A stalled reader is caught in a fraction of a second, so the run aborts and the actuator stops promptly.</a:t>
            </a:r>
            <a:endParaRPr lang="en-US" sz="1200" dirty="0"/>
          </a:p>
        </p:txBody>
      </p:sp>
      <p:sp>
        <p:nvSpPr>
          <p:cNvPr id="16" name="Shape 14"/>
          <p:cNvSpPr/>
          <p:nvPr/>
        </p:nvSpPr>
        <p:spPr>
          <a:xfrm>
            <a:off x="4398264" y="3721608"/>
            <a:ext cx="3392424" cy="1600200"/>
          </a:xfrm>
          <a:prstGeom prst="roundRect">
            <a:avLst>
              <a:gd name="adj" fmla="val 3429"/>
            </a:avLst>
          </a:prstGeom>
          <a:solidFill>
            <a:srgbClr val="F4F6F8"/>
          </a:solidFill>
          <a:ln/>
          <a:effectLst>
            <a:outerShdw sx="100000" sy="100000" kx="0" ky="0" algn="bl" rotWithShape="0" blurRad="101600" dist="38100" dir="5400000">
              <a:srgbClr val="000000">
                <a:alpha val="10000"/>
              </a:srgbClr>
            </a:outerShdw>
          </a:effectLst>
        </p:spPr>
      </p:sp>
      <p:sp>
        <p:nvSpPr>
          <p:cNvPr id="17" name="Text 15"/>
          <p:cNvSpPr/>
          <p:nvPr/>
        </p:nvSpPr>
        <p:spPr>
          <a:xfrm>
            <a:off x="4654296" y="3941064"/>
            <a:ext cx="2880360" cy="365760"/>
          </a:xfrm>
          <a:prstGeom prst="rect">
            <a:avLst/>
          </a:prstGeom>
          <a:noFill/>
          <a:ln/>
        </p:spPr>
        <p:txBody>
          <a:bodyPr wrap="square" lIns="0" tIns="0" rIns="0" bIns="0" rtlCol="0" anchor="ctr"/>
          <a:lstStyle/>
          <a:p>
            <a:pPr indent="0" marL="0">
              <a:buNone/>
            </a:pPr>
            <a:r>
              <a:rPr lang="en-US" sz="1550" b="1" dirty="0">
                <a:solidFill>
                  <a:srgbClr val="2F6FE0"/>
                </a:solidFill>
                <a:latin typeface="Nunito" pitchFamily="34" charset="0"/>
                <a:ea typeface="Nunito" pitchFamily="34" charset="-122"/>
                <a:cs typeface="Nunito" pitchFamily="34" charset="-120"/>
              </a:rPr>
              <a:t>Right message per sensor</a:t>
            </a:r>
            <a:endParaRPr lang="en-US" sz="1550" dirty="0"/>
          </a:p>
        </p:txBody>
      </p:sp>
      <p:sp>
        <p:nvSpPr>
          <p:cNvPr id="18" name="Text 16"/>
          <p:cNvSpPr/>
          <p:nvPr/>
        </p:nvSpPr>
        <p:spPr>
          <a:xfrm>
            <a:off x="4654296" y="4325112"/>
            <a:ext cx="2880360" cy="914400"/>
          </a:xfrm>
          <a:prstGeom prst="rect">
            <a:avLst/>
          </a:prstGeom>
          <a:noFill/>
          <a:ln/>
        </p:spPr>
        <p:txBody>
          <a:bodyPr wrap="square" lIns="0" tIns="0" rIns="0" bIns="0" rtlCol="0" anchor="ctr"/>
          <a:lstStyle/>
          <a:p>
            <a:pPr indent="0" marL="0">
              <a:lnSpc>
                <a:spcPct val="108000"/>
              </a:lnSpc>
              <a:buNone/>
            </a:pPr>
            <a:r>
              <a:rPr lang="en-US" sz="1200" dirty="0">
                <a:solidFill>
                  <a:srgbClr val="5B6770"/>
                </a:solidFill>
                <a:latin typeface="Nunito" pitchFamily="34" charset="0"/>
                <a:ea typeface="Nunito" pitchFamily="34" charset="-122"/>
                <a:cs typeface="Nunito" pitchFamily="34" charset="-120"/>
              </a:rPr>
              <a:t>A load-cell drop and a Zaber drop show different reconnect guidance, not one generic error.</a:t>
            </a:r>
            <a:endParaRPr lang="en-US" sz="1200" dirty="0"/>
          </a:p>
        </p:txBody>
      </p:sp>
      <p:sp>
        <p:nvSpPr>
          <p:cNvPr id="19" name="Shape 17"/>
          <p:cNvSpPr/>
          <p:nvPr/>
        </p:nvSpPr>
        <p:spPr>
          <a:xfrm>
            <a:off x="8156448" y="3721608"/>
            <a:ext cx="3392424" cy="1600200"/>
          </a:xfrm>
          <a:prstGeom prst="roundRect">
            <a:avLst>
              <a:gd name="adj" fmla="val 3429"/>
            </a:avLst>
          </a:prstGeom>
          <a:solidFill>
            <a:srgbClr val="F4F6F8"/>
          </a:solidFill>
          <a:ln/>
          <a:effectLst>
            <a:outerShdw sx="100000" sy="100000" kx="0" ky="0" algn="bl" rotWithShape="0" blurRad="101600" dist="38100" dir="5400000">
              <a:srgbClr val="000000">
                <a:alpha val="10000"/>
              </a:srgbClr>
            </a:outerShdw>
          </a:effectLst>
        </p:spPr>
      </p:sp>
      <p:sp>
        <p:nvSpPr>
          <p:cNvPr id="20" name="Text 18"/>
          <p:cNvSpPr/>
          <p:nvPr/>
        </p:nvSpPr>
        <p:spPr>
          <a:xfrm>
            <a:off x="8412480" y="3941064"/>
            <a:ext cx="2880360" cy="365760"/>
          </a:xfrm>
          <a:prstGeom prst="rect">
            <a:avLst/>
          </a:prstGeom>
          <a:noFill/>
          <a:ln/>
        </p:spPr>
        <p:txBody>
          <a:bodyPr wrap="square" lIns="0" tIns="0" rIns="0" bIns="0" rtlCol="0" anchor="ctr"/>
          <a:lstStyle/>
          <a:p>
            <a:pPr indent="0" marL="0">
              <a:buNone/>
            </a:pPr>
            <a:r>
              <a:rPr lang="en-US" sz="1550" b="1" dirty="0">
                <a:solidFill>
                  <a:srgbClr val="2F6FE0"/>
                </a:solidFill>
                <a:latin typeface="Nunito" pitchFamily="34" charset="0"/>
                <a:ea typeface="Nunito" pitchFamily="34" charset="-122"/>
                <a:cs typeface="Nunito" pitchFamily="34" charset="-120"/>
              </a:rPr>
              <a:t>Live COM port list</a:t>
            </a:r>
            <a:endParaRPr lang="en-US" sz="1550" dirty="0"/>
          </a:p>
        </p:txBody>
      </p:sp>
      <p:sp>
        <p:nvSpPr>
          <p:cNvPr id="21" name="Text 19"/>
          <p:cNvSpPr/>
          <p:nvPr/>
        </p:nvSpPr>
        <p:spPr>
          <a:xfrm>
            <a:off x="8412480" y="4325112"/>
            <a:ext cx="2880360" cy="914400"/>
          </a:xfrm>
          <a:prstGeom prst="rect">
            <a:avLst/>
          </a:prstGeom>
          <a:noFill/>
          <a:ln/>
        </p:spPr>
        <p:txBody>
          <a:bodyPr wrap="square" lIns="0" tIns="0" rIns="0" bIns="0" rtlCol="0" anchor="ctr"/>
          <a:lstStyle/>
          <a:p>
            <a:pPr indent="0" marL="0">
              <a:lnSpc>
                <a:spcPct val="108000"/>
              </a:lnSpc>
              <a:buNone/>
            </a:pPr>
            <a:r>
              <a:rPr lang="en-US" sz="1200" dirty="0">
                <a:solidFill>
                  <a:srgbClr val="5B6770"/>
                </a:solidFill>
                <a:latin typeface="Nunito" pitchFamily="34" charset="0"/>
                <a:ea typeface="Nunito" pitchFamily="34" charset="-122"/>
                <a:cs typeface="Nunito" pitchFamily="34" charset="-120"/>
              </a:rPr>
              <a:t>A cable plugged in after the app opens shows up in the port picker on its own.</a:t>
            </a:r>
            <a:endParaRPr lang="en-US" sz="1200" dirty="0"/>
          </a:p>
        </p:txBody>
      </p:sp>
      <p:sp>
        <p:nvSpPr>
          <p:cNvPr id="22" name="Text 20"/>
          <p:cNvSpPr/>
          <p:nvPr/>
        </p:nvSpPr>
        <p:spPr>
          <a:xfrm>
            <a:off x="640080" y="5806440"/>
            <a:ext cx="10908792" cy="365760"/>
          </a:xfrm>
          <a:prstGeom prst="rect">
            <a:avLst/>
          </a:prstGeom>
          <a:noFill/>
          <a:ln/>
        </p:spPr>
        <p:txBody>
          <a:bodyPr wrap="square" lIns="0" tIns="0" rIns="0" bIns="0" rtlCol="0" anchor="ctr"/>
          <a:lstStyle/>
          <a:p>
            <a:pPr indent="0" marL="0">
              <a:lnSpc>
                <a:spcPct val="105000"/>
              </a:lnSpc>
              <a:buNone/>
            </a:pPr>
            <a:r>
              <a:rPr lang="en-US" sz="1150" i="1" dirty="0">
                <a:solidFill>
                  <a:srgbClr val="5B6770"/>
                </a:solidFill>
                <a:latin typeface="Nunito" pitchFamily="34" charset="0"/>
                <a:ea typeface="Nunito" pitchFamily="34" charset="-122"/>
                <a:cs typeface="Nunito" pitchFamily="34" charset="-120"/>
              </a:rPr>
              <a:t>The load-cell recovery behavior is verified in simulation and by code review; the real-device reopen still needs a bench test on the Windows rig.</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REFERENCE</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Limits, bounds, and safety stops</a:t>
            </a:r>
            <a:endParaRPr lang="en-US" sz="3100" dirty="0"/>
          </a:p>
        </p:txBody>
      </p:sp>
      <p:sp>
        <p:nvSpPr>
          <p:cNvPr id="4" name="Text 2"/>
          <p:cNvSpPr/>
          <p:nvPr/>
        </p:nvSpPr>
        <p:spPr>
          <a:xfrm>
            <a:off x="640080" y="1664208"/>
            <a:ext cx="5180076" cy="365760"/>
          </a:xfrm>
          <a:prstGeom prst="rect">
            <a:avLst/>
          </a:prstGeom>
          <a:noFill/>
          <a:ln/>
        </p:spPr>
        <p:txBody>
          <a:bodyPr wrap="square" lIns="0" tIns="0" rIns="0" bIns="0" rtlCol="0" anchor="ctr"/>
          <a:lstStyle/>
          <a:p>
            <a:pPr indent="0" marL="0">
              <a:buNone/>
            </a:pPr>
            <a:r>
              <a:rPr lang="en-US" sz="1400" b="1" dirty="0">
                <a:solidFill>
                  <a:srgbClr val="2F6FE0"/>
                </a:solidFill>
                <a:latin typeface="Nunito" pitchFamily="34" charset="0"/>
                <a:ea typeface="Nunito" pitchFamily="34" charset="-122"/>
                <a:cs typeface="Nunito" pitchFamily="34" charset="-120"/>
              </a:rPr>
              <a:t>Operator inputs - snap into range on commit</a:t>
            </a:r>
            <a:endParaRPr lang="en-US" sz="1400" dirty="0"/>
          </a:p>
        </p:txBody>
      </p:sp>
      <p:sp>
        <p:nvSpPr>
          <p:cNvPr id="5" name="Shape 3"/>
          <p:cNvSpPr/>
          <p:nvPr/>
        </p:nvSpPr>
        <p:spPr>
          <a:xfrm>
            <a:off x="640080" y="2029968"/>
            <a:ext cx="5180076" cy="0"/>
          </a:xfrm>
          <a:prstGeom prst="line">
            <a:avLst/>
          </a:prstGeom>
          <a:noFill/>
          <a:ln w="12700">
            <a:solidFill>
              <a:srgbClr val="DDE3E8"/>
            </a:solidFill>
            <a:prstDash val="solid"/>
          </a:ln>
        </p:spPr>
      </p:sp>
      <p:sp>
        <p:nvSpPr>
          <p:cNvPr id="6" name="Text 4"/>
          <p:cNvSpPr/>
          <p:nvPr/>
        </p:nvSpPr>
        <p:spPr>
          <a:xfrm>
            <a:off x="640080" y="2212848"/>
            <a:ext cx="2693640" cy="384048"/>
          </a:xfrm>
          <a:prstGeom prst="rect">
            <a:avLst/>
          </a:prstGeom>
          <a:noFill/>
          <a:ln/>
        </p:spPr>
        <p:txBody>
          <a:bodyPr wrap="square" lIns="0" tIns="0" rIns="0" bIns="0" rtlCol="0" anchor="ctr"/>
          <a:lstStyle/>
          <a:p>
            <a:pPr indent="0" marL="0">
              <a:buNone/>
            </a:pPr>
            <a:r>
              <a:rPr lang="en-US" sz="1350" dirty="0">
                <a:solidFill>
                  <a:srgbClr val="1F2933"/>
                </a:solidFill>
                <a:latin typeface="Nunito" pitchFamily="34" charset="0"/>
                <a:ea typeface="Nunito" pitchFamily="34" charset="-122"/>
                <a:cs typeface="Nunito" pitchFamily="34" charset="-120"/>
              </a:rPr>
              <a:t>Manual position</a:t>
            </a:r>
            <a:endParaRPr lang="en-US" sz="1350" dirty="0"/>
          </a:p>
        </p:txBody>
      </p:sp>
      <p:sp>
        <p:nvSpPr>
          <p:cNvPr id="7" name="Text 5"/>
          <p:cNvSpPr/>
          <p:nvPr/>
        </p:nvSpPr>
        <p:spPr>
          <a:xfrm>
            <a:off x="3333720" y="2212848"/>
            <a:ext cx="2486436" cy="384048"/>
          </a:xfrm>
          <a:prstGeom prst="rect">
            <a:avLst/>
          </a:prstGeom>
          <a:noFill/>
          <a:ln/>
        </p:spPr>
        <p:txBody>
          <a:bodyPr wrap="square" lIns="0" tIns="0" rIns="0" bIns="0" rtlCol="0" anchor="ctr"/>
          <a:lstStyle/>
          <a:p>
            <a:pPr algn="r" indent="0" marL="0">
              <a:buNone/>
            </a:pPr>
            <a:r>
              <a:rPr lang="en-US" sz="1350" b="1" dirty="0">
                <a:solidFill>
                  <a:srgbClr val="1F2933"/>
                </a:solidFill>
                <a:latin typeface="Nunito" pitchFamily="34" charset="0"/>
                <a:ea typeface="Nunito" pitchFamily="34" charset="-122"/>
                <a:cs typeface="Nunito" pitchFamily="34" charset="-120"/>
              </a:rPr>
              <a:t>17 to 50.8 mm</a:t>
            </a:r>
            <a:endParaRPr lang="en-US" sz="1350" dirty="0"/>
          </a:p>
        </p:txBody>
      </p:sp>
      <p:sp>
        <p:nvSpPr>
          <p:cNvPr id="8" name="Shape 6"/>
          <p:cNvSpPr/>
          <p:nvPr/>
        </p:nvSpPr>
        <p:spPr>
          <a:xfrm>
            <a:off x="640080" y="2651760"/>
            <a:ext cx="5180076" cy="0"/>
          </a:xfrm>
          <a:prstGeom prst="line">
            <a:avLst/>
          </a:prstGeom>
          <a:noFill/>
          <a:ln w="9525">
            <a:solidFill>
              <a:srgbClr val="EEF1F4"/>
            </a:solidFill>
            <a:prstDash val="solid"/>
          </a:ln>
        </p:spPr>
      </p:sp>
      <p:sp>
        <p:nvSpPr>
          <p:cNvPr id="9" name="Text 7"/>
          <p:cNvSpPr/>
          <p:nvPr/>
        </p:nvSpPr>
        <p:spPr>
          <a:xfrm>
            <a:off x="640080" y="2688336"/>
            <a:ext cx="2693640" cy="384048"/>
          </a:xfrm>
          <a:prstGeom prst="rect">
            <a:avLst/>
          </a:prstGeom>
          <a:noFill/>
          <a:ln/>
        </p:spPr>
        <p:txBody>
          <a:bodyPr wrap="square" lIns="0" tIns="0" rIns="0" bIns="0" rtlCol="0" anchor="ctr"/>
          <a:lstStyle/>
          <a:p>
            <a:pPr indent="0" marL="0">
              <a:buNone/>
            </a:pPr>
            <a:r>
              <a:rPr lang="en-US" sz="1350" dirty="0">
                <a:solidFill>
                  <a:srgbClr val="1F2933"/>
                </a:solidFill>
                <a:latin typeface="Nunito" pitchFamily="34" charset="0"/>
                <a:ea typeface="Nunito" pitchFamily="34" charset="-122"/>
                <a:cs typeface="Nunito" pitchFamily="34" charset="-120"/>
              </a:rPr>
              <a:t>Target force (manual)</a:t>
            </a:r>
            <a:endParaRPr lang="en-US" sz="1350" dirty="0"/>
          </a:p>
        </p:txBody>
      </p:sp>
      <p:sp>
        <p:nvSpPr>
          <p:cNvPr id="10" name="Text 8"/>
          <p:cNvSpPr/>
          <p:nvPr/>
        </p:nvSpPr>
        <p:spPr>
          <a:xfrm>
            <a:off x="3333720" y="2688336"/>
            <a:ext cx="2486436" cy="384048"/>
          </a:xfrm>
          <a:prstGeom prst="rect">
            <a:avLst/>
          </a:prstGeom>
          <a:noFill/>
          <a:ln/>
        </p:spPr>
        <p:txBody>
          <a:bodyPr wrap="square" lIns="0" tIns="0" rIns="0" bIns="0" rtlCol="0" anchor="ctr"/>
          <a:lstStyle/>
          <a:p>
            <a:pPr algn="r" indent="0" marL="0">
              <a:buNone/>
            </a:pPr>
            <a:r>
              <a:rPr lang="en-US" sz="1350" b="1" dirty="0">
                <a:solidFill>
                  <a:srgbClr val="1F2933"/>
                </a:solidFill>
                <a:latin typeface="Nunito" pitchFamily="34" charset="0"/>
                <a:ea typeface="Nunito" pitchFamily="34" charset="-122"/>
                <a:cs typeface="Nunito" pitchFamily="34" charset="-120"/>
              </a:rPr>
              <a:t>0 to 32 N</a:t>
            </a:r>
            <a:endParaRPr lang="en-US" sz="1350" dirty="0"/>
          </a:p>
        </p:txBody>
      </p:sp>
      <p:sp>
        <p:nvSpPr>
          <p:cNvPr id="11" name="Shape 9"/>
          <p:cNvSpPr/>
          <p:nvPr/>
        </p:nvSpPr>
        <p:spPr>
          <a:xfrm>
            <a:off x="640080" y="3127248"/>
            <a:ext cx="5180076" cy="0"/>
          </a:xfrm>
          <a:prstGeom prst="line">
            <a:avLst/>
          </a:prstGeom>
          <a:noFill/>
          <a:ln w="9525">
            <a:solidFill>
              <a:srgbClr val="EEF1F4"/>
            </a:solidFill>
            <a:prstDash val="solid"/>
          </a:ln>
        </p:spPr>
      </p:sp>
      <p:sp>
        <p:nvSpPr>
          <p:cNvPr id="12" name="Text 10"/>
          <p:cNvSpPr/>
          <p:nvPr/>
        </p:nvSpPr>
        <p:spPr>
          <a:xfrm>
            <a:off x="640080" y="3163824"/>
            <a:ext cx="2693640" cy="384048"/>
          </a:xfrm>
          <a:prstGeom prst="rect">
            <a:avLst/>
          </a:prstGeom>
          <a:noFill/>
          <a:ln/>
        </p:spPr>
        <p:txBody>
          <a:bodyPr wrap="square" lIns="0" tIns="0" rIns="0" bIns="0" rtlCol="0" anchor="ctr"/>
          <a:lstStyle/>
          <a:p>
            <a:pPr indent="0" marL="0">
              <a:buNone/>
            </a:pPr>
            <a:r>
              <a:rPr lang="en-US" sz="1350" dirty="0">
                <a:solidFill>
                  <a:srgbClr val="1F2933"/>
                </a:solidFill>
                <a:latin typeface="Nunito" pitchFamily="34" charset="0"/>
                <a:ea typeface="Nunito" pitchFamily="34" charset="-122"/>
                <a:cs typeface="Nunito" pitchFamily="34" charset="-120"/>
              </a:rPr>
              <a:t>Increment distance</a:t>
            </a:r>
            <a:endParaRPr lang="en-US" sz="1350" dirty="0"/>
          </a:p>
        </p:txBody>
      </p:sp>
      <p:sp>
        <p:nvSpPr>
          <p:cNvPr id="13" name="Text 11"/>
          <p:cNvSpPr/>
          <p:nvPr/>
        </p:nvSpPr>
        <p:spPr>
          <a:xfrm>
            <a:off x="3333720" y="3163824"/>
            <a:ext cx="2486436" cy="384048"/>
          </a:xfrm>
          <a:prstGeom prst="rect">
            <a:avLst/>
          </a:prstGeom>
          <a:noFill/>
          <a:ln/>
        </p:spPr>
        <p:txBody>
          <a:bodyPr wrap="square" lIns="0" tIns="0" rIns="0" bIns="0" rtlCol="0" anchor="ctr"/>
          <a:lstStyle/>
          <a:p>
            <a:pPr algn="r" indent="0" marL="0">
              <a:buNone/>
            </a:pPr>
            <a:r>
              <a:rPr lang="en-US" sz="1350" b="1" dirty="0">
                <a:solidFill>
                  <a:srgbClr val="1F2933"/>
                </a:solidFill>
                <a:latin typeface="Nunito" pitchFamily="34" charset="0"/>
                <a:ea typeface="Nunito" pitchFamily="34" charset="-122"/>
                <a:cs typeface="Nunito" pitchFamily="34" charset="-120"/>
              </a:rPr>
              <a:t>0.1 to 12 mm</a:t>
            </a:r>
            <a:endParaRPr lang="en-US" sz="1350" dirty="0"/>
          </a:p>
        </p:txBody>
      </p:sp>
      <p:sp>
        <p:nvSpPr>
          <p:cNvPr id="14" name="Shape 12"/>
          <p:cNvSpPr/>
          <p:nvPr/>
        </p:nvSpPr>
        <p:spPr>
          <a:xfrm>
            <a:off x="640080" y="3602736"/>
            <a:ext cx="5180076" cy="0"/>
          </a:xfrm>
          <a:prstGeom prst="line">
            <a:avLst/>
          </a:prstGeom>
          <a:noFill/>
          <a:ln w="9525">
            <a:solidFill>
              <a:srgbClr val="EEF1F4"/>
            </a:solidFill>
            <a:prstDash val="solid"/>
          </a:ln>
        </p:spPr>
      </p:sp>
      <p:sp>
        <p:nvSpPr>
          <p:cNvPr id="15" name="Text 13"/>
          <p:cNvSpPr/>
          <p:nvPr/>
        </p:nvSpPr>
        <p:spPr>
          <a:xfrm>
            <a:off x="640080" y="3639312"/>
            <a:ext cx="2693640" cy="384048"/>
          </a:xfrm>
          <a:prstGeom prst="rect">
            <a:avLst/>
          </a:prstGeom>
          <a:noFill/>
          <a:ln/>
        </p:spPr>
        <p:txBody>
          <a:bodyPr wrap="square" lIns="0" tIns="0" rIns="0" bIns="0" rtlCol="0" anchor="ctr"/>
          <a:lstStyle/>
          <a:p>
            <a:pPr indent="0" marL="0">
              <a:buNone/>
            </a:pPr>
            <a:r>
              <a:rPr lang="en-US" sz="1350" dirty="0">
                <a:solidFill>
                  <a:srgbClr val="1F2933"/>
                </a:solidFill>
                <a:latin typeface="Nunito" pitchFamily="34" charset="0"/>
                <a:ea typeface="Nunito" pitchFamily="34" charset="-122"/>
                <a:cs typeface="Nunito" pitchFamily="34" charset="-120"/>
              </a:rPr>
              <a:t>Actuator speed</a:t>
            </a:r>
            <a:endParaRPr lang="en-US" sz="1350" dirty="0"/>
          </a:p>
        </p:txBody>
      </p:sp>
      <p:sp>
        <p:nvSpPr>
          <p:cNvPr id="16" name="Text 14"/>
          <p:cNvSpPr/>
          <p:nvPr/>
        </p:nvSpPr>
        <p:spPr>
          <a:xfrm>
            <a:off x="3333720" y="3639312"/>
            <a:ext cx="2486436" cy="384048"/>
          </a:xfrm>
          <a:prstGeom prst="rect">
            <a:avLst/>
          </a:prstGeom>
          <a:noFill/>
          <a:ln/>
        </p:spPr>
        <p:txBody>
          <a:bodyPr wrap="square" lIns="0" tIns="0" rIns="0" bIns="0" rtlCol="0" anchor="ctr"/>
          <a:lstStyle/>
          <a:p>
            <a:pPr algn="r" indent="0" marL="0">
              <a:buNone/>
            </a:pPr>
            <a:r>
              <a:rPr lang="en-US" sz="1350" b="1" dirty="0">
                <a:solidFill>
                  <a:srgbClr val="1F2933"/>
                </a:solidFill>
                <a:latin typeface="Nunito" pitchFamily="34" charset="0"/>
                <a:ea typeface="Nunito" pitchFamily="34" charset="-122"/>
                <a:cs typeface="Nunito" pitchFamily="34" charset="-120"/>
              </a:rPr>
              <a:t>0.01 to 2 mm/s</a:t>
            </a:r>
            <a:endParaRPr lang="en-US" sz="1350" dirty="0"/>
          </a:p>
        </p:txBody>
      </p:sp>
      <p:sp>
        <p:nvSpPr>
          <p:cNvPr id="17" name="Shape 15"/>
          <p:cNvSpPr/>
          <p:nvPr/>
        </p:nvSpPr>
        <p:spPr>
          <a:xfrm>
            <a:off x="640080" y="4078224"/>
            <a:ext cx="5180076" cy="0"/>
          </a:xfrm>
          <a:prstGeom prst="line">
            <a:avLst/>
          </a:prstGeom>
          <a:noFill/>
          <a:ln w="9525">
            <a:solidFill>
              <a:srgbClr val="EEF1F4"/>
            </a:solidFill>
            <a:prstDash val="solid"/>
          </a:ln>
        </p:spPr>
      </p:sp>
      <p:sp>
        <p:nvSpPr>
          <p:cNvPr id="18" name="Text 16"/>
          <p:cNvSpPr/>
          <p:nvPr/>
        </p:nvSpPr>
        <p:spPr>
          <a:xfrm>
            <a:off x="640080" y="4114800"/>
            <a:ext cx="2693640" cy="384048"/>
          </a:xfrm>
          <a:prstGeom prst="rect">
            <a:avLst/>
          </a:prstGeom>
          <a:noFill/>
          <a:ln/>
        </p:spPr>
        <p:txBody>
          <a:bodyPr wrap="square" lIns="0" tIns="0" rIns="0" bIns="0" rtlCol="0" anchor="ctr"/>
          <a:lstStyle/>
          <a:p>
            <a:pPr indent="0" marL="0">
              <a:buNone/>
            </a:pPr>
            <a:r>
              <a:rPr lang="en-US" sz="1350" dirty="0">
                <a:solidFill>
                  <a:srgbClr val="1F2933"/>
                </a:solidFill>
                <a:latin typeface="Nunito" pitchFamily="34" charset="0"/>
                <a:ea typeface="Nunito" pitchFamily="34" charset="-122"/>
                <a:cs typeface="Nunito" pitchFamily="34" charset="-120"/>
              </a:rPr>
              <a:t>Fatigue force bounds</a:t>
            </a:r>
            <a:endParaRPr lang="en-US" sz="1350" dirty="0"/>
          </a:p>
        </p:txBody>
      </p:sp>
      <p:sp>
        <p:nvSpPr>
          <p:cNvPr id="19" name="Text 17"/>
          <p:cNvSpPr/>
          <p:nvPr/>
        </p:nvSpPr>
        <p:spPr>
          <a:xfrm>
            <a:off x="3333720" y="4114800"/>
            <a:ext cx="2486436" cy="384048"/>
          </a:xfrm>
          <a:prstGeom prst="rect">
            <a:avLst/>
          </a:prstGeom>
          <a:noFill/>
          <a:ln/>
        </p:spPr>
        <p:txBody>
          <a:bodyPr wrap="square" lIns="0" tIns="0" rIns="0" bIns="0" rtlCol="0" anchor="ctr"/>
          <a:lstStyle/>
          <a:p>
            <a:pPr algn="r" indent="0" marL="0">
              <a:buNone/>
            </a:pPr>
            <a:r>
              <a:rPr lang="en-US" sz="1350" b="1" dirty="0">
                <a:solidFill>
                  <a:srgbClr val="1F2933"/>
                </a:solidFill>
                <a:latin typeface="Nunito" pitchFamily="34" charset="0"/>
                <a:ea typeface="Nunito" pitchFamily="34" charset="-122"/>
                <a:cs typeface="Nunito" pitchFamily="34" charset="-120"/>
              </a:rPr>
              <a:t>up to 32 N, upper &gt; lower</a:t>
            </a:r>
            <a:endParaRPr lang="en-US" sz="1350" dirty="0"/>
          </a:p>
        </p:txBody>
      </p:sp>
      <p:sp>
        <p:nvSpPr>
          <p:cNvPr id="20" name="Shape 18"/>
          <p:cNvSpPr/>
          <p:nvPr/>
        </p:nvSpPr>
        <p:spPr>
          <a:xfrm>
            <a:off x="640080" y="4553712"/>
            <a:ext cx="5180076" cy="0"/>
          </a:xfrm>
          <a:prstGeom prst="line">
            <a:avLst/>
          </a:prstGeom>
          <a:noFill/>
          <a:ln w="9525">
            <a:solidFill>
              <a:srgbClr val="EEF1F4"/>
            </a:solidFill>
            <a:prstDash val="solid"/>
          </a:ln>
        </p:spPr>
      </p:sp>
      <p:sp>
        <p:nvSpPr>
          <p:cNvPr id="21" name="Text 19"/>
          <p:cNvSpPr/>
          <p:nvPr/>
        </p:nvSpPr>
        <p:spPr>
          <a:xfrm>
            <a:off x="640080" y="4590288"/>
            <a:ext cx="2693640" cy="384048"/>
          </a:xfrm>
          <a:prstGeom prst="rect">
            <a:avLst/>
          </a:prstGeom>
          <a:noFill/>
          <a:ln/>
        </p:spPr>
        <p:txBody>
          <a:bodyPr wrap="square" lIns="0" tIns="0" rIns="0" bIns="0" rtlCol="0" anchor="ctr"/>
          <a:lstStyle/>
          <a:p>
            <a:pPr indent="0" marL="0">
              <a:buNone/>
            </a:pPr>
            <a:r>
              <a:rPr lang="en-US" sz="1350" dirty="0">
                <a:solidFill>
                  <a:srgbClr val="1F2933"/>
                </a:solidFill>
                <a:latin typeface="Nunito" pitchFamily="34" charset="0"/>
                <a:ea typeface="Nunito" pitchFamily="34" charset="-122"/>
                <a:cs typeface="Nunito" pitchFamily="34" charset="-120"/>
              </a:rPr>
              <a:t>Fatigue frequency</a:t>
            </a:r>
            <a:endParaRPr lang="en-US" sz="1350" dirty="0"/>
          </a:p>
        </p:txBody>
      </p:sp>
      <p:sp>
        <p:nvSpPr>
          <p:cNvPr id="22" name="Text 20"/>
          <p:cNvSpPr/>
          <p:nvPr/>
        </p:nvSpPr>
        <p:spPr>
          <a:xfrm>
            <a:off x="3333720" y="4590288"/>
            <a:ext cx="2486436" cy="384048"/>
          </a:xfrm>
          <a:prstGeom prst="rect">
            <a:avLst/>
          </a:prstGeom>
          <a:noFill/>
          <a:ln/>
        </p:spPr>
        <p:txBody>
          <a:bodyPr wrap="square" lIns="0" tIns="0" rIns="0" bIns="0" rtlCol="0" anchor="ctr"/>
          <a:lstStyle/>
          <a:p>
            <a:pPr algn="r" indent="0" marL="0">
              <a:buNone/>
            </a:pPr>
            <a:r>
              <a:rPr lang="en-US" sz="1350" b="1" dirty="0">
                <a:solidFill>
                  <a:srgbClr val="1F2933"/>
                </a:solidFill>
                <a:latin typeface="Nunito" pitchFamily="34" charset="0"/>
                <a:ea typeface="Nunito" pitchFamily="34" charset="-122"/>
                <a:cs typeface="Nunito" pitchFamily="34" charset="-120"/>
              </a:rPr>
              <a:t>0.1-5 Hz (square 0.1-1)</a:t>
            </a:r>
            <a:endParaRPr lang="en-US" sz="1350" dirty="0"/>
          </a:p>
        </p:txBody>
      </p:sp>
      <p:sp>
        <p:nvSpPr>
          <p:cNvPr id="23" name="Shape 21"/>
          <p:cNvSpPr/>
          <p:nvPr/>
        </p:nvSpPr>
        <p:spPr>
          <a:xfrm>
            <a:off x="640080" y="5029200"/>
            <a:ext cx="5180076" cy="0"/>
          </a:xfrm>
          <a:prstGeom prst="line">
            <a:avLst/>
          </a:prstGeom>
          <a:noFill/>
          <a:ln w="9525">
            <a:solidFill>
              <a:srgbClr val="EEF1F4"/>
            </a:solidFill>
            <a:prstDash val="solid"/>
          </a:ln>
        </p:spPr>
      </p:sp>
      <p:sp>
        <p:nvSpPr>
          <p:cNvPr id="24" name="Text 22"/>
          <p:cNvSpPr/>
          <p:nvPr/>
        </p:nvSpPr>
        <p:spPr>
          <a:xfrm>
            <a:off x="640080" y="5065776"/>
            <a:ext cx="2693640" cy="384048"/>
          </a:xfrm>
          <a:prstGeom prst="rect">
            <a:avLst/>
          </a:prstGeom>
          <a:noFill/>
          <a:ln/>
        </p:spPr>
        <p:txBody>
          <a:bodyPr wrap="square" lIns="0" tIns="0" rIns="0" bIns="0" rtlCol="0" anchor="ctr"/>
          <a:lstStyle/>
          <a:p>
            <a:pPr indent="0" marL="0">
              <a:buNone/>
            </a:pPr>
            <a:r>
              <a:rPr lang="en-US" sz="1350" dirty="0">
                <a:solidFill>
                  <a:srgbClr val="1F2933"/>
                </a:solidFill>
                <a:latin typeface="Nunito" pitchFamily="34" charset="0"/>
                <a:ea typeface="Nunito" pitchFamily="34" charset="-122"/>
                <a:cs typeface="Nunito" pitchFamily="34" charset="-120"/>
              </a:rPr>
              <a:t>EM runs per test</a:t>
            </a:r>
            <a:endParaRPr lang="en-US" sz="1350" dirty="0"/>
          </a:p>
        </p:txBody>
      </p:sp>
      <p:sp>
        <p:nvSpPr>
          <p:cNvPr id="25" name="Text 23"/>
          <p:cNvSpPr/>
          <p:nvPr/>
        </p:nvSpPr>
        <p:spPr>
          <a:xfrm>
            <a:off x="3333720" y="5065776"/>
            <a:ext cx="2486436" cy="384048"/>
          </a:xfrm>
          <a:prstGeom prst="rect">
            <a:avLst/>
          </a:prstGeom>
          <a:noFill/>
          <a:ln/>
        </p:spPr>
        <p:txBody>
          <a:bodyPr wrap="square" lIns="0" tIns="0" rIns="0" bIns="0" rtlCol="0" anchor="ctr"/>
          <a:lstStyle/>
          <a:p>
            <a:pPr algn="r" indent="0" marL="0">
              <a:buNone/>
            </a:pPr>
            <a:r>
              <a:rPr lang="en-US" sz="1350" b="1" dirty="0">
                <a:solidFill>
                  <a:srgbClr val="1F2933"/>
                </a:solidFill>
                <a:latin typeface="Nunito" pitchFamily="34" charset="0"/>
                <a:ea typeface="Nunito" pitchFamily="34" charset="-122"/>
                <a:cs typeface="Nunito" pitchFamily="34" charset="-120"/>
              </a:rPr>
              <a:t>1 to 10</a:t>
            </a:r>
            <a:endParaRPr lang="en-US" sz="1350" dirty="0"/>
          </a:p>
        </p:txBody>
      </p:sp>
      <p:sp>
        <p:nvSpPr>
          <p:cNvPr id="26" name="Text 24"/>
          <p:cNvSpPr/>
          <p:nvPr/>
        </p:nvSpPr>
        <p:spPr>
          <a:xfrm>
            <a:off x="6368796" y="1664208"/>
            <a:ext cx="5180076" cy="365760"/>
          </a:xfrm>
          <a:prstGeom prst="rect">
            <a:avLst/>
          </a:prstGeom>
          <a:noFill/>
          <a:ln/>
        </p:spPr>
        <p:txBody>
          <a:bodyPr wrap="square" lIns="0" tIns="0" rIns="0" bIns="0" rtlCol="0" anchor="ctr"/>
          <a:lstStyle/>
          <a:p>
            <a:pPr indent="0" marL="0">
              <a:buNone/>
            </a:pPr>
            <a:r>
              <a:rPr lang="en-US" sz="1400" b="1" dirty="0">
                <a:solidFill>
                  <a:srgbClr val="2F6FE0"/>
                </a:solidFill>
                <a:latin typeface="Nunito" pitchFamily="34" charset="0"/>
                <a:ea typeface="Nunito" pitchFamily="34" charset="-122"/>
                <a:cs typeface="Nunito" pitchFamily="34" charset="-120"/>
              </a:rPr>
              <a:t>Fixed physical and safety limits</a:t>
            </a:r>
            <a:endParaRPr lang="en-US" sz="1400" dirty="0"/>
          </a:p>
        </p:txBody>
      </p:sp>
      <p:sp>
        <p:nvSpPr>
          <p:cNvPr id="27" name="Shape 25"/>
          <p:cNvSpPr/>
          <p:nvPr/>
        </p:nvSpPr>
        <p:spPr>
          <a:xfrm>
            <a:off x="6368796" y="2029968"/>
            <a:ext cx="5180076" cy="0"/>
          </a:xfrm>
          <a:prstGeom prst="line">
            <a:avLst/>
          </a:prstGeom>
          <a:noFill/>
          <a:ln w="12700">
            <a:solidFill>
              <a:srgbClr val="DDE3E8"/>
            </a:solidFill>
            <a:prstDash val="solid"/>
          </a:ln>
        </p:spPr>
      </p:sp>
      <p:sp>
        <p:nvSpPr>
          <p:cNvPr id="28" name="Text 26"/>
          <p:cNvSpPr/>
          <p:nvPr/>
        </p:nvSpPr>
        <p:spPr>
          <a:xfrm>
            <a:off x="6368796" y="2212848"/>
            <a:ext cx="2693640" cy="384048"/>
          </a:xfrm>
          <a:prstGeom prst="rect">
            <a:avLst/>
          </a:prstGeom>
          <a:noFill/>
          <a:ln/>
        </p:spPr>
        <p:txBody>
          <a:bodyPr wrap="square" lIns="0" tIns="0" rIns="0" bIns="0" rtlCol="0" anchor="ctr"/>
          <a:lstStyle/>
          <a:p>
            <a:pPr indent="0" marL="0">
              <a:buNone/>
            </a:pPr>
            <a:r>
              <a:rPr lang="en-US" sz="1350" dirty="0">
                <a:solidFill>
                  <a:srgbClr val="1F2933"/>
                </a:solidFill>
                <a:latin typeface="Nunito" pitchFamily="34" charset="0"/>
                <a:ea typeface="Nunito" pitchFamily="34" charset="-122"/>
                <a:cs typeface="Nunito" pitchFamily="34" charset="-120"/>
              </a:rPr>
              <a:t>Travel range</a:t>
            </a:r>
            <a:endParaRPr lang="en-US" sz="1350" dirty="0"/>
          </a:p>
        </p:txBody>
      </p:sp>
      <p:sp>
        <p:nvSpPr>
          <p:cNvPr id="29" name="Text 27"/>
          <p:cNvSpPr/>
          <p:nvPr/>
        </p:nvSpPr>
        <p:spPr>
          <a:xfrm>
            <a:off x="9062436" y="2212848"/>
            <a:ext cx="2486436" cy="384048"/>
          </a:xfrm>
          <a:prstGeom prst="rect">
            <a:avLst/>
          </a:prstGeom>
          <a:noFill/>
          <a:ln/>
        </p:spPr>
        <p:txBody>
          <a:bodyPr wrap="square" lIns="0" tIns="0" rIns="0" bIns="0" rtlCol="0" anchor="ctr"/>
          <a:lstStyle/>
          <a:p>
            <a:pPr algn="r" indent="0" marL="0">
              <a:buNone/>
            </a:pPr>
            <a:r>
              <a:rPr lang="en-US" sz="1350" b="1" dirty="0">
                <a:solidFill>
                  <a:srgbClr val="1F2933"/>
                </a:solidFill>
                <a:latin typeface="Nunito" pitchFamily="34" charset="0"/>
                <a:ea typeface="Nunito" pitchFamily="34" charset="-122"/>
                <a:cs typeface="Nunito" pitchFamily="34" charset="-120"/>
              </a:rPr>
              <a:t>17 to 50.8 mm</a:t>
            </a:r>
            <a:endParaRPr lang="en-US" sz="1350" dirty="0"/>
          </a:p>
        </p:txBody>
      </p:sp>
      <p:sp>
        <p:nvSpPr>
          <p:cNvPr id="30" name="Shape 28"/>
          <p:cNvSpPr/>
          <p:nvPr/>
        </p:nvSpPr>
        <p:spPr>
          <a:xfrm>
            <a:off x="6368796" y="2651760"/>
            <a:ext cx="5180076" cy="0"/>
          </a:xfrm>
          <a:prstGeom prst="line">
            <a:avLst/>
          </a:prstGeom>
          <a:noFill/>
          <a:ln w="9525">
            <a:solidFill>
              <a:srgbClr val="EEF1F4"/>
            </a:solidFill>
            <a:prstDash val="solid"/>
          </a:ln>
        </p:spPr>
      </p:sp>
      <p:sp>
        <p:nvSpPr>
          <p:cNvPr id="31" name="Text 29"/>
          <p:cNvSpPr/>
          <p:nvPr/>
        </p:nvSpPr>
        <p:spPr>
          <a:xfrm>
            <a:off x="6368796" y="2688336"/>
            <a:ext cx="2693640" cy="384048"/>
          </a:xfrm>
          <a:prstGeom prst="rect">
            <a:avLst/>
          </a:prstGeom>
          <a:noFill/>
          <a:ln/>
        </p:spPr>
        <p:txBody>
          <a:bodyPr wrap="square" lIns="0" tIns="0" rIns="0" bIns="0" rtlCol="0" anchor="ctr"/>
          <a:lstStyle/>
          <a:p>
            <a:pPr indent="0" marL="0">
              <a:buNone/>
            </a:pPr>
            <a:r>
              <a:rPr lang="en-US" sz="1350" dirty="0">
                <a:solidFill>
                  <a:srgbClr val="1F2933"/>
                </a:solidFill>
                <a:latin typeface="Nunito" pitchFamily="34" charset="0"/>
                <a:ea typeface="Nunito" pitchFamily="34" charset="-122"/>
                <a:cs typeface="Nunito" pitchFamily="34" charset="-120"/>
              </a:rPr>
              <a:t>Force ceiling (safety)</a:t>
            </a:r>
            <a:endParaRPr lang="en-US" sz="1350" dirty="0"/>
          </a:p>
        </p:txBody>
      </p:sp>
      <p:sp>
        <p:nvSpPr>
          <p:cNvPr id="32" name="Text 30"/>
          <p:cNvSpPr/>
          <p:nvPr/>
        </p:nvSpPr>
        <p:spPr>
          <a:xfrm>
            <a:off x="9062436" y="2688336"/>
            <a:ext cx="2486436" cy="384048"/>
          </a:xfrm>
          <a:prstGeom prst="rect">
            <a:avLst/>
          </a:prstGeom>
          <a:noFill/>
          <a:ln/>
        </p:spPr>
        <p:txBody>
          <a:bodyPr wrap="square" lIns="0" tIns="0" rIns="0" bIns="0" rtlCol="0" anchor="ctr"/>
          <a:lstStyle/>
          <a:p>
            <a:pPr algn="r" indent="0" marL="0">
              <a:buNone/>
            </a:pPr>
            <a:r>
              <a:rPr lang="en-US" sz="1350" b="1" dirty="0">
                <a:solidFill>
                  <a:srgbClr val="1F2933"/>
                </a:solidFill>
                <a:latin typeface="Nunito" pitchFamily="34" charset="0"/>
                <a:ea typeface="Nunito" pitchFamily="34" charset="-122"/>
                <a:cs typeface="Nunito" pitchFamily="34" charset="-120"/>
              </a:rPr>
              <a:t>33 N: stops + homes</a:t>
            </a:r>
            <a:endParaRPr lang="en-US" sz="1350" dirty="0"/>
          </a:p>
        </p:txBody>
      </p:sp>
      <p:sp>
        <p:nvSpPr>
          <p:cNvPr id="33" name="Shape 31"/>
          <p:cNvSpPr/>
          <p:nvPr/>
        </p:nvSpPr>
        <p:spPr>
          <a:xfrm>
            <a:off x="6368796" y="3127248"/>
            <a:ext cx="5180076" cy="0"/>
          </a:xfrm>
          <a:prstGeom prst="line">
            <a:avLst/>
          </a:prstGeom>
          <a:noFill/>
          <a:ln w="9525">
            <a:solidFill>
              <a:srgbClr val="EEF1F4"/>
            </a:solidFill>
            <a:prstDash val="solid"/>
          </a:ln>
        </p:spPr>
      </p:sp>
      <p:sp>
        <p:nvSpPr>
          <p:cNvPr id="34" name="Text 32"/>
          <p:cNvSpPr/>
          <p:nvPr/>
        </p:nvSpPr>
        <p:spPr>
          <a:xfrm>
            <a:off x="6368796" y="3163824"/>
            <a:ext cx="2693640" cy="384048"/>
          </a:xfrm>
          <a:prstGeom prst="rect">
            <a:avLst/>
          </a:prstGeom>
          <a:noFill/>
          <a:ln/>
        </p:spPr>
        <p:txBody>
          <a:bodyPr wrap="square" lIns="0" tIns="0" rIns="0" bIns="0" rtlCol="0" anchor="ctr"/>
          <a:lstStyle/>
          <a:p>
            <a:pPr indent="0" marL="0">
              <a:buNone/>
            </a:pPr>
            <a:r>
              <a:rPr lang="en-US" sz="1350" dirty="0">
                <a:solidFill>
                  <a:srgbClr val="1F2933"/>
                </a:solidFill>
                <a:latin typeface="Nunito" pitchFamily="34" charset="0"/>
                <a:ea typeface="Nunito" pitchFamily="34" charset="-122"/>
                <a:cs typeface="Nunito" pitchFamily="34" charset="-120"/>
              </a:rPr>
              <a:t>Actuator peak thrust</a:t>
            </a:r>
            <a:endParaRPr lang="en-US" sz="1350" dirty="0"/>
          </a:p>
        </p:txBody>
      </p:sp>
      <p:sp>
        <p:nvSpPr>
          <p:cNvPr id="35" name="Text 33"/>
          <p:cNvSpPr/>
          <p:nvPr/>
        </p:nvSpPr>
        <p:spPr>
          <a:xfrm>
            <a:off x="9062436" y="3163824"/>
            <a:ext cx="2486436" cy="384048"/>
          </a:xfrm>
          <a:prstGeom prst="rect">
            <a:avLst/>
          </a:prstGeom>
          <a:noFill/>
          <a:ln/>
        </p:spPr>
        <p:txBody>
          <a:bodyPr wrap="square" lIns="0" tIns="0" rIns="0" bIns="0" rtlCol="0" anchor="ctr"/>
          <a:lstStyle/>
          <a:p>
            <a:pPr algn="r" indent="0" marL="0">
              <a:buNone/>
            </a:pPr>
            <a:r>
              <a:rPr lang="en-US" sz="1350" b="1" dirty="0">
                <a:solidFill>
                  <a:srgbClr val="1F2933"/>
                </a:solidFill>
                <a:latin typeface="Nunito" pitchFamily="34" charset="0"/>
                <a:ea typeface="Nunito" pitchFamily="34" charset="-122"/>
                <a:cs typeface="Nunito" pitchFamily="34" charset="-120"/>
              </a:rPr>
              <a:t>25 N hardware max</a:t>
            </a:r>
            <a:endParaRPr lang="en-US" sz="1350" dirty="0"/>
          </a:p>
        </p:txBody>
      </p:sp>
      <p:sp>
        <p:nvSpPr>
          <p:cNvPr id="36" name="Shape 34"/>
          <p:cNvSpPr/>
          <p:nvPr/>
        </p:nvSpPr>
        <p:spPr>
          <a:xfrm>
            <a:off x="6368796" y="3602736"/>
            <a:ext cx="5180076" cy="0"/>
          </a:xfrm>
          <a:prstGeom prst="line">
            <a:avLst/>
          </a:prstGeom>
          <a:noFill/>
          <a:ln w="9525">
            <a:solidFill>
              <a:srgbClr val="EEF1F4"/>
            </a:solidFill>
            <a:prstDash val="solid"/>
          </a:ln>
        </p:spPr>
      </p:sp>
      <p:sp>
        <p:nvSpPr>
          <p:cNvPr id="37" name="Text 35"/>
          <p:cNvSpPr/>
          <p:nvPr/>
        </p:nvSpPr>
        <p:spPr>
          <a:xfrm>
            <a:off x="6368796" y="3639312"/>
            <a:ext cx="2693640" cy="384048"/>
          </a:xfrm>
          <a:prstGeom prst="rect">
            <a:avLst/>
          </a:prstGeom>
          <a:noFill/>
          <a:ln/>
        </p:spPr>
        <p:txBody>
          <a:bodyPr wrap="square" lIns="0" tIns="0" rIns="0" bIns="0" rtlCol="0" anchor="ctr"/>
          <a:lstStyle/>
          <a:p>
            <a:pPr indent="0" marL="0">
              <a:buNone/>
            </a:pPr>
            <a:r>
              <a:rPr lang="en-US" sz="1350" dirty="0">
                <a:solidFill>
                  <a:srgbClr val="1F2933"/>
                </a:solidFill>
                <a:latin typeface="Nunito" pitchFamily="34" charset="0"/>
                <a:ea typeface="Nunito" pitchFamily="34" charset="-122"/>
                <a:cs typeface="Nunito" pitchFamily="34" charset="-120"/>
              </a:rPr>
              <a:t>Sudden-jump cutoff</a:t>
            </a:r>
            <a:endParaRPr lang="en-US" sz="1350" dirty="0"/>
          </a:p>
        </p:txBody>
      </p:sp>
      <p:sp>
        <p:nvSpPr>
          <p:cNvPr id="38" name="Text 36"/>
          <p:cNvSpPr/>
          <p:nvPr/>
        </p:nvSpPr>
        <p:spPr>
          <a:xfrm>
            <a:off x="9062436" y="3639312"/>
            <a:ext cx="2486436" cy="384048"/>
          </a:xfrm>
          <a:prstGeom prst="rect">
            <a:avLst/>
          </a:prstGeom>
          <a:noFill/>
          <a:ln/>
        </p:spPr>
        <p:txBody>
          <a:bodyPr wrap="square" lIns="0" tIns="0" rIns="0" bIns="0" rtlCol="0" anchor="ctr"/>
          <a:lstStyle/>
          <a:p>
            <a:pPr algn="r" indent="0" marL="0">
              <a:buNone/>
            </a:pPr>
            <a:r>
              <a:rPr lang="en-US" sz="1350" b="1" dirty="0">
                <a:solidFill>
                  <a:srgbClr val="1F2933"/>
                </a:solidFill>
                <a:latin typeface="Nunito" pitchFamily="34" charset="0"/>
                <a:ea typeface="Nunito" pitchFamily="34" charset="-122"/>
                <a:cs typeface="Nunito" pitchFamily="34" charset="-120"/>
              </a:rPr>
              <a:t>speed-scaled, 1.5 to 500 N</a:t>
            </a:r>
            <a:endParaRPr lang="en-US" sz="1350" dirty="0"/>
          </a:p>
        </p:txBody>
      </p:sp>
      <p:sp>
        <p:nvSpPr>
          <p:cNvPr id="39" name="Shape 37"/>
          <p:cNvSpPr/>
          <p:nvPr/>
        </p:nvSpPr>
        <p:spPr>
          <a:xfrm>
            <a:off x="6368796" y="4078224"/>
            <a:ext cx="5180076" cy="0"/>
          </a:xfrm>
          <a:prstGeom prst="line">
            <a:avLst/>
          </a:prstGeom>
          <a:noFill/>
          <a:ln w="9525">
            <a:solidFill>
              <a:srgbClr val="EEF1F4"/>
            </a:solidFill>
            <a:prstDash val="solid"/>
          </a:ln>
        </p:spPr>
      </p:sp>
      <p:sp>
        <p:nvSpPr>
          <p:cNvPr id="40" name="Text 38"/>
          <p:cNvSpPr/>
          <p:nvPr/>
        </p:nvSpPr>
        <p:spPr>
          <a:xfrm>
            <a:off x="6368796" y="4114800"/>
            <a:ext cx="2693640" cy="384048"/>
          </a:xfrm>
          <a:prstGeom prst="rect">
            <a:avLst/>
          </a:prstGeom>
          <a:noFill/>
          <a:ln/>
        </p:spPr>
        <p:txBody>
          <a:bodyPr wrap="square" lIns="0" tIns="0" rIns="0" bIns="0" rtlCol="0" anchor="ctr"/>
          <a:lstStyle/>
          <a:p>
            <a:pPr indent="0" marL="0">
              <a:buNone/>
            </a:pPr>
            <a:r>
              <a:rPr lang="en-US" sz="1350" dirty="0">
                <a:solidFill>
                  <a:srgbClr val="1F2933"/>
                </a:solidFill>
                <a:latin typeface="Nunito" pitchFamily="34" charset="0"/>
                <a:ea typeface="Nunito" pitchFamily="34" charset="-122"/>
                <a:cs typeface="Nunito" pitchFamily="34" charset="-120"/>
              </a:rPr>
              <a:t>Lost connection</a:t>
            </a:r>
            <a:endParaRPr lang="en-US" sz="1350" dirty="0"/>
          </a:p>
        </p:txBody>
      </p:sp>
      <p:sp>
        <p:nvSpPr>
          <p:cNvPr id="41" name="Text 39"/>
          <p:cNvSpPr/>
          <p:nvPr/>
        </p:nvSpPr>
        <p:spPr>
          <a:xfrm>
            <a:off x="9062436" y="4114800"/>
            <a:ext cx="2486436" cy="384048"/>
          </a:xfrm>
          <a:prstGeom prst="rect">
            <a:avLst/>
          </a:prstGeom>
          <a:noFill/>
          <a:ln/>
        </p:spPr>
        <p:txBody>
          <a:bodyPr wrap="square" lIns="0" tIns="0" rIns="0" bIns="0" rtlCol="0" anchor="ctr"/>
          <a:lstStyle/>
          <a:p>
            <a:pPr algn="r" indent="0" marL="0">
              <a:buNone/>
            </a:pPr>
            <a:r>
              <a:rPr lang="en-US" sz="1350" b="1" dirty="0">
                <a:solidFill>
                  <a:srgbClr val="1F2933"/>
                </a:solidFill>
                <a:latin typeface="Nunito" pitchFamily="34" charset="0"/>
                <a:ea typeface="Nunito" pitchFamily="34" charset="-122"/>
                <a:cs typeface="Nunito" pitchFamily="34" charset="-120"/>
              </a:rPr>
              <a:t>safe stop, auto re-home</a:t>
            </a:r>
            <a:endParaRPr lang="en-US" sz="1350" dirty="0"/>
          </a:p>
        </p:txBody>
      </p:sp>
      <p:sp>
        <p:nvSpPr>
          <p:cNvPr id="42" name="Shape 40"/>
          <p:cNvSpPr/>
          <p:nvPr/>
        </p:nvSpPr>
        <p:spPr>
          <a:xfrm>
            <a:off x="6368796" y="4553712"/>
            <a:ext cx="5180076" cy="0"/>
          </a:xfrm>
          <a:prstGeom prst="line">
            <a:avLst/>
          </a:prstGeom>
          <a:noFill/>
          <a:ln w="9525">
            <a:solidFill>
              <a:srgbClr val="EEF1F4"/>
            </a:solidFill>
            <a:prstDash val="solid"/>
          </a:ln>
        </p:spPr>
      </p:sp>
      <p:sp>
        <p:nvSpPr>
          <p:cNvPr id="43" name="Text 41"/>
          <p:cNvSpPr/>
          <p:nvPr/>
        </p:nvSpPr>
        <p:spPr>
          <a:xfrm>
            <a:off x="6368796" y="4590288"/>
            <a:ext cx="2693640" cy="384048"/>
          </a:xfrm>
          <a:prstGeom prst="rect">
            <a:avLst/>
          </a:prstGeom>
          <a:noFill/>
          <a:ln/>
        </p:spPr>
        <p:txBody>
          <a:bodyPr wrap="square" lIns="0" tIns="0" rIns="0" bIns="0" rtlCol="0" anchor="ctr"/>
          <a:lstStyle/>
          <a:p>
            <a:pPr indent="0" marL="0">
              <a:buNone/>
            </a:pPr>
            <a:r>
              <a:rPr lang="en-US" sz="1350" dirty="0">
                <a:solidFill>
                  <a:srgbClr val="1F2933"/>
                </a:solidFill>
                <a:latin typeface="Nunito" pitchFamily="34" charset="0"/>
                <a:ea typeface="Nunito" pitchFamily="34" charset="-122"/>
                <a:cs typeface="Nunito" pitchFamily="34" charset="-120"/>
              </a:rPr>
              <a:t>Force sampling</a:t>
            </a:r>
            <a:endParaRPr lang="en-US" sz="1350" dirty="0"/>
          </a:p>
        </p:txBody>
      </p:sp>
      <p:sp>
        <p:nvSpPr>
          <p:cNvPr id="44" name="Text 42"/>
          <p:cNvSpPr/>
          <p:nvPr/>
        </p:nvSpPr>
        <p:spPr>
          <a:xfrm>
            <a:off x="9062436" y="4590288"/>
            <a:ext cx="2486436" cy="384048"/>
          </a:xfrm>
          <a:prstGeom prst="rect">
            <a:avLst/>
          </a:prstGeom>
          <a:noFill/>
          <a:ln/>
        </p:spPr>
        <p:txBody>
          <a:bodyPr wrap="square" lIns="0" tIns="0" rIns="0" bIns="0" rtlCol="0" anchor="ctr"/>
          <a:lstStyle/>
          <a:p>
            <a:pPr algn="r" indent="0" marL="0">
              <a:buNone/>
            </a:pPr>
            <a:r>
              <a:rPr lang="en-US" sz="1350" b="1" dirty="0">
                <a:solidFill>
                  <a:srgbClr val="1F2933"/>
                </a:solidFill>
                <a:latin typeface="Nunito" pitchFamily="34" charset="0"/>
                <a:ea typeface="Nunito" pitchFamily="34" charset="-122"/>
                <a:cs typeface="Nunito" pitchFamily="34" charset="-120"/>
              </a:rPr>
              <a:t>100 Hz</a:t>
            </a:r>
            <a:endParaRPr lang="en-US" sz="1350" dirty="0"/>
          </a:p>
        </p:txBody>
      </p:sp>
      <p:sp>
        <p:nvSpPr>
          <p:cNvPr id="45" name="Text 43"/>
          <p:cNvSpPr/>
          <p:nvPr/>
        </p:nvSpPr>
        <p:spPr>
          <a:xfrm>
            <a:off x="640080" y="6126480"/>
            <a:ext cx="10908792" cy="548640"/>
          </a:xfrm>
          <a:prstGeom prst="rect">
            <a:avLst/>
          </a:prstGeom>
          <a:noFill/>
          <a:ln/>
        </p:spPr>
        <p:txBody>
          <a:bodyPr wrap="square" lIns="0" tIns="0" rIns="0" bIns="0" rtlCol="0" anchor="ctr"/>
          <a:lstStyle/>
          <a:p>
            <a:pPr indent="0" marL="0">
              <a:lnSpc>
                <a:spcPct val="105000"/>
              </a:lnSpc>
              <a:buNone/>
            </a:pPr>
            <a:r>
              <a:rPr lang="en-US" sz="1150" i="1" dirty="0">
                <a:solidFill>
                  <a:srgbClr val="5B6770"/>
                </a:solidFill>
                <a:latin typeface="Nunito" pitchFamily="34" charset="0"/>
                <a:ea typeface="Nunito" pitchFamily="34" charset="-122"/>
                <a:cs typeface="Nunito" pitchFamily="34" charset="-120"/>
              </a:rPr>
              <a:t>Snap-to rounds each field to its precision and clamps it into range on commit, so you can still type freely while editing. EM run target (32 N) and Fuji target (20 N) are where a good press stops, not limits.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A33"/>
        </a:solidFill>
      </p:bgPr>
    </p:bg>
    <p:spTree>
      <p:nvGrpSpPr>
        <p:cNvPr id="1" name=""/>
        <p:cNvGrpSpPr/>
        <p:nvPr/>
      </p:nvGrpSpPr>
      <p:grpSpPr>
        <a:xfrm>
          <a:off x="0" y="0"/>
          <a:ext cx="0" cy="0"/>
          <a:chOff x="0" y="0"/>
          <a:chExt cx="0" cy="0"/>
        </a:xfrm>
      </p:grpSpPr>
      <p:sp>
        <p:nvSpPr>
          <p:cNvPr id="2" name="Text 0"/>
          <p:cNvSpPr/>
          <p:nvPr/>
        </p:nvSpPr>
        <p:spPr>
          <a:xfrm>
            <a:off x="640080" y="2651760"/>
            <a:ext cx="10908792" cy="365760"/>
          </a:xfrm>
          <a:prstGeom prst="rect">
            <a:avLst/>
          </a:prstGeom>
          <a:noFill/>
          <a:ln/>
        </p:spPr>
        <p:txBody>
          <a:bodyPr wrap="square" lIns="0" tIns="0" rIns="0" bIns="0" rtlCol="0" anchor="ctr"/>
          <a:lstStyle/>
          <a:p>
            <a:pPr indent="0" marL="0">
              <a:buNone/>
            </a:pPr>
            <a:r>
              <a:rPr lang="en-US" sz="1400" b="1" spc="300" kern="0" dirty="0">
                <a:solidFill>
                  <a:srgbClr val="2F6FE0"/>
                </a:solidFill>
                <a:latin typeface="Nunito" pitchFamily="34" charset="0"/>
                <a:ea typeface="Nunito" pitchFamily="34" charset="-122"/>
                <a:cs typeface="Nunito" pitchFamily="34" charset="-120"/>
              </a:rPr>
              <a:t>PART 2</a:t>
            </a:r>
            <a:endParaRPr lang="en-US" sz="1400" dirty="0"/>
          </a:p>
        </p:txBody>
      </p:sp>
      <p:sp>
        <p:nvSpPr>
          <p:cNvPr id="3" name="Text 1"/>
          <p:cNvSpPr/>
          <p:nvPr/>
        </p:nvSpPr>
        <p:spPr>
          <a:xfrm>
            <a:off x="640080" y="3063240"/>
            <a:ext cx="10908792" cy="1005840"/>
          </a:xfrm>
          <a:prstGeom prst="rect">
            <a:avLst/>
          </a:prstGeom>
          <a:noFill/>
          <a:ln/>
        </p:spPr>
        <p:txBody>
          <a:bodyPr wrap="square" lIns="0" tIns="0" rIns="0" bIns="0" rtlCol="0" anchor="ctr"/>
          <a:lstStyle/>
          <a:p>
            <a:pPr indent="0" marL="0">
              <a:buNone/>
            </a:pPr>
            <a:r>
              <a:rPr lang="en-US" sz="4400" b="1" dirty="0">
                <a:solidFill>
                  <a:srgbClr val="FFFFFF"/>
                </a:solidFill>
                <a:latin typeface="Nunito" pitchFamily="34" charset="0"/>
                <a:ea typeface="Nunito" pitchFamily="34" charset="-122"/>
                <a:cs typeface="Nunito" pitchFamily="34" charset="-120"/>
              </a:rPr>
              <a:t>Under the hood</a:t>
            </a:r>
            <a:endParaRPr lang="en-US" sz="4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ARCHITECTURE</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How it's built</a:t>
            </a:r>
            <a:endParaRPr lang="en-US" sz="3100" dirty="0"/>
          </a:p>
        </p:txBody>
      </p:sp>
      <p:sp>
        <p:nvSpPr>
          <p:cNvPr id="4" name="Shape 2"/>
          <p:cNvSpPr/>
          <p:nvPr/>
        </p:nvSpPr>
        <p:spPr>
          <a:xfrm>
            <a:off x="640080" y="1783080"/>
            <a:ext cx="10908792" cy="960120"/>
          </a:xfrm>
          <a:prstGeom prst="roundRect">
            <a:avLst>
              <a:gd name="adj" fmla="val 5714"/>
            </a:avLst>
          </a:prstGeom>
          <a:solidFill>
            <a:srgbClr val="F4F6F8"/>
          </a:solidFill>
          <a:ln/>
          <a:effectLst>
            <a:outerShdw sx="100000" sy="100000" kx="0" ky="0" algn="bl" rotWithShape="0" blurRad="101600" dist="38100" dir="5400000">
              <a:srgbClr val="000000">
                <a:alpha val="10000"/>
              </a:srgbClr>
            </a:outerShdw>
          </a:effectLst>
        </p:spPr>
      </p:sp>
      <p:sp>
        <p:nvSpPr>
          <p:cNvPr id="5" name="Text 3"/>
          <p:cNvSpPr/>
          <p:nvPr/>
        </p:nvSpPr>
        <p:spPr>
          <a:xfrm>
            <a:off x="960120" y="1929384"/>
            <a:ext cx="10268712" cy="347472"/>
          </a:xfrm>
          <a:prstGeom prst="rect">
            <a:avLst/>
          </a:prstGeom>
          <a:noFill/>
          <a:ln/>
        </p:spPr>
        <p:txBody>
          <a:bodyPr wrap="square" lIns="0" tIns="0" rIns="0" bIns="0" rtlCol="0" anchor="ctr"/>
          <a:lstStyle/>
          <a:p>
            <a:pPr indent="0" marL="0">
              <a:buNone/>
            </a:pPr>
            <a:r>
              <a:rPr lang="en-US" sz="1700" b="1" dirty="0">
                <a:solidFill>
                  <a:srgbClr val="2F6FE0"/>
                </a:solidFill>
                <a:latin typeface="Nunito" pitchFamily="34" charset="0"/>
                <a:ea typeface="Nunito" pitchFamily="34" charset="-122"/>
                <a:cs typeface="Nunito" pitchFamily="34" charset="-120"/>
              </a:rPr>
              <a:t>Browser GUI</a:t>
            </a:r>
            <a:endParaRPr lang="en-US" sz="1700" dirty="0"/>
          </a:p>
        </p:txBody>
      </p:sp>
      <p:sp>
        <p:nvSpPr>
          <p:cNvPr id="6" name="Text 4"/>
          <p:cNvSpPr/>
          <p:nvPr/>
        </p:nvSpPr>
        <p:spPr>
          <a:xfrm>
            <a:off x="960120" y="2276856"/>
            <a:ext cx="10268712" cy="411480"/>
          </a:xfrm>
          <a:prstGeom prst="rect">
            <a:avLst/>
          </a:prstGeom>
          <a:noFill/>
          <a:ln/>
        </p:spPr>
        <p:txBody>
          <a:bodyPr wrap="square" lIns="0" tIns="0" rIns="0" bIns="0" rtlCol="0" anchor="ctr"/>
          <a:lstStyle/>
          <a:p>
            <a:pPr indent="0" marL="0">
              <a:lnSpc>
                <a:spcPct val="100000"/>
              </a:lnSpc>
              <a:buNone/>
            </a:pPr>
            <a:r>
              <a:rPr lang="en-US" sz="1250" dirty="0">
                <a:solidFill>
                  <a:srgbClr val="5B6770"/>
                </a:solidFill>
                <a:latin typeface="Nunito" pitchFamily="34" charset="0"/>
                <a:ea typeface="Nunito" pitchFamily="34" charset="-122"/>
                <a:cs typeface="Nunito" pitchFamily="34" charset="-120"/>
              </a:rPr>
              <a:t>Vanilla HTML / CSS / JS - one file per test tab (em.js, manual.js, fatigue.js, shear.js, calibration.js), plus shared.js and main.js</a:t>
            </a:r>
            <a:endParaRPr lang="en-US" sz="1250" dirty="0"/>
          </a:p>
        </p:txBody>
      </p:sp>
      <p:sp>
        <p:nvSpPr>
          <p:cNvPr id="7" name="Text 5"/>
          <p:cNvSpPr/>
          <p:nvPr/>
        </p:nvSpPr>
        <p:spPr>
          <a:xfrm>
            <a:off x="640080" y="2724912"/>
            <a:ext cx="10908792" cy="365760"/>
          </a:xfrm>
          <a:prstGeom prst="rect">
            <a:avLst/>
          </a:prstGeom>
          <a:noFill/>
          <a:ln/>
        </p:spPr>
        <p:txBody>
          <a:bodyPr wrap="square" lIns="0" tIns="0" rIns="0" bIns="0" rtlCol="0" anchor="ctr"/>
          <a:lstStyle/>
          <a:p>
            <a:pPr algn="ctr" indent="0" marL="0">
              <a:buNone/>
            </a:pPr>
            <a:r>
              <a:rPr lang="en-US" sz="1200" i="1" dirty="0">
                <a:solidFill>
                  <a:srgbClr val="2F6FE0"/>
                </a:solidFill>
                <a:latin typeface="Nunito" pitchFamily="34" charset="0"/>
                <a:ea typeface="Nunito" pitchFamily="34" charset="-122"/>
                <a:cs typeface="Nunito" pitchFamily="34" charset="-120"/>
              </a:rPr>
              <a:t>↓   JSON over local HTTP  ·  the UI polls for live status</a:t>
            </a:r>
            <a:endParaRPr lang="en-US" sz="1200" dirty="0"/>
          </a:p>
        </p:txBody>
      </p:sp>
      <p:sp>
        <p:nvSpPr>
          <p:cNvPr id="8" name="Shape 6"/>
          <p:cNvSpPr/>
          <p:nvPr/>
        </p:nvSpPr>
        <p:spPr>
          <a:xfrm>
            <a:off x="640080" y="3054096"/>
            <a:ext cx="10908792" cy="960120"/>
          </a:xfrm>
          <a:prstGeom prst="roundRect">
            <a:avLst>
              <a:gd name="adj" fmla="val 5714"/>
            </a:avLst>
          </a:prstGeom>
          <a:solidFill>
            <a:srgbClr val="F4F6F8"/>
          </a:solidFill>
          <a:ln/>
          <a:effectLst>
            <a:outerShdw sx="100000" sy="100000" kx="0" ky="0" algn="bl" rotWithShape="0" blurRad="101600" dist="38100" dir="5400000">
              <a:srgbClr val="000000">
                <a:alpha val="10000"/>
              </a:srgbClr>
            </a:outerShdw>
          </a:effectLst>
        </p:spPr>
      </p:sp>
      <p:sp>
        <p:nvSpPr>
          <p:cNvPr id="9" name="Text 7"/>
          <p:cNvSpPr/>
          <p:nvPr/>
        </p:nvSpPr>
        <p:spPr>
          <a:xfrm>
            <a:off x="960120" y="3200400"/>
            <a:ext cx="10268712" cy="347472"/>
          </a:xfrm>
          <a:prstGeom prst="rect">
            <a:avLst/>
          </a:prstGeom>
          <a:noFill/>
          <a:ln/>
        </p:spPr>
        <p:txBody>
          <a:bodyPr wrap="square" lIns="0" tIns="0" rIns="0" bIns="0" rtlCol="0" anchor="ctr"/>
          <a:lstStyle/>
          <a:p>
            <a:pPr indent="0" marL="0">
              <a:buNone/>
            </a:pPr>
            <a:r>
              <a:rPr lang="en-US" sz="1700" b="1" dirty="0">
                <a:solidFill>
                  <a:srgbClr val="1F2933"/>
                </a:solidFill>
                <a:latin typeface="Nunito" pitchFamily="34" charset="0"/>
                <a:ea typeface="Nunito" pitchFamily="34" charset="-122"/>
                <a:cs typeface="Nunito" pitchFamily="34" charset="-120"/>
              </a:rPr>
              <a:t>Local Python server + test engine</a:t>
            </a:r>
            <a:endParaRPr lang="en-US" sz="1700" dirty="0"/>
          </a:p>
        </p:txBody>
      </p:sp>
      <p:sp>
        <p:nvSpPr>
          <p:cNvPr id="10" name="Text 8"/>
          <p:cNvSpPr/>
          <p:nvPr/>
        </p:nvSpPr>
        <p:spPr>
          <a:xfrm>
            <a:off x="960120" y="3547872"/>
            <a:ext cx="10268712" cy="411480"/>
          </a:xfrm>
          <a:prstGeom prst="rect">
            <a:avLst/>
          </a:prstGeom>
          <a:noFill/>
          <a:ln/>
        </p:spPr>
        <p:txBody>
          <a:bodyPr wrap="square" lIns="0" tIns="0" rIns="0" bIns="0" rtlCol="0" anchor="ctr"/>
          <a:lstStyle/>
          <a:p>
            <a:pPr indent="0" marL="0">
              <a:lnSpc>
                <a:spcPct val="100000"/>
              </a:lnSpc>
              <a:buNone/>
            </a:pPr>
            <a:r>
              <a:rPr lang="en-US" sz="1250" dirty="0">
                <a:solidFill>
                  <a:srgbClr val="5B6770"/>
                </a:solidFill>
                <a:latin typeface="Nunito" pitchFamily="34" charset="0"/>
                <a:ea typeface="Nunito" pitchFamily="34" charset="-122"/>
                <a:cs typeface="Nunito" pitchFamily="34" charset="-120"/>
              </a:rPr>
              <a:t>ThreadingHTTPServer (server.py) and run_engine.py - one background thread per test, polled for live status, a single-owner load-cell reader, and a simulation fallback</a:t>
            </a:r>
            <a:endParaRPr lang="en-US" sz="1250" dirty="0"/>
          </a:p>
        </p:txBody>
      </p:sp>
      <p:sp>
        <p:nvSpPr>
          <p:cNvPr id="11" name="Text 9"/>
          <p:cNvSpPr/>
          <p:nvPr/>
        </p:nvSpPr>
        <p:spPr>
          <a:xfrm>
            <a:off x="640080" y="3995928"/>
            <a:ext cx="10908792" cy="365760"/>
          </a:xfrm>
          <a:prstGeom prst="rect">
            <a:avLst/>
          </a:prstGeom>
          <a:noFill/>
          <a:ln/>
        </p:spPr>
        <p:txBody>
          <a:bodyPr wrap="square" lIns="0" tIns="0" rIns="0" bIns="0" rtlCol="0" anchor="ctr"/>
          <a:lstStyle/>
          <a:p>
            <a:pPr algn="ctr" indent="0" marL="0">
              <a:buNone/>
            </a:pPr>
            <a:r>
              <a:rPr lang="en-US" sz="1200" i="1" dirty="0">
                <a:solidFill>
                  <a:srgbClr val="2F6FE0"/>
                </a:solidFill>
                <a:latin typeface="Nunito" pitchFamily="34" charset="0"/>
                <a:ea typeface="Nunito" pitchFamily="34" charset="-122"/>
                <a:cs typeface="Nunito" pitchFamily="34" charset="-120"/>
              </a:rPr>
              <a:t>↓   serial commands  ·  .NET driver calls</a:t>
            </a:r>
            <a:endParaRPr lang="en-US" sz="1200" dirty="0"/>
          </a:p>
        </p:txBody>
      </p:sp>
      <p:sp>
        <p:nvSpPr>
          <p:cNvPr id="12" name="Shape 10"/>
          <p:cNvSpPr/>
          <p:nvPr/>
        </p:nvSpPr>
        <p:spPr>
          <a:xfrm>
            <a:off x="640080" y="4325112"/>
            <a:ext cx="10908792" cy="960120"/>
          </a:xfrm>
          <a:prstGeom prst="roundRect">
            <a:avLst>
              <a:gd name="adj" fmla="val 5714"/>
            </a:avLst>
          </a:prstGeom>
          <a:solidFill>
            <a:srgbClr val="F4F6F8"/>
          </a:solidFill>
          <a:ln/>
          <a:effectLst>
            <a:outerShdw sx="100000" sy="100000" kx="0" ky="0" algn="bl" rotWithShape="0" blurRad="101600" dist="38100" dir="5400000">
              <a:srgbClr val="000000">
                <a:alpha val="10000"/>
              </a:srgbClr>
            </a:outerShdw>
          </a:effectLst>
        </p:spPr>
      </p:sp>
      <p:sp>
        <p:nvSpPr>
          <p:cNvPr id="13" name="Text 11"/>
          <p:cNvSpPr/>
          <p:nvPr/>
        </p:nvSpPr>
        <p:spPr>
          <a:xfrm>
            <a:off x="960120" y="4471416"/>
            <a:ext cx="10268712" cy="347472"/>
          </a:xfrm>
          <a:prstGeom prst="rect">
            <a:avLst/>
          </a:prstGeom>
          <a:noFill/>
          <a:ln/>
        </p:spPr>
        <p:txBody>
          <a:bodyPr wrap="square" lIns="0" tIns="0" rIns="0" bIns="0" rtlCol="0" anchor="ctr"/>
          <a:lstStyle/>
          <a:p>
            <a:pPr indent="0" marL="0">
              <a:buNone/>
            </a:pPr>
            <a:r>
              <a:rPr lang="en-US" sz="1700" b="1" dirty="0">
                <a:solidFill>
                  <a:srgbClr val="2E875B"/>
                </a:solidFill>
                <a:latin typeface="Nunito" pitchFamily="34" charset="0"/>
                <a:ea typeface="Nunito" pitchFamily="34" charset="-122"/>
                <a:cs typeface="Nunito" pitchFamily="34" charset="-120"/>
              </a:rPr>
              <a:t>Hardware drivers</a:t>
            </a:r>
            <a:endParaRPr lang="en-US" sz="1700" dirty="0"/>
          </a:p>
        </p:txBody>
      </p:sp>
      <p:sp>
        <p:nvSpPr>
          <p:cNvPr id="14" name="Text 12"/>
          <p:cNvSpPr/>
          <p:nvPr/>
        </p:nvSpPr>
        <p:spPr>
          <a:xfrm>
            <a:off x="960120" y="4818888"/>
            <a:ext cx="10268712" cy="411480"/>
          </a:xfrm>
          <a:prstGeom prst="rect">
            <a:avLst/>
          </a:prstGeom>
          <a:noFill/>
          <a:ln/>
        </p:spPr>
        <p:txBody>
          <a:bodyPr wrap="square" lIns="0" tIns="0" rIns="0" bIns="0" rtlCol="0" anchor="ctr"/>
          <a:lstStyle/>
          <a:p>
            <a:pPr indent="0" marL="0">
              <a:lnSpc>
                <a:spcPct val="100000"/>
              </a:lnSpc>
              <a:buNone/>
            </a:pPr>
            <a:r>
              <a:rPr lang="en-US" sz="1250" dirty="0">
                <a:solidFill>
                  <a:srgbClr val="5B6770"/>
                </a:solidFill>
                <a:latin typeface="Nunito" pitchFamily="34" charset="0"/>
                <a:ea typeface="Nunito" pitchFamily="34" charset="-122"/>
                <a:cs typeface="Nunito" pitchFamily="34" charset="-120"/>
              </a:rPr>
              <a:t>Zaber actuator over serial (zaber-motion) and the FUTEK load cell over .NET (pythonnet, Windows only)</a:t>
            </a:r>
            <a:endParaRPr lang="en-US" sz="1250" dirty="0"/>
          </a:p>
        </p:txBody>
      </p:sp>
      <p:sp>
        <p:nvSpPr>
          <p:cNvPr id="15" name="Text 13"/>
          <p:cNvSpPr/>
          <p:nvPr/>
        </p:nvSpPr>
        <p:spPr>
          <a:xfrm>
            <a:off x="640080" y="5641848"/>
            <a:ext cx="10908792" cy="457200"/>
          </a:xfrm>
          <a:prstGeom prst="rect">
            <a:avLst/>
          </a:prstGeom>
          <a:noFill/>
          <a:ln/>
        </p:spPr>
        <p:txBody>
          <a:bodyPr wrap="square" lIns="0" tIns="0" rIns="0" bIns="0" rtlCol="0" anchor="ctr"/>
          <a:lstStyle/>
          <a:p>
            <a:pPr indent="0" marL="0">
              <a:buNone/>
            </a:pPr>
            <a:r>
              <a:rPr lang="en-US" sz="1350" i="1" dirty="0">
                <a:solidFill>
                  <a:srgbClr val="1F2933"/>
                </a:solidFill>
                <a:latin typeface="Nunito" pitchFamily="34" charset="0"/>
                <a:ea typeface="Nunito" pitchFamily="34" charset="-122"/>
                <a:cs typeface="Nunito" pitchFamily="34" charset="-120"/>
              </a:rPr>
              <a:t>Packaged as a pywebview desktop window, built into a single .app / .exe with PyInstaller - no terminal, no setup.</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ENGINEERING</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The hardest bug: the load cell</a:t>
            </a:r>
            <a:endParaRPr lang="en-US" sz="3100" dirty="0"/>
          </a:p>
        </p:txBody>
      </p:sp>
      <p:sp>
        <p:nvSpPr>
          <p:cNvPr id="4" name="Shape 2"/>
          <p:cNvSpPr/>
          <p:nvPr/>
        </p:nvSpPr>
        <p:spPr>
          <a:xfrm>
            <a:off x="640080" y="1874520"/>
            <a:ext cx="3361944" cy="3200400"/>
          </a:xfrm>
          <a:prstGeom prst="roundRect">
            <a:avLst>
              <a:gd name="adj" fmla="val 1714"/>
            </a:avLst>
          </a:prstGeom>
          <a:solidFill>
            <a:srgbClr val="F4F6F8"/>
          </a:solidFill>
          <a:ln/>
          <a:effectLst>
            <a:outerShdw sx="100000" sy="100000" kx="0" ky="0" algn="bl" rotWithShape="0" blurRad="101600" dist="38100" dir="5400000">
              <a:srgbClr val="000000">
                <a:alpha val="10000"/>
              </a:srgbClr>
            </a:outerShdw>
          </a:effectLst>
        </p:spPr>
      </p:sp>
      <p:sp>
        <p:nvSpPr>
          <p:cNvPr id="5" name="Shape 3"/>
          <p:cNvSpPr/>
          <p:nvPr/>
        </p:nvSpPr>
        <p:spPr>
          <a:xfrm>
            <a:off x="932688" y="2185416"/>
            <a:ext cx="512064" cy="512064"/>
          </a:xfrm>
          <a:prstGeom prst="ellipse">
            <a:avLst/>
          </a:prstGeom>
          <a:solidFill>
            <a:srgbClr val="1F2933"/>
          </a:solidFill>
          <a:ln/>
        </p:spPr>
      </p:sp>
      <p:sp>
        <p:nvSpPr>
          <p:cNvPr id="6" name="Text 4"/>
          <p:cNvSpPr/>
          <p:nvPr/>
        </p:nvSpPr>
        <p:spPr>
          <a:xfrm>
            <a:off x="932688" y="218541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Nunito" pitchFamily="34" charset="0"/>
                <a:ea typeface="Nunito" pitchFamily="34" charset="-122"/>
                <a:cs typeface="Nunito" pitchFamily="34" charset="-120"/>
              </a:rPr>
              <a:t>1</a:t>
            </a:r>
            <a:endParaRPr lang="en-US" sz="1500" dirty="0"/>
          </a:p>
        </p:txBody>
      </p:sp>
      <p:sp>
        <p:nvSpPr>
          <p:cNvPr id="7" name="Text 5"/>
          <p:cNvSpPr/>
          <p:nvPr/>
        </p:nvSpPr>
        <p:spPr>
          <a:xfrm>
            <a:off x="932688" y="2880360"/>
            <a:ext cx="2776728" cy="411480"/>
          </a:xfrm>
          <a:prstGeom prst="rect">
            <a:avLst/>
          </a:prstGeom>
          <a:noFill/>
          <a:ln/>
        </p:spPr>
        <p:txBody>
          <a:bodyPr wrap="square" lIns="0" tIns="0" rIns="0" bIns="0" rtlCol="0" anchor="ctr"/>
          <a:lstStyle/>
          <a:p>
            <a:pPr indent="0" marL="0">
              <a:buNone/>
            </a:pPr>
            <a:r>
              <a:rPr lang="en-US" sz="1900" b="1" dirty="0">
                <a:solidFill>
                  <a:srgbClr val="1F2933"/>
                </a:solidFill>
                <a:latin typeface="Nunito" pitchFamily="34" charset="0"/>
                <a:ea typeface="Nunito" pitchFamily="34" charset="-122"/>
                <a:cs typeface="Nunito" pitchFamily="34" charset="-120"/>
              </a:rPr>
              <a:t>Problem</a:t>
            </a:r>
            <a:endParaRPr lang="en-US" sz="1900" dirty="0"/>
          </a:p>
        </p:txBody>
      </p:sp>
      <p:sp>
        <p:nvSpPr>
          <p:cNvPr id="8" name="Text 6"/>
          <p:cNvSpPr/>
          <p:nvPr/>
        </p:nvSpPr>
        <p:spPr>
          <a:xfrm>
            <a:off x="932688" y="3337560"/>
            <a:ext cx="2776728" cy="1645920"/>
          </a:xfrm>
          <a:prstGeom prst="rect">
            <a:avLst/>
          </a:prstGeom>
          <a:noFill/>
          <a:ln/>
        </p:spPr>
        <p:txBody>
          <a:bodyPr wrap="square" lIns="0" tIns="0" rIns="0" bIns="0" rtlCol="0" anchor="ctr"/>
          <a:lstStyle/>
          <a:p>
            <a:pPr indent="0" marL="0">
              <a:lnSpc>
                <a:spcPct val="115000"/>
              </a:lnSpc>
              <a:buNone/>
            </a:pPr>
            <a:r>
              <a:rPr lang="en-US" sz="1300" dirty="0">
                <a:solidFill>
                  <a:srgbClr val="5B6770"/>
                </a:solidFill>
                <a:latin typeface="Nunito" pitchFamily="34" charset="0"/>
                <a:ea typeface="Nunito" pitchFamily="34" charset="-122"/>
                <a:cs typeface="Nunito" pitchFamily="34" charset="-120"/>
              </a:rPr>
              <a:t>The load cell kept dropping to simulated data partway through a session - and once it dropped, every test after it read fake values.</a:t>
            </a:r>
            <a:endParaRPr lang="en-US" sz="1300" dirty="0"/>
          </a:p>
        </p:txBody>
      </p:sp>
      <p:sp>
        <p:nvSpPr>
          <p:cNvPr id="9" name="Shape 7"/>
          <p:cNvSpPr/>
          <p:nvPr/>
        </p:nvSpPr>
        <p:spPr>
          <a:xfrm>
            <a:off x="4413504" y="1874520"/>
            <a:ext cx="3361944" cy="3200400"/>
          </a:xfrm>
          <a:prstGeom prst="roundRect">
            <a:avLst>
              <a:gd name="adj" fmla="val 1714"/>
            </a:avLst>
          </a:prstGeom>
          <a:solidFill>
            <a:srgbClr val="F4F6F8"/>
          </a:solidFill>
          <a:ln/>
          <a:effectLst>
            <a:outerShdw sx="100000" sy="100000" kx="0" ky="0" algn="bl" rotWithShape="0" blurRad="101600" dist="38100" dir="5400000">
              <a:srgbClr val="000000">
                <a:alpha val="10000"/>
              </a:srgbClr>
            </a:outerShdw>
          </a:effectLst>
        </p:spPr>
      </p:sp>
      <p:sp>
        <p:nvSpPr>
          <p:cNvPr id="10" name="Shape 8"/>
          <p:cNvSpPr/>
          <p:nvPr/>
        </p:nvSpPr>
        <p:spPr>
          <a:xfrm>
            <a:off x="4706112" y="2185416"/>
            <a:ext cx="512064" cy="512064"/>
          </a:xfrm>
          <a:prstGeom prst="ellipse">
            <a:avLst/>
          </a:prstGeom>
          <a:solidFill>
            <a:srgbClr val="2F6FE0"/>
          </a:solidFill>
          <a:ln/>
        </p:spPr>
      </p:sp>
      <p:sp>
        <p:nvSpPr>
          <p:cNvPr id="11" name="Text 9"/>
          <p:cNvSpPr/>
          <p:nvPr/>
        </p:nvSpPr>
        <p:spPr>
          <a:xfrm>
            <a:off x="4706112" y="218541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Nunito" pitchFamily="34" charset="0"/>
                <a:ea typeface="Nunito" pitchFamily="34" charset="-122"/>
                <a:cs typeface="Nunito" pitchFamily="34" charset="-120"/>
              </a:rPr>
              <a:t>2</a:t>
            </a:r>
            <a:endParaRPr lang="en-US" sz="1500" dirty="0"/>
          </a:p>
        </p:txBody>
      </p:sp>
      <p:sp>
        <p:nvSpPr>
          <p:cNvPr id="12" name="Text 10"/>
          <p:cNvSpPr/>
          <p:nvPr/>
        </p:nvSpPr>
        <p:spPr>
          <a:xfrm>
            <a:off x="4706112" y="2880360"/>
            <a:ext cx="2776728" cy="411480"/>
          </a:xfrm>
          <a:prstGeom prst="rect">
            <a:avLst/>
          </a:prstGeom>
          <a:noFill/>
          <a:ln/>
        </p:spPr>
        <p:txBody>
          <a:bodyPr wrap="square" lIns="0" tIns="0" rIns="0" bIns="0" rtlCol="0" anchor="ctr"/>
          <a:lstStyle/>
          <a:p>
            <a:pPr indent="0" marL="0">
              <a:buNone/>
            </a:pPr>
            <a:r>
              <a:rPr lang="en-US" sz="1900" b="1" dirty="0">
                <a:solidFill>
                  <a:srgbClr val="2F6FE0"/>
                </a:solidFill>
                <a:latin typeface="Nunito" pitchFamily="34" charset="0"/>
                <a:ea typeface="Nunito" pitchFamily="34" charset="-122"/>
                <a:cs typeface="Nunito" pitchFamily="34" charset="-120"/>
              </a:rPr>
              <a:t>Diagnosis</a:t>
            </a:r>
            <a:endParaRPr lang="en-US" sz="1900" dirty="0"/>
          </a:p>
        </p:txBody>
      </p:sp>
      <p:sp>
        <p:nvSpPr>
          <p:cNvPr id="13" name="Text 11"/>
          <p:cNvSpPr/>
          <p:nvPr/>
        </p:nvSpPr>
        <p:spPr>
          <a:xfrm>
            <a:off x="4706112" y="3337560"/>
            <a:ext cx="2776728" cy="1645920"/>
          </a:xfrm>
          <a:prstGeom prst="rect">
            <a:avLst/>
          </a:prstGeom>
          <a:noFill/>
          <a:ln/>
        </p:spPr>
        <p:txBody>
          <a:bodyPr wrap="square" lIns="0" tIns="0" rIns="0" bIns="0" rtlCol="0" anchor="ctr"/>
          <a:lstStyle/>
          <a:p>
            <a:pPr indent="0" marL="0">
              <a:lnSpc>
                <a:spcPct val="115000"/>
              </a:lnSpc>
              <a:buNone/>
            </a:pPr>
            <a:r>
              <a:rPr lang="en-US" sz="1300" dirty="0">
                <a:solidFill>
                  <a:srgbClr val="5B6770"/>
                </a:solidFill>
                <a:latin typeface="Nunito" pitchFamily="34" charset="0"/>
                <a:ea typeface="Nunito" pitchFamily="34" charset="-122"/>
                <a:cs typeface="Nunito" pitchFamily="34" charset="-120"/>
              </a:rPr>
              <a:t>The manual window's live graph and the active test were reading the device at the same time, on different threads. The driver can't be read twice at once, so it corrupted.</a:t>
            </a:r>
            <a:endParaRPr lang="en-US" sz="1300" dirty="0"/>
          </a:p>
        </p:txBody>
      </p:sp>
      <p:sp>
        <p:nvSpPr>
          <p:cNvPr id="14" name="Shape 12"/>
          <p:cNvSpPr/>
          <p:nvPr/>
        </p:nvSpPr>
        <p:spPr>
          <a:xfrm>
            <a:off x="8186928" y="1874520"/>
            <a:ext cx="3361944" cy="3200400"/>
          </a:xfrm>
          <a:prstGeom prst="roundRect">
            <a:avLst>
              <a:gd name="adj" fmla="val 1714"/>
            </a:avLst>
          </a:prstGeom>
          <a:solidFill>
            <a:srgbClr val="F4F6F8"/>
          </a:solidFill>
          <a:ln/>
          <a:effectLst>
            <a:outerShdw sx="100000" sy="100000" kx="0" ky="0" algn="bl" rotWithShape="0" blurRad="101600" dist="38100" dir="5400000">
              <a:srgbClr val="000000">
                <a:alpha val="10000"/>
              </a:srgbClr>
            </a:outerShdw>
          </a:effectLst>
        </p:spPr>
      </p:sp>
      <p:sp>
        <p:nvSpPr>
          <p:cNvPr id="15" name="Shape 13"/>
          <p:cNvSpPr/>
          <p:nvPr/>
        </p:nvSpPr>
        <p:spPr>
          <a:xfrm>
            <a:off x="8479536" y="2185416"/>
            <a:ext cx="512064" cy="512064"/>
          </a:xfrm>
          <a:prstGeom prst="ellipse">
            <a:avLst/>
          </a:prstGeom>
          <a:solidFill>
            <a:srgbClr val="2E875B"/>
          </a:solidFill>
          <a:ln/>
        </p:spPr>
      </p:sp>
      <p:sp>
        <p:nvSpPr>
          <p:cNvPr id="16" name="Text 14"/>
          <p:cNvSpPr/>
          <p:nvPr/>
        </p:nvSpPr>
        <p:spPr>
          <a:xfrm>
            <a:off x="8479536" y="218541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Nunito" pitchFamily="34" charset="0"/>
                <a:ea typeface="Nunito" pitchFamily="34" charset="-122"/>
                <a:cs typeface="Nunito" pitchFamily="34" charset="-120"/>
              </a:rPr>
              <a:t>3</a:t>
            </a:r>
            <a:endParaRPr lang="en-US" sz="1500" dirty="0"/>
          </a:p>
        </p:txBody>
      </p:sp>
      <p:sp>
        <p:nvSpPr>
          <p:cNvPr id="17" name="Text 15"/>
          <p:cNvSpPr/>
          <p:nvPr/>
        </p:nvSpPr>
        <p:spPr>
          <a:xfrm>
            <a:off x="8479536" y="2880360"/>
            <a:ext cx="2776728" cy="411480"/>
          </a:xfrm>
          <a:prstGeom prst="rect">
            <a:avLst/>
          </a:prstGeom>
          <a:noFill/>
          <a:ln/>
        </p:spPr>
        <p:txBody>
          <a:bodyPr wrap="square" lIns="0" tIns="0" rIns="0" bIns="0" rtlCol="0" anchor="ctr"/>
          <a:lstStyle/>
          <a:p>
            <a:pPr indent="0" marL="0">
              <a:buNone/>
            </a:pPr>
            <a:r>
              <a:rPr lang="en-US" sz="1900" b="1" dirty="0">
                <a:solidFill>
                  <a:srgbClr val="2E875B"/>
                </a:solidFill>
                <a:latin typeface="Nunito" pitchFamily="34" charset="0"/>
                <a:ea typeface="Nunito" pitchFamily="34" charset="-122"/>
                <a:cs typeface="Nunito" pitchFamily="34" charset="-120"/>
              </a:rPr>
              <a:t>Fix</a:t>
            </a:r>
            <a:endParaRPr lang="en-US" sz="1900" dirty="0"/>
          </a:p>
        </p:txBody>
      </p:sp>
      <p:sp>
        <p:nvSpPr>
          <p:cNvPr id="18" name="Text 16"/>
          <p:cNvSpPr/>
          <p:nvPr/>
        </p:nvSpPr>
        <p:spPr>
          <a:xfrm>
            <a:off x="8479536" y="3337560"/>
            <a:ext cx="2776728" cy="1645920"/>
          </a:xfrm>
          <a:prstGeom prst="rect">
            <a:avLst/>
          </a:prstGeom>
          <a:noFill/>
          <a:ln/>
        </p:spPr>
        <p:txBody>
          <a:bodyPr wrap="square" lIns="0" tIns="0" rIns="0" bIns="0" rtlCol="0" anchor="ctr"/>
          <a:lstStyle/>
          <a:p>
            <a:pPr indent="0" marL="0">
              <a:lnSpc>
                <a:spcPct val="115000"/>
              </a:lnSpc>
              <a:buNone/>
            </a:pPr>
            <a:r>
              <a:rPr lang="en-US" sz="1300" dirty="0">
                <a:solidFill>
                  <a:srgbClr val="5B6770"/>
                </a:solidFill>
                <a:latin typeface="Nunito" pitchFamily="34" charset="0"/>
                <a:ea typeface="Nunito" pitchFamily="34" charset="-122"/>
                <a:cs typeface="Nunito" pitchFamily="34" charset="-120"/>
              </a:rPr>
              <a:t>Re-architected to a single-owner reader: one background loop owns the device and everything else reads its value. Two simultaneous reads are now impossible, in every window.</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TIMELINE</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Day by day</a:t>
            </a:r>
            <a:endParaRPr lang="en-US" sz="3100" dirty="0"/>
          </a:p>
        </p:txBody>
      </p:sp>
      <p:sp>
        <p:nvSpPr>
          <p:cNvPr id="4" name="Text 2"/>
          <p:cNvSpPr/>
          <p:nvPr/>
        </p:nvSpPr>
        <p:spPr>
          <a:xfrm>
            <a:off x="640080" y="1572768"/>
            <a:ext cx="10908792" cy="457200"/>
          </a:xfrm>
          <a:prstGeom prst="rect">
            <a:avLst/>
          </a:prstGeom>
          <a:noFill/>
          <a:ln/>
        </p:spPr>
        <p:txBody>
          <a:bodyPr wrap="square" lIns="0" tIns="0" rIns="0" bIns="0" rtlCol="0" anchor="ctr"/>
          <a:lstStyle/>
          <a:p>
            <a:pPr indent="0" marL="0">
              <a:lnSpc>
                <a:spcPct val="105000"/>
              </a:lnSpc>
              <a:buNone/>
            </a:pPr>
            <a:r>
              <a:rPr lang="en-US" sz="1300" i="1" dirty="0">
                <a:solidFill>
                  <a:srgbClr val="5B6770"/>
                </a:solidFill>
                <a:latin typeface="Nunito" pitchFamily="34" charset="0"/>
                <a:ea typeface="Nunito" pitchFamily="34" charset="-122"/>
                <a:cs typeface="Nunito" pitchFamily="34" charset="-120"/>
              </a:rPr>
              <a:t>Days 1-18 went to clinical data validation (OHSU / HFH cases, the MATLAB pipeline, and site decks). The fixture GUI begins on Day 19.</a:t>
            </a:r>
            <a:endParaRPr lang="en-US" sz="1300" dirty="0"/>
          </a:p>
        </p:txBody>
      </p:sp>
      <p:sp>
        <p:nvSpPr>
          <p:cNvPr id="5" name="Shape 3"/>
          <p:cNvSpPr/>
          <p:nvPr/>
        </p:nvSpPr>
        <p:spPr>
          <a:xfrm>
            <a:off x="786384" y="2194560"/>
            <a:ext cx="0" cy="4425696"/>
          </a:xfrm>
          <a:prstGeom prst="line">
            <a:avLst/>
          </a:prstGeom>
          <a:noFill/>
          <a:ln w="19050">
            <a:solidFill>
              <a:srgbClr val="DDE3E8"/>
            </a:solidFill>
            <a:prstDash val="solid"/>
          </a:ln>
        </p:spPr>
      </p:sp>
      <p:sp>
        <p:nvSpPr>
          <p:cNvPr id="6" name="Shape 4"/>
          <p:cNvSpPr/>
          <p:nvPr/>
        </p:nvSpPr>
        <p:spPr>
          <a:xfrm>
            <a:off x="694944" y="2103120"/>
            <a:ext cx="182880" cy="182880"/>
          </a:xfrm>
          <a:prstGeom prst="ellipse">
            <a:avLst/>
          </a:prstGeom>
          <a:solidFill>
            <a:srgbClr val="2F6FE0"/>
          </a:solidFill>
          <a:ln w="25400">
            <a:solidFill>
              <a:srgbClr val="FFFFFF"/>
            </a:solidFill>
            <a:prstDash val="solid"/>
          </a:ln>
        </p:spPr>
      </p:sp>
      <p:sp>
        <p:nvSpPr>
          <p:cNvPr id="7" name="Text 5"/>
          <p:cNvSpPr/>
          <p:nvPr/>
        </p:nvSpPr>
        <p:spPr>
          <a:xfrm>
            <a:off x="1097280" y="2039112"/>
            <a:ext cx="2286000" cy="365760"/>
          </a:xfrm>
          <a:prstGeom prst="rect">
            <a:avLst/>
          </a:prstGeom>
          <a:noFill/>
          <a:ln/>
        </p:spPr>
        <p:txBody>
          <a:bodyPr wrap="square" lIns="0" tIns="0" rIns="0" bIns="0" rtlCol="0" anchor="ctr"/>
          <a:lstStyle/>
          <a:p>
            <a:pPr indent="0" marL="0">
              <a:buNone/>
            </a:pPr>
            <a:r>
              <a:rPr lang="en-US" sz="1300" b="1" dirty="0">
                <a:solidFill>
                  <a:srgbClr val="1F2933"/>
                </a:solidFill>
                <a:latin typeface="Nunito" pitchFamily="34" charset="0"/>
                <a:ea typeface="Nunito" pitchFamily="34" charset="-122"/>
                <a:cs typeface="Nunito" pitchFamily="34" charset="-120"/>
              </a:rPr>
              <a:t>Day 19  ·  Jun 10</a:t>
            </a:r>
            <a:endParaRPr lang="en-US" sz="1300" dirty="0"/>
          </a:p>
        </p:txBody>
      </p:sp>
      <p:sp>
        <p:nvSpPr>
          <p:cNvPr id="8" name="Text 6"/>
          <p:cNvSpPr/>
          <p:nvPr/>
        </p:nvSpPr>
        <p:spPr>
          <a:xfrm>
            <a:off x="3566160" y="2039112"/>
            <a:ext cx="7982712" cy="411480"/>
          </a:xfrm>
          <a:prstGeom prst="rect">
            <a:avLst/>
          </a:prstGeom>
          <a:noFill/>
          <a:ln/>
        </p:spPr>
        <p:txBody>
          <a:bodyPr wrap="square" lIns="0" tIns="0" rIns="0" bIns="0" rtlCol="0" anchor="ctr"/>
          <a:lstStyle/>
          <a:p>
            <a:pPr indent="0" marL="0">
              <a:buNone/>
            </a:pPr>
            <a:r>
              <a:rPr lang="en-US" sz="1250" dirty="0">
                <a:solidFill>
                  <a:srgbClr val="5B6770"/>
                </a:solidFill>
                <a:latin typeface="Nunito" pitchFamily="34" charset="0"/>
                <a:ea typeface="Nunito" pitchFamily="34" charset="-122"/>
                <a:cs typeface="Nunito" pitchFamily="34" charset="-120"/>
              </a:rPr>
              <a:t>Annotated the test engine (run_engine) end to end - one code path for simulation and real hardware</a:t>
            </a:r>
            <a:endParaRPr lang="en-US" sz="1250" dirty="0"/>
          </a:p>
        </p:txBody>
      </p:sp>
      <p:sp>
        <p:nvSpPr>
          <p:cNvPr id="9" name="Shape 7"/>
          <p:cNvSpPr/>
          <p:nvPr/>
        </p:nvSpPr>
        <p:spPr>
          <a:xfrm>
            <a:off x="694944" y="2505456"/>
            <a:ext cx="182880" cy="182880"/>
          </a:xfrm>
          <a:prstGeom prst="ellipse">
            <a:avLst/>
          </a:prstGeom>
          <a:solidFill>
            <a:srgbClr val="2F6FE0"/>
          </a:solidFill>
          <a:ln w="25400">
            <a:solidFill>
              <a:srgbClr val="FFFFFF"/>
            </a:solidFill>
            <a:prstDash val="solid"/>
          </a:ln>
        </p:spPr>
      </p:sp>
      <p:sp>
        <p:nvSpPr>
          <p:cNvPr id="10" name="Text 8"/>
          <p:cNvSpPr/>
          <p:nvPr/>
        </p:nvSpPr>
        <p:spPr>
          <a:xfrm>
            <a:off x="1097280" y="2441448"/>
            <a:ext cx="2286000" cy="365760"/>
          </a:xfrm>
          <a:prstGeom prst="rect">
            <a:avLst/>
          </a:prstGeom>
          <a:noFill/>
          <a:ln/>
        </p:spPr>
        <p:txBody>
          <a:bodyPr wrap="square" lIns="0" tIns="0" rIns="0" bIns="0" rtlCol="0" anchor="ctr"/>
          <a:lstStyle/>
          <a:p>
            <a:pPr indent="0" marL="0">
              <a:buNone/>
            </a:pPr>
            <a:r>
              <a:rPr lang="en-US" sz="1300" b="1" dirty="0">
                <a:solidFill>
                  <a:srgbClr val="1F2933"/>
                </a:solidFill>
                <a:latin typeface="Nunito" pitchFamily="34" charset="0"/>
                <a:ea typeface="Nunito" pitchFamily="34" charset="-122"/>
                <a:cs typeface="Nunito" pitchFamily="34" charset="-120"/>
              </a:rPr>
              <a:t>Day 20  ·  Jun 11</a:t>
            </a:r>
            <a:endParaRPr lang="en-US" sz="1300" dirty="0"/>
          </a:p>
        </p:txBody>
      </p:sp>
      <p:sp>
        <p:nvSpPr>
          <p:cNvPr id="11" name="Text 9"/>
          <p:cNvSpPr/>
          <p:nvPr/>
        </p:nvSpPr>
        <p:spPr>
          <a:xfrm>
            <a:off x="3566160" y="2441448"/>
            <a:ext cx="7982712" cy="411480"/>
          </a:xfrm>
          <a:prstGeom prst="rect">
            <a:avLst/>
          </a:prstGeom>
          <a:noFill/>
          <a:ln/>
        </p:spPr>
        <p:txBody>
          <a:bodyPr wrap="square" lIns="0" tIns="0" rIns="0" bIns="0" rtlCol="0" anchor="ctr"/>
          <a:lstStyle/>
          <a:p>
            <a:pPr indent="0" marL="0">
              <a:buNone/>
            </a:pPr>
            <a:r>
              <a:rPr lang="en-US" sz="1250" dirty="0">
                <a:solidFill>
                  <a:srgbClr val="5B6770"/>
                </a:solidFill>
                <a:latin typeface="Nunito" pitchFamily="34" charset="0"/>
                <a:ea typeface="Nunito" pitchFamily="34" charset="-122"/>
                <a:cs typeface="Nunito" pitchFamily="34" charset="-120"/>
              </a:rPr>
              <a:t>Reliable motion + serial - killed the 12 s move lag, stopped false disconnects, fixed the 17 mm reference</a:t>
            </a:r>
            <a:endParaRPr lang="en-US" sz="1250" dirty="0"/>
          </a:p>
        </p:txBody>
      </p:sp>
      <p:sp>
        <p:nvSpPr>
          <p:cNvPr id="12" name="Shape 10"/>
          <p:cNvSpPr/>
          <p:nvPr/>
        </p:nvSpPr>
        <p:spPr>
          <a:xfrm>
            <a:off x="694944" y="2907792"/>
            <a:ext cx="182880" cy="182880"/>
          </a:xfrm>
          <a:prstGeom prst="ellipse">
            <a:avLst/>
          </a:prstGeom>
          <a:solidFill>
            <a:srgbClr val="2F6FE0"/>
          </a:solidFill>
          <a:ln w="25400">
            <a:solidFill>
              <a:srgbClr val="FFFFFF"/>
            </a:solidFill>
            <a:prstDash val="solid"/>
          </a:ln>
        </p:spPr>
      </p:sp>
      <p:sp>
        <p:nvSpPr>
          <p:cNvPr id="13" name="Text 11"/>
          <p:cNvSpPr/>
          <p:nvPr/>
        </p:nvSpPr>
        <p:spPr>
          <a:xfrm>
            <a:off x="1097280" y="2843784"/>
            <a:ext cx="2286000" cy="365760"/>
          </a:xfrm>
          <a:prstGeom prst="rect">
            <a:avLst/>
          </a:prstGeom>
          <a:noFill/>
          <a:ln/>
        </p:spPr>
        <p:txBody>
          <a:bodyPr wrap="square" lIns="0" tIns="0" rIns="0" bIns="0" rtlCol="0" anchor="ctr"/>
          <a:lstStyle/>
          <a:p>
            <a:pPr indent="0" marL="0">
              <a:buNone/>
            </a:pPr>
            <a:r>
              <a:rPr lang="en-US" sz="1300" b="1" dirty="0">
                <a:solidFill>
                  <a:srgbClr val="1F2933"/>
                </a:solidFill>
                <a:latin typeface="Nunito" pitchFamily="34" charset="0"/>
                <a:ea typeface="Nunito" pitchFamily="34" charset="-122"/>
                <a:cs typeface="Nunito" pitchFamily="34" charset="-120"/>
              </a:rPr>
              <a:t>Day 21  ·  Jun 12</a:t>
            </a:r>
            <a:endParaRPr lang="en-US" sz="1300" dirty="0"/>
          </a:p>
        </p:txBody>
      </p:sp>
      <p:sp>
        <p:nvSpPr>
          <p:cNvPr id="14" name="Text 12"/>
          <p:cNvSpPr/>
          <p:nvPr/>
        </p:nvSpPr>
        <p:spPr>
          <a:xfrm>
            <a:off x="3566160" y="2843784"/>
            <a:ext cx="7982712" cy="411480"/>
          </a:xfrm>
          <a:prstGeom prst="rect">
            <a:avLst/>
          </a:prstGeom>
          <a:noFill/>
          <a:ln/>
        </p:spPr>
        <p:txBody>
          <a:bodyPr wrap="square" lIns="0" tIns="0" rIns="0" bIns="0" rtlCol="0" anchor="ctr"/>
          <a:lstStyle/>
          <a:p>
            <a:pPr indent="0" marL="0">
              <a:buNone/>
            </a:pPr>
            <a:r>
              <a:rPr lang="en-US" sz="1250" dirty="0">
                <a:solidFill>
                  <a:srgbClr val="5B6770"/>
                </a:solidFill>
                <a:latin typeface="Nunito" pitchFamily="34" charset="0"/>
                <a:ea typeface="Nunito" pitchFamily="34" charset="-122"/>
                <a:cs typeface="Nunito" pitchFamily="34" charset="-120"/>
              </a:rPr>
              <a:t>Safety UI state - the waiting pill, control locking, safety-stop homes; redid the calibration window</a:t>
            </a:r>
            <a:endParaRPr lang="en-US" sz="1250" dirty="0"/>
          </a:p>
        </p:txBody>
      </p:sp>
      <p:sp>
        <p:nvSpPr>
          <p:cNvPr id="15" name="Shape 13"/>
          <p:cNvSpPr/>
          <p:nvPr/>
        </p:nvSpPr>
        <p:spPr>
          <a:xfrm>
            <a:off x="694944" y="3310128"/>
            <a:ext cx="182880" cy="182880"/>
          </a:xfrm>
          <a:prstGeom prst="ellipse">
            <a:avLst/>
          </a:prstGeom>
          <a:solidFill>
            <a:srgbClr val="2F6FE0"/>
          </a:solidFill>
          <a:ln w="25400">
            <a:solidFill>
              <a:srgbClr val="FFFFFF"/>
            </a:solidFill>
            <a:prstDash val="solid"/>
          </a:ln>
        </p:spPr>
      </p:sp>
      <p:sp>
        <p:nvSpPr>
          <p:cNvPr id="16" name="Text 14"/>
          <p:cNvSpPr/>
          <p:nvPr/>
        </p:nvSpPr>
        <p:spPr>
          <a:xfrm>
            <a:off x="1097280" y="3246120"/>
            <a:ext cx="2286000" cy="365760"/>
          </a:xfrm>
          <a:prstGeom prst="rect">
            <a:avLst/>
          </a:prstGeom>
          <a:noFill/>
          <a:ln/>
        </p:spPr>
        <p:txBody>
          <a:bodyPr wrap="square" lIns="0" tIns="0" rIns="0" bIns="0" rtlCol="0" anchor="ctr"/>
          <a:lstStyle/>
          <a:p>
            <a:pPr indent="0" marL="0">
              <a:buNone/>
            </a:pPr>
            <a:r>
              <a:rPr lang="en-US" sz="1300" b="1" dirty="0">
                <a:solidFill>
                  <a:srgbClr val="1F2933"/>
                </a:solidFill>
                <a:latin typeface="Nunito" pitchFamily="34" charset="0"/>
                <a:ea typeface="Nunito" pitchFamily="34" charset="-122"/>
                <a:cs typeface="Nunito" pitchFamily="34" charset="-120"/>
              </a:rPr>
              <a:t>Day 22  ·  Jun 15</a:t>
            </a:r>
            <a:endParaRPr lang="en-US" sz="1300" dirty="0"/>
          </a:p>
        </p:txBody>
      </p:sp>
      <p:sp>
        <p:nvSpPr>
          <p:cNvPr id="17" name="Text 15"/>
          <p:cNvSpPr/>
          <p:nvPr/>
        </p:nvSpPr>
        <p:spPr>
          <a:xfrm>
            <a:off x="3566160" y="3246120"/>
            <a:ext cx="7982712" cy="411480"/>
          </a:xfrm>
          <a:prstGeom prst="rect">
            <a:avLst/>
          </a:prstGeom>
          <a:noFill/>
          <a:ln/>
        </p:spPr>
        <p:txBody>
          <a:bodyPr wrap="square" lIns="0" tIns="0" rIns="0" bIns="0" rtlCol="0" anchor="ctr"/>
          <a:lstStyle/>
          <a:p>
            <a:pPr indent="0" marL="0">
              <a:buNone/>
            </a:pPr>
            <a:r>
              <a:rPr lang="en-US" sz="1250" dirty="0">
                <a:solidFill>
                  <a:srgbClr val="5B6770"/>
                </a:solidFill>
                <a:latin typeface="Nunito" pitchFamily="34" charset="0"/>
                <a:ea typeface="Nunito" pitchFamily="34" charset="-122"/>
                <a:cs typeface="Nunito" pitchFamily="34" charset="-120"/>
              </a:rPr>
              <a:t>Run management + reporting - made the report numbers match the graphs; the redo-run workflow</a:t>
            </a:r>
            <a:endParaRPr lang="en-US" sz="1250" dirty="0"/>
          </a:p>
        </p:txBody>
      </p:sp>
      <p:sp>
        <p:nvSpPr>
          <p:cNvPr id="18" name="Shape 16"/>
          <p:cNvSpPr/>
          <p:nvPr/>
        </p:nvSpPr>
        <p:spPr>
          <a:xfrm>
            <a:off x="694944" y="3712464"/>
            <a:ext cx="182880" cy="182880"/>
          </a:xfrm>
          <a:prstGeom prst="ellipse">
            <a:avLst/>
          </a:prstGeom>
          <a:solidFill>
            <a:srgbClr val="B6BFC6"/>
          </a:solidFill>
          <a:ln w="25400">
            <a:solidFill>
              <a:srgbClr val="FFFFFF"/>
            </a:solidFill>
            <a:prstDash val="solid"/>
          </a:ln>
        </p:spPr>
      </p:sp>
      <p:sp>
        <p:nvSpPr>
          <p:cNvPr id="19" name="Text 17"/>
          <p:cNvSpPr/>
          <p:nvPr/>
        </p:nvSpPr>
        <p:spPr>
          <a:xfrm>
            <a:off x="1097280" y="3648456"/>
            <a:ext cx="2286000" cy="365760"/>
          </a:xfrm>
          <a:prstGeom prst="rect">
            <a:avLst/>
          </a:prstGeom>
          <a:noFill/>
          <a:ln/>
        </p:spPr>
        <p:txBody>
          <a:bodyPr wrap="square" lIns="0" tIns="0" rIns="0" bIns="0" rtlCol="0" anchor="ctr"/>
          <a:lstStyle/>
          <a:p>
            <a:pPr indent="0" marL="0">
              <a:buNone/>
            </a:pPr>
            <a:r>
              <a:rPr lang="en-US" sz="1300" b="1" dirty="0">
                <a:solidFill>
                  <a:srgbClr val="5B6770"/>
                </a:solidFill>
                <a:latin typeface="Nunito" pitchFamily="34" charset="0"/>
                <a:ea typeface="Nunito" pitchFamily="34" charset="-122"/>
                <a:cs typeface="Nunito" pitchFamily="34" charset="-120"/>
              </a:rPr>
              <a:t>Day 23  ·  Jun 16</a:t>
            </a:r>
            <a:endParaRPr lang="en-US" sz="1300" dirty="0"/>
          </a:p>
        </p:txBody>
      </p:sp>
      <p:sp>
        <p:nvSpPr>
          <p:cNvPr id="20" name="Text 18"/>
          <p:cNvSpPr/>
          <p:nvPr/>
        </p:nvSpPr>
        <p:spPr>
          <a:xfrm>
            <a:off x="3566160" y="3648456"/>
            <a:ext cx="7982712" cy="411480"/>
          </a:xfrm>
          <a:prstGeom prst="rect">
            <a:avLst/>
          </a:prstGeom>
          <a:noFill/>
          <a:ln/>
        </p:spPr>
        <p:txBody>
          <a:bodyPr wrap="square" lIns="0" tIns="0" rIns="0" bIns="0" rtlCol="0" anchor="ctr"/>
          <a:lstStyle/>
          <a:p>
            <a:pPr indent="0" marL="0">
              <a:buNone/>
            </a:pPr>
            <a:r>
              <a:rPr lang="en-US" sz="1250" dirty="0">
                <a:solidFill>
                  <a:srgbClr val="5B6770"/>
                </a:solidFill>
                <a:latin typeface="Nunito" pitchFamily="34" charset="0"/>
                <a:ea typeface="Nunito" pitchFamily="34" charset="-122"/>
                <a:cs typeface="Nunito" pitchFamily="34" charset="-120"/>
              </a:rPr>
              <a:t>Other track - UCI data-parsing script and website planning (no GUI)</a:t>
            </a:r>
            <a:endParaRPr lang="en-US" sz="1250" dirty="0"/>
          </a:p>
        </p:txBody>
      </p:sp>
      <p:sp>
        <p:nvSpPr>
          <p:cNvPr id="21" name="Shape 19"/>
          <p:cNvSpPr/>
          <p:nvPr/>
        </p:nvSpPr>
        <p:spPr>
          <a:xfrm>
            <a:off x="694944" y="4114800"/>
            <a:ext cx="182880" cy="182880"/>
          </a:xfrm>
          <a:prstGeom prst="ellipse">
            <a:avLst/>
          </a:prstGeom>
          <a:solidFill>
            <a:srgbClr val="2F6FE0"/>
          </a:solidFill>
          <a:ln w="25400">
            <a:solidFill>
              <a:srgbClr val="FFFFFF"/>
            </a:solidFill>
            <a:prstDash val="solid"/>
          </a:ln>
        </p:spPr>
      </p:sp>
      <p:sp>
        <p:nvSpPr>
          <p:cNvPr id="22" name="Text 20"/>
          <p:cNvSpPr/>
          <p:nvPr/>
        </p:nvSpPr>
        <p:spPr>
          <a:xfrm>
            <a:off x="1097280" y="4050792"/>
            <a:ext cx="2286000" cy="365760"/>
          </a:xfrm>
          <a:prstGeom prst="rect">
            <a:avLst/>
          </a:prstGeom>
          <a:noFill/>
          <a:ln/>
        </p:spPr>
        <p:txBody>
          <a:bodyPr wrap="square" lIns="0" tIns="0" rIns="0" bIns="0" rtlCol="0" anchor="ctr"/>
          <a:lstStyle/>
          <a:p>
            <a:pPr indent="0" marL="0">
              <a:buNone/>
            </a:pPr>
            <a:r>
              <a:rPr lang="en-US" sz="1300" b="1" dirty="0">
                <a:solidFill>
                  <a:srgbClr val="1F2933"/>
                </a:solidFill>
                <a:latin typeface="Nunito" pitchFamily="34" charset="0"/>
                <a:ea typeface="Nunito" pitchFamily="34" charset="-122"/>
                <a:cs typeface="Nunito" pitchFamily="34" charset="-120"/>
              </a:rPr>
              <a:t>Day 24  ·  Jun 17</a:t>
            </a:r>
            <a:endParaRPr lang="en-US" sz="1300" dirty="0"/>
          </a:p>
        </p:txBody>
      </p:sp>
      <p:sp>
        <p:nvSpPr>
          <p:cNvPr id="23" name="Text 21"/>
          <p:cNvSpPr/>
          <p:nvPr/>
        </p:nvSpPr>
        <p:spPr>
          <a:xfrm>
            <a:off x="3566160" y="4050792"/>
            <a:ext cx="7982712" cy="411480"/>
          </a:xfrm>
          <a:prstGeom prst="rect">
            <a:avLst/>
          </a:prstGeom>
          <a:noFill/>
          <a:ln/>
        </p:spPr>
        <p:txBody>
          <a:bodyPr wrap="square" lIns="0" tIns="0" rIns="0" bIns="0" rtlCol="0" anchor="ctr"/>
          <a:lstStyle/>
          <a:p>
            <a:pPr indent="0" marL="0">
              <a:buNone/>
            </a:pPr>
            <a:r>
              <a:rPr lang="en-US" sz="1250" dirty="0">
                <a:solidFill>
                  <a:srgbClr val="5B6770"/>
                </a:solidFill>
                <a:latin typeface="Nunito" pitchFamily="34" charset="0"/>
                <a:ea typeface="Nunito" pitchFamily="34" charset="-122"/>
                <a:cs typeface="Nunito" pitchFamily="34" charset="-120"/>
              </a:rPr>
              <a:t>Real-hardware behavior - true home each test, Shear wired to the load cell, manual force-feedback</a:t>
            </a:r>
            <a:endParaRPr lang="en-US" sz="1250" dirty="0"/>
          </a:p>
        </p:txBody>
      </p:sp>
      <p:sp>
        <p:nvSpPr>
          <p:cNvPr id="24" name="Shape 22"/>
          <p:cNvSpPr/>
          <p:nvPr/>
        </p:nvSpPr>
        <p:spPr>
          <a:xfrm>
            <a:off x="694944" y="4517136"/>
            <a:ext cx="182880" cy="182880"/>
          </a:xfrm>
          <a:prstGeom prst="ellipse">
            <a:avLst/>
          </a:prstGeom>
          <a:solidFill>
            <a:srgbClr val="2F6FE0"/>
          </a:solidFill>
          <a:ln w="25400">
            <a:solidFill>
              <a:srgbClr val="FFFFFF"/>
            </a:solidFill>
            <a:prstDash val="solid"/>
          </a:ln>
        </p:spPr>
      </p:sp>
      <p:sp>
        <p:nvSpPr>
          <p:cNvPr id="25" name="Text 23"/>
          <p:cNvSpPr/>
          <p:nvPr/>
        </p:nvSpPr>
        <p:spPr>
          <a:xfrm>
            <a:off x="1097280" y="4453128"/>
            <a:ext cx="2286000" cy="365760"/>
          </a:xfrm>
          <a:prstGeom prst="rect">
            <a:avLst/>
          </a:prstGeom>
          <a:noFill/>
          <a:ln/>
        </p:spPr>
        <p:txBody>
          <a:bodyPr wrap="square" lIns="0" tIns="0" rIns="0" bIns="0" rtlCol="0" anchor="ctr"/>
          <a:lstStyle/>
          <a:p>
            <a:pPr indent="0" marL="0">
              <a:buNone/>
            </a:pPr>
            <a:r>
              <a:rPr lang="en-US" sz="1300" b="1" dirty="0">
                <a:solidFill>
                  <a:srgbClr val="1F2933"/>
                </a:solidFill>
                <a:latin typeface="Nunito" pitchFamily="34" charset="0"/>
                <a:ea typeface="Nunito" pitchFamily="34" charset="-122"/>
                <a:cs typeface="Nunito" pitchFamily="34" charset="-120"/>
              </a:rPr>
              <a:t>Day 25  ·  Jun 18</a:t>
            </a:r>
            <a:endParaRPr lang="en-US" sz="1300" dirty="0"/>
          </a:p>
        </p:txBody>
      </p:sp>
      <p:sp>
        <p:nvSpPr>
          <p:cNvPr id="26" name="Text 24"/>
          <p:cNvSpPr/>
          <p:nvPr/>
        </p:nvSpPr>
        <p:spPr>
          <a:xfrm>
            <a:off x="3566160" y="4453128"/>
            <a:ext cx="7982712" cy="411480"/>
          </a:xfrm>
          <a:prstGeom prst="rect">
            <a:avLst/>
          </a:prstGeom>
          <a:noFill/>
          <a:ln/>
        </p:spPr>
        <p:txBody>
          <a:bodyPr wrap="square" lIns="0" tIns="0" rIns="0" bIns="0" rtlCol="0" anchor="ctr"/>
          <a:lstStyle/>
          <a:p>
            <a:pPr indent="0" marL="0">
              <a:buNone/>
            </a:pPr>
            <a:r>
              <a:rPr lang="en-US" sz="1250" dirty="0">
                <a:solidFill>
                  <a:srgbClr val="5B6770"/>
                </a:solidFill>
                <a:latin typeface="Nunito" pitchFamily="34" charset="0"/>
                <a:ea typeface="Nunito" pitchFamily="34" charset="-122"/>
                <a:cs typeface="Nunito" pitchFamily="34" charset="-120"/>
              </a:rPr>
              <a:t>Load-cell reliability - the single-owner reader, plus fatigue and EM safety fixes</a:t>
            </a:r>
            <a:endParaRPr lang="en-US" sz="1250" dirty="0"/>
          </a:p>
        </p:txBody>
      </p:sp>
      <p:sp>
        <p:nvSpPr>
          <p:cNvPr id="27" name="Shape 25"/>
          <p:cNvSpPr/>
          <p:nvPr/>
        </p:nvSpPr>
        <p:spPr>
          <a:xfrm>
            <a:off x="694944" y="4919472"/>
            <a:ext cx="182880" cy="182880"/>
          </a:xfrm>
          <a:prstGeom prst="ellipse">
            <a:avLst/>
          </a:prstGeom>
          <a:solidFill>
            <a:srgbClr val="B6BFC6"/>
          </a:solidFill>
          <a:ln w="25400">
            <a:solidFill>
              <a:srgbClr val="FFFFFF"/>
            </a:solidFill>
            <a:prstDash val="solid"/>
          </a:ln>
        </p:spPr>
      </p:sp>
      <p:sp>
        <p:nvSpPr>
          <p:cNvPr id="28" name="Text 26"/>
          <p:cNvSpPr/>
          <p:nvPr/>
        </p:nvSpPr>
        <p:spPr>
          <a:xfrm>
            <a:off x="1097280" y="4855464"/>
            <a:ext cx="2286000" cy="365760"/>
          </a:xfrm>
          <a:prstGeom prst="rect">
            <a:avLst/>
          </a:prstGeom>
          <a:noFill/>
          <a:ln/>
        </p:spPr>
        <p:txBody>
          <a:bodyPr wrap="square" lIns="0" tIns="0" rIns="0" bIns="0" rtlCol="0" anchor="ctr"/>
          <a:lstStyle/>
          <a:p>
            <a:pPr indent="0" marL="0">
              <a:buNone/>
            </a:pPr>
            <a:r>
              <a:rPr lang="en-US" sz="1300" b="1" dirty="0">
                <a:solidFill>
                  <a:srgbClr val="5B6770"/>
                </a:solidFill>
                <a:latin typeface="Nunito" pitchFamily="34" charset="0"/>
                <a:ea typeface="Nunito" pitchFamily="34" charset="-122"/>
                <a:cs typeface="Nunito" pitchFamily="34" charset="-120"/>
              </a:rPr>
              <a:t>Day 26  ·  Jun 19</a:t>
            </a:r>
            <a:endParaRPr lang="en-US" sz="1300" dirty="0"/>
          </a:p>
        </p:txBody>
      </p:sp>
      <p:sp>
        <p:nvSpPr>
          <p:cNvPr id="29" name="Text 27"/>
          <p:cNvSpPr/>
          <p:nvPr/>
        </p:nvSpPr>
        <p:spPr>
          <a:xfrm>
            <a:off x="3566160" y="4855464"/>
            <a:ext cx="7982712" cy="411480"/>
          </a:xfrm>
          <a:prstGeom prst="rect">
            <a:avLst/>
          </a:prstGeom>
          <a:noFill/>
          <a:ln/>
        </p:spPr>
        <p:txBody>
          <a:bodyPr wrap="square" lIns="0" tIns="0" rIns="0" bIns="0" rtlCol="0" anchor="ctr"/>
          <a:lstStyle/>
          <a:p>
            <a:pPr indent="0" marL="0">
              <a:buNone/>
            </a:pPr>
            <a:r>
              <a:rPr lang="en-US" sz="1250" dirty="0">
                <a:solidFill>
                  <a:srgbClr val="5B6770"/>
                </a:solidFill>
                <a:latin typeface="Nunito" pitchFamily="34" charset="0"/>
                <a:ea typeface="Nunito" pitchFamily="34" charset="-122"/>
                <a:cs typeface="Nunito" pitchFamily="34" charset="-120"/>
              </a:rPr>
              <a:t>Other track - competitor research and a clinical-affairs interview (no GUI)</a:t>
            </a:r>
            <a:endParaRPr lang="en-US" sz="1250" dirty="0"/>
          </a:p>
        </p:txBody>
      </p:sp>
      <p:sp>
        <p:nvSpPr>
          <p:cNvPr id="30" name="Shape 28"/>
          <p:cNvSpPr/>
          <p:nvPr/>
        </p:nvSpPr>
        <p:spPr>
          <a:xfrm>
            <a:off x="694944" y="5321808"/>
            <a:ext cx="182880" cy="182880"/>
          </a:xfrm>
          <a:prstGeom prst="ellipse">
            <a:avLst/>
          </a:prstGeom>
          <a:solidFill>
            <a:srgbClr val="2F6FE0"/>
          </a:solidFill>
          <a:ln w="25400">
            <a:solidFill>
              <a:srgbClr val="FFFFFF"/>
            </a:solidFill>
            <a:prstDash val="solid"/>
          </a:ln>
        </p:spPr>
      </p:sp>
      <p:sp>
        <p:nvSpPr>
          <p:cNvPr id="31" name="Text 29"/>
          <p:cNvSpPr/>
          <p:nvPr/>
        </p:nvSpPr>
        <p:spPr>
          <a:xfrm>
            <a:off x="1097280" y="5257800"/>
            <a:ext cx="2286000" cy="365760"/>
          </a:xfrm>
          <a:prstGeom prst="rect">
            <a:avLst/>
          </a:prstGeom>
          <a:noFill/>
          <a:ln/>
        </p:spPr>
        <p:txBody>
          <a:bodyPr wrap="square" lIns="0" tIns="0" rIns="0" bIns="0" rtlCol="0" anchor="ctr"/>
          <a:lstStyle/>
          <a:p>
            <a:pPr indent="0" marL="0">
              <a:buNone/>
            </a:pPr>
            <a:r>
              <a:rPr lang="en-US" sz="1300" b="1" dirty="0">
                <a:solidFill>
                  <a:srgbClr val="1F2933"/>
                </a:solidFill>
                <a:latin typeface="Nunito" pitchFamily="34" charset="0"/>
                <a:ea typeface="Nunito" pitchFamily="34" charset="-122"/>
                <a:cs typeface="Nunito" pitchFamily="34" charset="-120"/>
              </a:rPr>
              <a:t>Day 27  ·  Jun 22</a:t>
            </a:r>
            <a:endParaRPr lang="en-US" sz="1300" dirty="0"/>
          </a:p>
        </p:txBody>
      </p:sp>
      <p:sp>
        <p:nvSpPr>
          <p:cNvPr id="32" name="Text 30"/>
          <p:cNvSpPr/>
          <p:nvPr/>
        </p:nvSpPr>
        <p:spPr>
          <a:xfrm>
            <a:off x="3566160" y="5257800"/>
            <a:ext cx="7982712" cy="411480"/>
          </a:xfrm>
          <a:prstGeom prst="rect">
            <a:avLst/>
          </a:prstGeom>
          <a:noFill/>
          <a:ln/>
        </p:spPr>
        <p:txBody>
          <a:bodyPr wrap="square" lIns="0" tIns="0" rIns="0" bIns="0" rtlCol="0" anchor="ctr"/>
          <a:lstStyle/>
          <a:p>
            <a:pPr indent="0" marL="0">
              <a:buNone/>
            </a:pPr>
            <a:r>
              <a:rPr lang="en-US" sz="1250" dirty="0">
                <a:solidFill>
                  <a:srgbClr val="5B6770"/>
                </a:solidFill>
                <a:latin typeface="Nunito" pitchFamily="34" charset="0"/>
                <a:ea typeface="Nunito" pitchFamily="34" charset="-122"/>
                <a:cs typeface="Nunito" pitchFamily="34" charset="-120"/>
              </a:rPr>
              <a:t>Snap-to input limits, the limits and bounds reference, and user-story reconciliation</a:t>
            </a:r>
            <a:endParaRPr lang="en-US" sz="1250" dirty="0"/>
          </a:p>
        </p:txBody>
      </p:sp>
      <p:sp>
        <p:nvSpPr>
          <p:cNvPr id="33" name="Shape 31"/>
          <p:cNvSpPr/>
          <p:nvPr/>
        </p:nvSpPr>
        <p:spPr>
          <a:xfrm>
            <a:off x="694944" y="5724144"/>
            <a:ext cx="182880" cy="182880"/>
          </a:xfrm>
          <a:prstGeom prst="ellipse">
            <a:avLst/>
          </a:prstGeom>
          <a:solidFill>
            <a:srgbClr val="2F6FE0"/>
          </a:solidFill>
          <a:ln w="25400">
            <a:solidFill>
              <a:srgbClr val="FFFFFF"/>
            </a:solidFill>
            <a:prstDash val="solid"/>
          </a:ln>
        </p:spPr>
      </p:sp>
      <p:sp>
        <p:nvSpPr>
          <p:cNvPr id="34" name="Text 32"/>
          <p:cNvSpPr/>
          <p:nvPr/>
        </p:nvSpPr>
        <p:spPr>
          <a:xfrm>
            <a:off x="1097280" y="5660136"/>
            <a:ext cx="2286000" cy="365760"/>
          </a:xfrm>
          <a:prstGeom prst="rect">
            <a:avLst/>
          </a:prstGeom>
          <a:noFill/>
          <a:ln/>
        </p:spPr>
        <p:txBody>
          <a:bodyPr wrap="square" lIns="0" tIns="0" rIns="0" bIns="0" rtlCol="0" anchor="ctr"/>
          <a:lstStyle/>
          <a:p>
            <a:pPr indent="0" marL="0">
              <a:buNone/>
            </a:pPr>
            <a:r>
              <a:rPr lang="en-US" sz="1300" b="1" dirty="0">
                <a:solidFill>
                  <a:srgbClr val="1F2933"/>
                </a:solidFill>
                <a:latin typeface="Nunito" pitchFamily="34" charset="0"/>
                <a:ea typeface="Nunito" pitchFamily="34" charset="-122"/>
                <a:cs typeface="Nunito" pitchFamily="34" charset="-120"/>
              </a:rPr>
              <a:t>Day 28  ·  Jun 23</a:t>
            </a:r>
            <a:endParaRPr lang="en-US" sz="1300" dirty="0"/>
          </a:p>
        </p:txBody>
      </p:sp>
      <p:sp>
        <p:nvSpPr>
          <p:cNvPr id="35" name="Text 33"/>
          <p:cNvSpPr/>
          <p:nvPr/>
        </p:nvSpPr>
        <p:spPr>
          <a:xfrm>
            <a:off x="3566160" y="5660136"/>
            <a:ext cx="7982712" cy="411480"/>
          </a:xfrm>
          <a:prstGeom prst="rect">
            <a:avLst/>
          </a:prstGeom>
          <a:noFill/>
          <a:ln/>
        </p:spPr>
        <p:txBody>
          <a:bodyPr wrap="square" lIns="0" tIns="0" rIns="0" bIns="0" rtlCol="0" anchor="ctr"/>
          <a:lstStyle/>
          <a:p>
            <a:pPr indent="0" marL="0">
              <a:buNone/>
            </a:pPr>
            <a:r>
              <a:rPr lang="en-US" sz="1250" dirty="0">
                <a:solidFill>
                  <a:srgbClr val="5B6770"/>
                </a:solidFill>
                <a:latin typeface="Nunito" pitchFamily="34" charset="0"/>
                <a:ea typeface="Nunito" pitchFamily="34" charset="-122"/>
                <a:cs typeface="Nunito" pitchFamily="34" charset="-120"/>
              </a:rPr>
              <a:t>Formal test plan done - 45 EM test cases across functional, negative, interruption, boundary, and journey paths</a:t>
            </a:r>
            <a:endParaRPr lang="en-US" sz="1250" dirty="0"/>
          </a:p>
        </p:txBody>
      </p:sp>
      <p:sp>
        <p:nvSpPr>
          <p:cNvPr id="36" name="Shape 34"/>
          <p:cNvSpPr/>
          <p:nvPr/>
        </p:nvSpPr>
        <p:spPr>
          <a:xfrm>
            <a:off x="694944" y="6126480"/>
            <a:ext cx="182880" cy="182880"/>
          </a:xfrm>
          <a:prstGeom prst="ellipse">
            <a:avLst/>
          </a:prstGeom>
          <a:solidFill>
            <a:srgbClr val="2F6FE0"/>
          </a:solidFill>
          <a:ln w="25400">
            <a:solidFill>
              <a:srgbClr val="FFFFFF"/>
            </a:solidFill>
            <a:prstDash val="solid"/>
          </a:ln>
        </p:spPr>
      </p:sp>
      <p:sp>
        <p:nvSpPr>
          <p:cNvPr id="37" name="Text 35"/>
          <p:cNvSpPr/>
          <p:nvPr/>
        </p:nvSpPr>
        <p:spPr>
          <a:xfrm>
            <a:off x="1097280" y="6062472"/>
            <a:ext cx="2286000" cy="365760"/>
          </a:xfrm>
          <a:prstGeom prst="rect">
            <a:avLst/>
          </a:prstGeom>
          <a:noFill/>
          <a:ln/>
        </p:spPr>
        <p:txBody>
          <a:bodyPr wrap="square" lIns="0" tIns="0" rIns="0" bIns="0" rtlCol="0" anchor="ctr"/>
          <a:lstStyle/>
          <a:p>
            <a:pPr indent="0" marL="0">
              <a:buNone/>
            </a:pPr>
            <a:r>
              <a:rPr lang="en-US" sz="1300" b="1" dirty="0">
                <a:solidFill>
                  <a:srgbClr val="1F2933"/>
                </a:solidFill>
                <a:latin typeface="Nunito" pitchFamily="34" charset="0"/>
                <a:ea typeface="Nunito" pitchFamily="34" charset="-122"/>
                <a:cs typeface="Nunito" pitchFamily="34" charset="-120"/>
              </a:rPr>
              <a:t>Day 29-30  ·  Jun 24-25</a:t>
            </a:r>
            <a:endParaRPr lang="en-US" sz="1300" dirty="0"/>
          </a:p>
        </p:txBody>
      </p:sp>
      <p:sp>
        <p:nvSpPr>
          <p:cNvPr id="38" name="Text 36"/>
          <p:cNvSpPr/>
          <p:nvPr/>
        </p:nvSpPr>
        <p:spPr>
          <a:xfrm>
            <a:off x="3566160" y="6062472"/>
            <a:ext cx="7982712" cy="411480"/>
          </a:xfrm>
          <a:prstGeom prst="rect">
            <a:avLst/>
          </a:prstGeom>
          <a:noFill/>
          <a:ln/>
        </p:spPr>
        <p:txBody>
          <a:bodyPr wrap="square" lIns="0" tIns="0" rIns="0" bIns="0" rtlCol="0" anchor="ctr"/>
          <a:lstStyle/>
          <a:p>
            <a:pPr indent="0" marL="0">
              <a:buNone/>
            </a:pPr>
            <a:r>
              <a:rPr lang="en-US" sz="1250" dirty="0">
                <a:solidFill>
                  <a:srgbClr val="5B6770"/>
                </a:solidFill>
                <a:latin typeface="Nunito" pitchFamily="34" charset="0"/>
                <a:ea typeface="Nunito" pitchFamily="34" charset="-122"/>
                <a:cs typeface="Nunito" pitchFamily="34" charset="-120"/>
              </a:rPr>
              <a:t>Connection gating and deferred EM run files, square-wave characterization, shear CAP-file prompt, travel limit to 41 mm</a:t>
            </a:r>
            <a:endParaRPr lang="en-US" sz="1250" dirty="0"/>
          </a:p>
        </p:txBody>
      </p:sp>
      <p:sp>
        <p:nvSpPr>
          <p:cNvPr id="39" name="Shape 37"/>
          <p:cNvSpPr/>
          <p:nvPr/>
        </p:nvSpPr>
        <p:spPr>
          <a:xfrm>
            <a:off x="694944" y="6528816"/>
            <a:ext cx="182880" cy="182880"/>
          </a:xfrm>
          <a:prstGeom prst="ellipse">
            <a:avLst/>
          </a:prstGeom>
          <a:solidFill>
            <a:srgbClr val="2F6FE0"/>
          </a:solidFill>
          <a:ln w="25400">
            <a:solidFill>
              <a:srgbClr val="FFFFFF"/>
            </a:solidFill>
            <a:prstDash val="solid"/>
          </a:ln>
        </p:spPr>
      </p:sp>
      <p:sp>
        <p:nvSpPr>
          <p:cNvPr id="40" name="Text 38"/>
          <p:cNvSpPr/>
          <p:nvPr/>
        </p:nvSpPr>
        <p:spPr>
          <a:xfrm>
            <a:off x="1097280" y="6464808"/>
            <a:ext cx="2286000" cy="365760"/>
          </a:xfrm>
          <a:prstGeom prst="rect">
            <a:avLst/>
          </a:prstGeom>
          <a:noFill/>
          <a:ln/>
        </p:spPr>
        <p:txBody>
          <a:bodyPr wrap="square" lIns="0" tIns="0" rIns="0" bIns="0" rtlCol="0" anchor="ctr"/>
          <a:lstStyle/>
          <a:p>
            <a:pPr indent="0" marL="0">
              <a:buNone/>
            </a:pPr>
            <a:r>
              <a:rPr lang="en-US" sz="1300" b="1" dirty="0">
                <a:solidFill>
                  <a:srgbClr val="1F2933"/>
                </a:solidFill>
                <a:latin typeface="Nunito" pitchFamily="34" charset="0"/>
                <a:ea typeface="Nunito" pitchFamily="34" charset="-122"/>
                <a:cs typeface="Nunito" pitchFamily="34" charset="-120"/>
              </a:rPr>
              <a:t>Day 33-36  ·  Jun 30-Jul 3</a:t>
            </a:r>
            <a:endParaRPr lang="en-US" sz="1300" dirty="0"/>
          </a:p>
        </p:txBody>
      </p:sp>
      <p:sp>
        <p:nvSpPr>
          <p:cNvPr id="41" name="Text 39"/>
          <p:cNvSpPr/>
          <p:nvPr/>
        </p:nvSpPr>
        <p:spPr>
          <a:xfrm>
            <a:off x="3566160" y="6464808"/>
            <a:ext cx="7982712" cy="411480"/>
          </a:xfrm>
          <a:prstGeom prst="rect">
            <a:avLst/>
          </a:prstGeom>
          <a:noFill/>
          <a:ln/>
        </p:spPr>
        <p:txBody>
          <a:bodyPr wrap="square" lIns="0" tIns="0" rIns="0" bIns="0" rtlCol="0" anchor="ctr"/>
          <a:lstStyle/>
          <a:p>
            <a:pPr indent="0" marL="0">
              <a:buNone/>
            </a:pPr>
            <a:r>
              <a:rPr lang="en-US" sz="1250" dirty="0">
                <a:solidFill>
                  <a:srgbClr val="5B6770"/>
                </a:solidFill>
                <a:latin typeface="Nunito" pitchFamily="34" charset="0"/>
                <a:ea typeface="Nunito" pitchFamily="34" charset="-122"/>
                <a:cs typeface="Nunito" pitchFamily="34" charset="-120"/>
              </a:rPr>
              <a:t>Interactive live graphs and Manual Start button; disconnect recovery, retract-to-home, and load-cell reopen; waveform-dependent fatigue frequency; live COM port list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DOCUMENTATION</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It's all tracked in one workbook</a:t>
            </a:r>
            <a:endParaRPr lang="en-US" sz="3100" dirty="0"/>
          </a:p>
        </p:txBody>
      </p:sp>
      <p:sp>
        <p:nvSpPr>
          <p:cNvPr id="4" name="Text 2"/>
          <p:cNvSpPr/>
          <p:nvPr/>
        </p:nvSpPr>
        <p:spPr>
          <a:xfrm>
            <a:off x="640080" y="1591056"/>
            <a:ext cx="10908792" cy="365760"/>
          </a:xfrm>
          <a:prstGeom prst="rect">
            <a:avLst/>
          </a:prstGeom>
          <a:noFill/>
          <a:ln/>
        </p:spPr>
        <p:txBody>
          <a:bodyPr wrap="square" lIns="0" tIns="0" rIns="0" bIns="0" rtlCol="0" anchor="ctr"/>
          <a:lstStyle/>
          <a:p>
            <a:pPr indent="0" marL="0">
              <a:lnSpc>
                <a:spcPct val="105000"/>
              </a:lnSpc>
              <a:buNone/>
            </a:pPr>
            <a:r>
              <a:rPr lang="en-US" sz="1350" i="1" dirty="0">
                <a:solidFill>
                  <a:srgbClr val="5B6770"/>
                </a:solidFill>
                <a:latin typeface="Nunito" pitchFamily="34" charset="0"/>
                <a:ea typeface="Nunito" pitchFamily="34" charset="-122"/>
                <a:cs typeface="Nunito" pitchFamily="34" charset="-120"/>
              </a:rPr>
              <a:t>Every requirement, change, and check lives in a single documentation workbook, so nothing is only in someone's head.</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10908792" cy="914400"/>
        </p:xfrm>
        <a:graphic>
          <a:graphicData uri="http://schemas.openxmlformats.org/drawingml/2006/table">
            <a:tbl>
              <a:tblPr/>
              <a:tblGrid>
                <a:gridCol w="3108960"/>
                <a:gridCol w="5971032"/>
                <a:gridCol w="1828800"/>
              </a:tblGrid>
              <a:tr h="329184">
                <a:tc>
                  <a:txBody>
                    <a:bodyPr/>
                    <a:lstStyle/>
                    <a:p>
                      <a:pPr algn="l" indent="0" marL="0">
                        <a:buNone/>
                      </a:pPr>
                      <a:r>
                        <a:rPr lang="en-US" sz="1250" b="1" dirty="0">
                          <a:solidFill>
                            <a:srgbClr val="FFFFFF"/>
                          </a:solidFill>
                          <a:latin typeface="Nunito" pitchFamily="34" charset="0"/>
                          <a:ea typeface="Nunito" pitchFamily="34" charset="-122"/>
                          <a:cs typeface="Nunito" pitchFamily="34" charset="-120"/>
                        </a:rPr>
                        <a:t>Section</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c>
                  <a:txBody>
                    <a:bodyPr/>
                    <a:lstStyle/>
                    <a:p>
                      <a:pPr algn="l" indent="0" marL="0">
                        <a:buNone/>
                      </a:pPr>
                      <a:r>
                        <a:rPr lang="en-US" sz="1250" b="1" dirty="0">
                          <a:solidFill>
                            <a:srgbClr val="FFFFFF"/>
                          </a:solidFill>
                          <a:latin typeface="Nunito" pitchFamily="34" charset="0"/>
                          <a:ea typeface="Nunito" pitchFamily="34" charset="-122"/>
                          <a:cs typeface="Nunito" pitchFamily="34" charset="-120"/>
                        </a:rPr>
                        <a:t>What it documents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c>
                  <a:txBody>
                    <a:bodyPr/>
                    <a:lstStyle/>
                    <a:p>
                      <a:pPr algn="l" indent="0" marL="0">
                        <a:buNone/>
                      </a:pPr>
                      <a:r>
                        <a:rPr lang="en-US" sz="1250" b="1" dirty="0">
                          <a:solidFill>
                            <a:srgbClr val="FFFFFF"/>
                          </a:solidFill>
                          <a:latin typeface="Nunito" pitchFamily="34" charset="0"/>
                          <a:ea typeface="Nunito" pitchFamily="34" charset="-122"/>
                          <a:cs typeface="Nunito" pitchFamily="34" charset="-120"/>
                        </a:rPr>
                        <a:t>Size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Verification checklist</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Per-area pass/fail checks: when it happens, pass condition, status, verified</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84 checks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GUI Updates Log</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Every visual, backend, hardware, and documentation change, with files touched and test status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60+ entries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User Story Tracker</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Feature requirements with priority, status, and acceptance criteria</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100+ stories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Limits and bounds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Every input range and fixed physical / safety limit, per test</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reference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Testing info + folder workflow</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Test setup notes and the analysis save workflow</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reference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5394960"/>
            <a:ext cx="10908792" cy="365760"/>
          </a:xfrm>
          <a:prstGeom prst="rect">
            <a:avLst/>
          </a:prstGeom>
          <a:noFill/>
          <a:ln/>
        </p:spPr>
        <p:txBody>
          <a:bodyPr wrap="square" lIns="0" tIns="0" rIns="0" bIns="0" rtlCol="0" anchor="ctr"/>
          <a:lstStyle/>
          <a:p>
            <a:pPr indent="0" marL="0">
              <a:buNone/>
            </a:pPr>
            <a:r>
              <a:rPr lang="en-US" sz="1150" i="1" dirty="0">
                <a:solidFill>
                  <a:srgbClr val="5B6770"/>
                </a:solidFill>
                <a:latin typeface="Nunito" pitchFamily="34" charset="0"/>
                <a:ea typeface="Nunito" pitchFamily="34" charset="-122"/>
                <a:cs typeface="Nunito" pitchFamily="34" charset="-120"/>
              </a:rPr>
              <a:t>Across 14 sheets. The checklist drives the formal test pass; the updates log is the change history.</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DOCUMENTATION</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The documentation folder</a:t>
            </a:r>
            <a:endParaRPr lang="en-US" sz="3100" dirty="0"/>
          </a:p>
        </p:txBody>
      </p:sp>
      <p:sp>
        <p:nvSpPr>
          <p:cNvPr id="4" name="Text 2"/>
          <p:cNvSpPr/>
          <p:nvPr/>
        </p:nvSpPr>
        <p:spPr>
          <a:xfrm>
            <a:off x="640080" y="1591056"/>
            <a:ext cx="10908792" cy="365760"/>
          </a:xfrm>
          <a:prstGeom prst="rect">
            <a:avLst/>
          </a:prstGeom>
          <a:noFill/>
          <a:ln/>
        </p:spPr>
        <p:txBody>
          <a:bodyPr wrap="square" lIns="0" tIns="0" rIns="0" bIns="0" rtlCol="0" anchor="ctr"/>
          <a:lstStyle/>
          <a:p>
            <a:pPr indent="0" marL="0">
              <a:lnSpc>
                <a:spcPct val="105000"/>
              </a:lnSpc>
              <a:buNone/>
            </a:pPr>
            <a:r>
              <a:rPr lang="en-US" sz="1350" i="1" dirty="0">
                <a:solidFill>
                  <a:srgbClr val="5B6770"/>
                </a:solidFill>
                <a:latin typeface="Nunito" pitchFamily="34" charset="0"/>
                <a:ea typeface="Nunito" pitchFamily="34" charset="-122"/>
                <a:cs typeface="Nunito" pitchFamily="34" charset="-120"/>
              </a:rPr>
              <a:t>Beyond the tracking workbook, the reader-facing docs are organized into six guides - each written for a specific reader.</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10908792" cy="914400"/>
        </p:xfrm>
        <a:graphic>
          <a:graphicData uri="http://schemas.openxmlformats.org/drawingml/2006/table">
            <a:tbl>
              <a:tblPr/>
              <a:tblGrid>
                <a:gridCol w="3657600"/>
                <a:gridCol w="7251192"/>
              </a:tblGrid>
              <a:tr h="329184">
                <a:tc>
                  <a:txBody>
                    <a:bodyPr/>
                    <a:lstStyle/>
                    <a:p>
                      <a:pPr algn="l" indent="0" marL="0">
                        <a:buNone/>
                      </a:pPr>
                      <a:r>
                        <a:rPr lang="en-US" sz="1250" b="1" dirty="0">
                          <a:solidFill>
                            <a:srgbClr val="FFFFFF"/>
                          </a:solidFill>
                          <a:latin typeface="Nunito" pitchFamily="34" charset="0"/>
                          <a:ea typeface="Nunito" pitchFamily="34" charset="-122"/>
                          <a:cs typeface="Nunito" pitchFamily="34" charset="-120"/>
                        </a:rPr>
                        <a:t>Document</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c>
                  <a:txBody>
                    <a:bodyPr/>
                    <a:lstStyle/>
                    <a:p>
                      <a:pPr algn="l" indent="0" marL="0">
                        <a:buNone/>
                      </a:pPr>
                      <a:r>
                        <a:rPr lang="en-US" sz="1250" b="1" dirty="0">
                          <a:solidFill>
                            <a:srgbClr val="FFFFFF"/>
                          </a:solidFill>
                          <a:latin typeface="Nunito" pitchFamily="34" charset="0"/>
                          <a:ea typeface="Nunito" pitchFamily="34" charset="-122"/>
                          <a:cs typeface="Nunito" pitchFamily="34" charset="-120"/>
                        </a:rPr>
                        <a:t>What's inside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1 · Project overview</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What the GUI is, the goals it serves, and the scope of each test workflow</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2 · Operator guide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Step by step: how to set up, run, and analyze each test at the bench</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3 · Technical reference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Every limit, bound, safety stop, and force formula, per test</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4 · Developer guide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Architecture, code layout, and how to build and extend the app</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5 · Test plan and verification</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Formal test cases plus the pass/fail verification checklist</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6 · Design concepts and proposals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Mockups, future-feature proposals, and the design decisions behind them</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5440680"/>
            <a:ext cx="10908792" cy="365760"/>
          </a:xfrm>
          <a:prstGeom prst="rect">
            <a:avLst/>
          </a:prstGeom>
          <a:noFill/>
          <a:ln/>
        </p:spPr>
        <p:txBody>
          <a:bodyPr wrap="square" lIns="0" tIns="0" rIns="0" bIns="0" rtlCol="0" anchor="ctr"/>
          <a:lstStyle/>
          <a:p>
            <a:pPr indent="0" marL="0">
              <a:buNone/>
            </a:pPr>
            <a:r>
              <a:rPr lang="en-US" sz="1250" b="1" i="1" dirty="0">
                <a:solidFill>
                  <a:srgbClr val="2F6FE0"/>
                </a:solidFill>
                <a:latin typeface="Nunito" pitchFamily="34" charset="0"/>
                <a:ea typeface="Nunito" pitchFamily="34" charset="-122"/>
                <a:cs typeface="Nunito" pitchFamily="34" charset="-120"/>
              </a:rPr>
              <a:t>Formal test cases done for 7 of 11 features - 4 to go.</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STATUS</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Where it stands &amp; what's next</a:t>
            </a:r>
            <a:endParaRPr lang="en-US" sz="3100" dirty="0"/>
          </a:p>
        </p:txBody>
      </p:sp>
      <p:sp>
        <p:nvSpPr>
          <p:cNvPr id="4" name="Text 2"/>
          <p:cNvSpPr/>
          <p:nvPr/>
        </p:nvSpPr>
        <p:spPr>
          <a:xfrm>
            <a:off x="640080" y="1737360"/>
            <a:ext cx="5180076" cy="365760"/>
          </a:xfrm>
          <a:prstGeom prst="rect">
            <a:avLst/>
          </a:prstGeom>
          <a:noFill/>
          <a:ln/>
        </p:spPr>
        <p:txBody>
          <a:bodyPr wrap="square" lIns="0" tIns="0" rIns="0" bIns="0" rtlCol="0" anchor="ctr"/>
          <a:lstStyle/>
          <a:p>
            <a:pPr indent="0" marL="0">
              <a:buNone/>
            </a:pPr>
            <a:r>
              <a:rPr lang="en-US" sz="1800" b="1" dirty="0">
                <a:solidFill>
                  <a:srgbClr val="2E875B"/>
                </a:solidFill>
                <a:latin typeface="Nunito" pitchFamily="34" charset="0"/>
                <a:ea typeface="Nunito" pitchFamily="34" charset="-122"/>
                <a:cs typeface="Nunito" pitchFamily="34" charset="-120"/>
              </a:rPr>
              <a:t>Solid now</a:t>
            </a:r>
            <a:endParaRPr lang="en-US" sz="1800" dirty="0"/>
          </a:p>
        </p:txBody>
      </p:sp>
      <p:sp>
        <p:nvSpPr>
          <p:cNvPr id="5" name="Text 3"/>
          <p:cNvSpPr/>
          <p:nvPr/>
        </p:nvSpPr>
        <p:spPr>
          <a:xfrm>
            <a:off x="640080" y="2240280"/>
            <a:ext cx="5180076" cy="2560320"/>
          </a:xfrm>
          <a:prstGeom prst="rect">
            <a:avLst/>
          </a:prstGeom>
          <a:noFill/>
          <a:ln/>
        </p:spPr>
        <p:txBody>
          <a:bodyPr wrap="square" lIns="0" tIns="0" rIns="0" bIns="0" rtlCol="0" anchor="t"/>
          <a:lstStyle/>
          <a:p>
            <a:pPr marL="342900" indent="-342900">
              <a:lnSpc>
                <a:spcPct val="105000"/>
              </a:lnSpc>
              <a:spcAft>
                <a:spcPts val="1200"/>
              </a:spcAft>
              <a:buSzPct val="100000"/>
              <a:buChar char="•"/>
            </a:pPr>
            <a:r>
              <a:rPr lang="en-US" sz="1500" dirty="0">
                <a:solidFill>
                  <a:srgbClr val="1F2933"/>
                </a:solidFill>
                <a:latin typeface="Nunito" pitchFamily="34" charset="0"/>
                <a:ea typeface="Nunito" pitchFamily="34" charset="-122"/>
                <a:cs typeface="Nunito" pitchFamily="34" charset="-120"/>
              </a:rPr>
              <a:t>Every test type runs end to end</a:t>
            </a:r>
            <a:endParaRPr lang="en-US" sz="1500" dirty="0"/>
          </a:p>
          <a:p>
            <a:pPr marL="342900" indent="-342900">
              <a:lnSpc>
                <a:spcPct val="105000"/>
              </a:lnSpc>
              <a:spcAft>
                <a:spcPts val="1200"/>
              </a:spcAft>
              <a:buSzPct val="100000"/>
              <a:buChar char="•"/>
            </a:pPr>
            <a:r>
              <a:rPr lang="en-US" sz="1500" dirty="0">
                <a:solidFill>
                  <a:srgbClr val="1F2933"/>
                </a:solidFill>
                <a:latin typeface="Nunito" pitchFamily="34" charset="0"/>
                <a:ea typeface="Nunito" pitchFamily="34" charset="-122"/>
                <a:cs typeface="Nunito" pitchFamily="34" charset="-120"/>
              </a:rPr>
              <a:t>Safety behaviors verified in simulation</a:t>
            </a:r>
            <a:endParaRPr lang="en-US" sz="1500" dirty="0"/>
          </a:p>
          <a:p>
            <a:pPr marL="342900" indent="-342900">
              <a:lnSpc>
                <a:spcPct val="105000"/>
              </a:lnSpc>
              <a:spcAft>
                <a:spcPts val="1200"/>
              </a:spcAft>
              <a:buSzPct val="100000"/>
              <a:buChar char="•"/>
            </a:pPr>
            <a:r>
              <a:rPr lang="en-US" sz="1500" dirty="0">
                <a:solidFill>
                  <a:srgbClr val="1F2933"/>
                </a:solidFill>
                <a:latin typeface="Nunito" pitchFamily="34" charset="0"/>
                <a:ea typeface="Nunito" pitchFamily="34" charset="-122"/>
                <a:cs typeface="Nunito" pitchFamily="34" charset="-120"/>
              </a:rPr>
              <a:t>Verified on the rig where hardware was available</a:t>
            </a:r>
            <a:endParaRPr lang="en-US" sz="1500" dirty="0"/>
          </a:p>
          <a:p>
            <a:pPr marL="342900" indent="-342900">
              <a:lnSpc>
                <a:spcPct val="105000"/>
              </a:lnSpc>
              <a:spcAft>
                <a:spcPts val="1200"/>
              </a:spcAft>
              <a:buSzPct val="100000"/>
              <a:buChar char="•"/>
            </a:pPr>
            <a:r>
              <a:rPr lang="en-US" sz="1500" dirty="0">
                <a:solidFill>
                  <a:srgbClr val="1F2933"/>
                </a:solidFill>
                <a:latin typeface="Nunito" pitchFamily="34" charset="0"/>
                <a:ea typeface="Nunito" pitchFamily="34" charset="-122"/>
                <a:cs typeface="Nunito" pitchFamily="34" charset="-120"/>
              </a:rPr>
              <a:t>Documentation organized into 6 guides</a:t>
            </a:r>
            <a:endParaRPr lang="en-US" sz="1500" dirty="0"/>
          </a:p>
          <a:p>
            <a:pPr marL="342900" indent="-342900">
              <a:lnSpc>
                <a:spcPct val="105000"/>
              </a:lnSpc>
              <a:spcAft>
                <a:spcPts val="1200"/>
              </a:spcAft>
              <a:buSzPct val="100000"/>
              <a:buChar char="•"/>
            </a:pPr>
            <a:r>
              <a:rPr lang="en-US" sz="1500" dirty="0">
                <a:solidFill>
                  <a:srgbClr val="1F2933"/>
                </a:solidFill>
                <a:latin typeface="Nunito" pitchFamily="34" charset="0"/>
                <a:ea typeface="Nunito" pitchFamily="34" charset="-122"/>
                <a:cs typeface="Nunito" pitchFamily="34" charset="-120"/>
              </a:rPr>
              <a:t>Packaged and runnable without a terminal</a:t>
            </a:r>
            <a:endParaRPr lang="en-US" sz="1500" dirty="0"/>
          </a:p>
        </p:txBody>
      </p:sp>
      <p:sp>
        <p:nvSpPr>
          <p:cNvPr id="6" name="Text 4"/>
          <p:cNvSpPr/>
          <p:nvPr/>
        </p:nvSpPr>
        <p:spPr>
          <a:xfrm>
            <a:off x="6368796" y="1737360"/>
            <a:ext cx="5180076" cy="365760"/>
          </a:xfrm>
          <a:prstGeom prst="rect">
            <a:avLst/>
          </a:prstGeom>
          <a:noFill/>
          <a:ln/>
        </p:spPr>
        <p:txBody>
          <a:bodyPr wrap="square" lIns="0" tIns="0" rIns="0" bIns="0" rtlCol="0" anchor="ctr"/>
          <a:lstStyle/>
          <a:p>
            <a:pPr indent="0" marL="0">
              <a:buNone/>
            </a:pPr>
            <a:r>
              <a:rPr lang="en-US" sz="1800" b="1" dirty="0">
                <a:solidFill>
                  <a:srgbClr val="2F6FE0"/>
                </a:solidFill>
                <a:latin typeface="Nunito" pitchFamily="34" charset="0"/>
                <a:ea typeface="Nunito" pitchFamily="34" charset="-122"/>
                <a:cs typeface="Nunito" pitchFamily="34" charset="-120"/>
              </a:rPr>
              <a:t>Next</a:t>
            </a:r>
            <a:endParaRPr lang="en-US" sz="1800" dirty="0"/>
          </a:p>
        </p:txBody>
      </p:sp>
      <p:sp>
        <p:nvSpPr>
          <p:cNvPr id="7" name="Text 5"/>
          <p:cNvSpPr/>
          <p:nvPr/>
        </p:nvSpPr>
        <p:spPr>
          <a:xfrm>
            <a:off x="6368796" y="2240280"/>
            <a:ext cx="5180076" cy="2560320"/>
          </a:xfrm>
          <a:prstGeom prst="rect">
            <a:avLst/>
          </a:prstGeom>
          <a:noFill/>
          <a:ln/>
        </p:spPr>
        <p:txBody>
          <a:bodyPr wrap="square" lIns="0" tIns="0" rIns="0" bIns="0" rtlCol="0" anchor="t"/>
          <a:lstStyle/>
          <a:p>
            <a:pPr marL="342900" indent="-342900">
              <a:lnSpc>
                <a:spcPct val="105000"/>
              </a:lnSpc>
              <a:spcAft>
                <a:spcPts val="1200"/>
              </a:spcAft>
              <a:buSzPct val="100000"/>
              <a:buChar char="•"/>
            </a:pPr>
            <a:r>
              <a:rPr lang="en-US" sz="1500" dirty="0">
                <a:solidFill>
                  <a:srgbClr val="1F2933"/>
                </a:solidFill>
                <a:latin typeface="Nunito" pitchFamily="34" charset="0"/>
                <a:ea typeface="Nunito" pitchFamily="34" charset="-122"/>
                <a:cs typeface="Nunito" pitchFamily="34" charset="-120"/>
              </a:rPr>
              <a:t>Finish the formal test cases - 7 of 11 features done, 4 to go</a:t>
            </a:r>
            <a:endParaRPr lang="en-US" sz="1500" dirty="0"/>
          </a:p>
          <a:p>
            <a:pPr marL="342900" indent="-342900">
              <a:lnSpc>
                <a:spcPct val="105000"/>
              </a:lnSpc>
              <a:spcAft>
                <a:spcPts val="1200"/>
              </a:spcAft>
              <a:buSzPct val="100000"/>
              <a:buChar char="•"/>
            </a:pPr>
            <a:r>
              <a:rPr lang="en-US" sz="1500" dirty="0">
                <a:solidFill>
                  <a:srgbClr val="1F2933"/>
                </a:solidFill>
                <a:latin typeface="Nunito" pitchFamily="34" charset="0"/>
                <a:ea typeface="Nunito" pitchFamily="34" charset="-122"/>
                <a:cs typeface="Nunito" pitchFamily="34" charset="-120"/>
              </a:rPr>
              <a:t>Confirm safety-critical cases on the real rig</a:t>
            </a:r>
            <a:endParaRPr lang="en-US" sz="1500" dirty="0"/>
          </a:p>
          <a:p>
            <a:pPr marL="342900" indent="-342900">
              <a:lnSpc>
                <a:spcPct val="105000"/>
              </a:lnSpc>
              <a:spcAft>
                <a:spcPts val="1200"/>
              </a:spcAft>
              <a:buSzPct val="100000"/>
              <a:buChar char="•"/>
            </a:pPr>
            <a:r>
              <a:rPr lang="en-US" sz="1500" dirty="0">
                <a:solidFill>
                  <a:srgbClr val="1F2933"/>
                </a:solidFill>
                <a:latin typeface="Nunito" pitchFamily="34" charset="0"/>
                <a:ea typeface="Nunito" pitchFamily="34" charset="-122"/>
                <a:cs typeface="Nunito" pitchFamily="34" charset="-120"/>
              </a:rPr>
              <a:t>Reconcile the user-stories doc to the current GUI</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A33"/>
        </a:solidFill>
      </p:bgPr>
    </p:bg>
    <p:spTree>
      <p:nvGrpSpPr>
        <p:cNvPr id="1" name=""/>
        <p:cNvGrpSpPr/>
        <p:nvPr/>
      </p:nvGrpSpPr>
      <p:grpSpPr>
        <a:xfrm>
          <a:off x="0" y="0"/>
          <a:ext cx="0" cy="0"/>
          <a:chOff x="0" y="0"/>
          <a:chExt cx="0" cy="0"/>
        </a:xfrm>
      </p:grpSpPr>
      <p:sp>
        <p:nvSpPr>
          <p:cNvPr id="2" name="Text 0"/>
          <p:cNvSpPr/>
          <p:nvPr/>
        </p:nvSpPr>
        <p:spPr>
          <a:xfrm>
            <a:off x="640080" y="777240"/>
            <a:ext cx="10908792" cy="320040"/>
          </a:xfrm>
          <a:prstGeom prst="rect">
            <a:avLst/>
          </a:prstGeom>
          <a:noFill/>
          <a:ln/>
        </p:spPr>
        <p:txBody>
          <a:bodyPr wrap="square" lIns="0" tIns="0" rIns="0" bIns="0" rtlCol="0" anchor="ctr"/>
          <a:lstStyle/>
          <a:p>
            <a:pPr indent="0" marL="0">
              <a:buNone/>
            </a:pPr>
            <a:r>
              <a:rPr lang="en-US" sz="1300" b="1" spc="300" kern="0" dirty="0">
                <a:solidFill>
                  <a:srgbClr val="2F6FE0"/>
                </a:solidFill>
                <a:latin typeface="Nunito" pitchFamily="34" charset="0"/>
                <a:ea typeface="Nunito" pitchFamily="34" charset="-122"/>
                <a:cs typeface="Nunito" pitchFamily="34" charset="-120"/>
              </a:rPr>
              <a:t>RESOURCES</a:t>
            </a:r>
            <a:endParaRPr lang="en-US" sz="1300" dirty="0"/>
          </a:p>
        </p:txBody>
      </p:sp>
      <p:sp>
        <p:nvSpPr>
          <p:cNvPr id="3" name="Text 1"/>
          <p:cNvSpPr/>
          <p:nvPr/>
        </p:nvSpPr>
        <p:spPr>
          <a:xfrm>
            <a:off x="640080" y="1097280"/>
            <a:ext cx="10908792" cy="822960"/>
          </a:xfrm>
          <a:prstGeom prst="rect">
            <a:avLst/>
          </a:prstGeom>
          <a:noFill/>
          <a:ln/>
        </p:spPr>
        <p:txBody>
          <a:bodyPr wrap="square" lIns="0" tIns="0" rIns="0" bIns="0" rtlCol="0" anchor="ctr"/>
          <a:lstStyle/>
          <a:p>
            <a:pPr indent="0" marL="0">
              <a:buNone/>
            </a:pPr>
            <a:r>
              <a:rPr lang="en-US" sz="3300" b="1" dirty="0">
                <a:solidFill>
                  <a:srgbClr val="FFFFFF"/>
                </a:solidFill>
                <a:latin typeface="Nunito" pitchFamily="34" charset="0"/>
                <a:ea typeface="Nunito" pitchFamily="34" charset="-122"/>
                <a:cs typeface="Nunito" pitchFamily="34" charset="-120"/>
              </a:rPr>
              <a:t>Documentation &amp; code</a:t>
            </a:r>
            <a:endParaRPr lang="en-US" sz="3300" dirty="0"/>
          </a:p>
        </p:txBody>
      </p:sp>
      <p:sp>
        <p:nvSpPr>
          <p:cNvPr id="4" name="Shape 2"/>
          <p:cNvSpPr/>
          <p:nvPr/>
        </p:nvSpPr>
        <p:spPr>
          <a:xfrm>
            <a:off x="640080" y="2286000"/>
            <a:ext cx="3361944" cy="2880360"/>
          </a:xfrm>
          <a:prstGeom prst="roundRect">
            <a:avLst>
              <a:gd name="adj" fmla="val 1905"/>
            </a:avLst>
          </a:prstGeom>
          <a:solidFill>
            <a:srgbClr val="27343D"/>
          </a:solidFill>
          <a:ln/>
        </p:spPr>
      </p:sp>
      <p:sp>
        <p:nvSpPr>
          <p:cNvPr id="5" name="Text 3"/>
          <p:cNvSpPr/>
          <p:nvPr/>
        </p:nvSpPr>
        <p:spPr>
          <a:xfrm>
            <a:off x="960120" y="2606040"/>
            <a:ext cx="2721864" cy="457200"/>
          </a:xfrm>
          <a:prstGeom prst="rect">
            <a:avLst/>
          </a:prstGeom>
          <a:noFill/>
          <a:ln/>
        </p:spPr>
        <p:txBody>
          <a:bodyPr wrap="square" lIns="0" tIns="0" rIns="0" bIns="0" rtlCol="0" anchor="ctr"/>
          <a:lstStyle/>
          <a:p>
            <a:pPr indent="0" marL="0">
              <a:buNone/>
            </a:pPr>
            <a:r>
              <a:rPr lang="en-US" sz="1900" b="1" dirty="0">
                <a:solidFill>
                  <a:srgbClr val="FFFFFF"/>
                </a:solidFill>
                <a:latin typeface="Nunito" pitchFamily="34" charset="0"/>
                <a:ea typeface="Nunito" pitchFamily="34" charset="-122"/>
                <a:cs typeface="Nunito" pitchFamily="34" charset="-120"/>
              </a:rPr>
              <a:t>User stories</a:t>
            </a:r>
            <a:endParaRPr lang="en-US" sz="1900" dirty="0"/>
          </a:p>
        </p:txBody>
      </p:sp>
      <p:sp>
        <p:nvSpPr>
          <p:cNvPr id="6" name="Text 4"/>
          <p:cNvSpPr/>
          <p:nvPr/>
        </p:nvSpPr>
        <p:spPr>
          <a:xfrm>
            <a:off x="960120" y="3154680"/>
            <a:ext cx="2721864" cy="1417320"/>
          </a:xfrm>
          <a:prstGeom prst="rect">
            <a:avLst/>
          </a:prstGeom>
          <a:noFill/>
          <a:ln/>
        </p:spPr>
        <p:txBody>
          <a:bodyPr wrap="square" lIns="0" tIns="0" rIns="0" bIns="0" rtlCol="0" anchor="ctr"/>
          <a:lstStyle/>
          <a:p>
            <a:pPr indent="0" marL="0">
              <a:lnSpc>
                <a:spcPct val="115000"/>
              </a:lnSpc>
              <a:buNone/>
            </a:pPr>
            <a:r>
              <a:rPr lang="en-US" sz="1300" dirty="0">
                <a:solidFill>
                  <a:srgbClr val="C7D0D6"/>
                </a:solidFill>
                <a:latin typeface="Nunito" pitchFamily="34" charset="0"/>
                <a:ea typeface="Nunito" pitchFamily="34" charset="-122"/>
                <a:cs typeface="Nunito" pitchFamily="34" charset="-120"/>
              </a:rPr>
              <a:t>11 features, 100+ stories - every happy and unhappy path, safety handling, and a verification method for each.</a:t>
            </a:r>
            <a:endParaRPr lang="en-US" sz="1300" dirty="0"/>
          </a:p>
        </p:txBody>
      </p:sp>
      <p:sp>
        <p:nvSpPr>
          <p:cNvPr id="7" name="Text 5"/>
          <p:cNvSpPr/>
          <p:nvPr/>
        </p:nvSpPr>
        <p:spPr>
          <a:xfrm>
            <a:off x="960120" y="4599432"/>
            <a:ext cx="2721864" cy="365760"/>
          </a:xfrm>
          <a:prstGeom prst="rect">
            <a:avLst/>
          </a:prstGeom>
          <a:noFill/>
          <a:ln/>
        </p:spPr>
        <p:txBody>
          <a:bodyPr wrap="square" lIns="0" tIns="0" rIns="0" bIns="0" rtlCol="0" anchor="ctr"/>
          <a:lstStyle/>
          <a:p>
            <a:pPr indent="0" marL="0">
              <a:buNone/>
            </a:pPr>
            <a:r>
              <a:rPr lang="en-US" sz="1150" b="1" dirty="0">
                <a:solidFill>
                  <a:srgbClr val="2F6FE0"/>
                </a:solidFill>
                <a:latin typeface="Nunito" pitchFamily="34" charset="0"/>
                <a:ea typeface="Nunito" pitchFamily="34" charset="-122"/>
                <a:cs typeface="Nunito" pitchFamily="34" charset="-120"/>
              </a:rPr>
              <a:t>[ add link ]</a:t>
            </a:r>
            <a:endParaRPr lang="en-US" sz="1150" dirty="0"/>
          </a:p>
        </p:txBody>
      </p:sp>
      <p:sp>
        <p:nvSpPr>
          <p:cNvPr id="8" name="Shape 6"/>
          <p:cNvSpPr/>
          <p:nvPr/>
        </p:nvSpPr>
        <p:spPr>
          <a:xfrm>
            <a:off x="4413504" y="2286000"/>
            <a:ext cx="3361944" cy="2880360"/>
          </a:xfrm>
          <a:prstGeom prst="roundRect">
            <a:avLst>
              <a:gd name="adj" fmla="val 1905"/>
            </a:avLst>
          </a:prstGeom>
          <a:solidFill>
            <a:srgbClr val="27343D"/>
          </a:solidFill>
          <a:ln/>
        </p:spPr>
      </p:sp>
      <p:sp>
        <p:nvSpPr>
          <p:cNvPr id="9" name="Text 7"/>
          <p:cNvSpPr/>
          <p:nvPr/>
        </p:nvSpPr>
        <p:spPr>
          <a:xfrm>
            <a:off x="4733544" y="2606040"/>
            <a:ext cx="2721864" cy="457200"/>
          </a:xfrm>
          <a:prstGeom prst="rect">
            <a:avLst/>
          </a:prstGeom>
          <a:noFill/>
          <a:ln/>
        </p:spPr>
        <p:txBody>
          <a:bodyPr wrap="square" lIns="0" tIns="0" rIns="0" bIns="0" rtlCol="0" anchor="ctr"/>
          <a:lstStyle/>
          <a:p>
            <a:pPr indent="0" marL="0">
              <a:buNone/>
            </a:pPr>
            <a:r>
              <a:rPr lang="en-US" sz="1900" b="1" dirty="0">
                <a:solidFill>
                  <a:srgbClr val="FFFFFF"/>
                </a:solidFill>
                <a:latin typeface="Nunito" pitchFamily="34" charset="0"/>
                <a:ea typeface="Nunito" pitchFamily="34" charset="-122"/>
                <a:cs typeface="Nunito" pitchFamily="34" charset="-120"/>
              </a:rPr>
              <a:t>Test plan</a:t>
            </a:r>
            <a:endParaRPr lang="en-US" sz="1900" dirty="0"/>
          </a:p>
        </p:txBody>
      </p:sp>
      <p:sp>
        <p:nvSpPr>
          <p:cNvPr id="10" name="Text 8"/>
          <p:cNvSpPr/>
          <p:nvPr/>
        </p:nvSpPr>
        <p:spPr>
          <a:xfrm>
            <a:off x="4733544" y="3154680"/>
            <a:ext cx="2721864" cy="1417320"/>
          </a:xfrm>
          <a:prstGeom prst="rect">
            <a:avLst/>
          </a:prstGeom>
          <a:noFill/>
          <a:ln/>
        </p:spPr>
        <p:txBody>
          <a:bodyPr wrap="square" lIns="0" tIns="0" rIns="0" bIns="0" rtlCol="0" anchor="ctr"/>
          <a:lstStyle/>
          <a:p>
            <a:pPr indent="0" marL="0">
              <a:lnSpc>
                <a:spcPct val="115000"/>
              </a:lnSpc>
              <a:buNone/>
            </a:pPr>
            <a:r>
              <a:rPr lang="en-US" sz="1300" dirty="0">
                <a:solidFill>
                  <a:srgbClr val="C7D0D6"/>
                </a:solidFill>
                <a:latin typeface="Nunito" pitchFamily="34" charset="0"/>
                <a:ea typeface="Nunito" pitchFamily="34" charset="-122"/>
                <a:cs typeface="Nunito" pitchFamily="34" charset="-120"/>
              </a:rPr>
              <a:t>Formal test cases traced to each story, organized by technique and tagged simulation vs real rig.</a:t>
            </a:r>
            <a:endParaRPr lang="en-US" sz="1300" dirty="0"/>
          </a:p>
        </p:txBody>
      </p:sp>
      <p:sp>
        <p:nvSpPr>
          <p:cNvPr id="11" name="Text 9"/>
          <p:cNvSpPr/>
          <p:nvPr/>
        </p:nvSpPr>
        <p:spPr>
          <a:xfrm>
            <a:off x="4733544" y="4599432"/>
            <a:ext cx="2721864" cy="365760"/>
          </a:xfrm>
          <a:prstGeom prst="rect">
            <a:avLst/>
          </a:prstGeom>
          <a:noFill/>
          <a:ln/>
        </p:spPr>
        <p:txBody>
          <a:bodyPr wrap="square" lIns="0" tIns="0" rIns="0" bIns="0" rtlCol="0" anchor="ctr"/>
          <a:lstStyle/>
          <a:p>
            <a:pPr indent="0" marL="0">
              <a:buNone/>
            </a:pPr>
            <a:r>
              <a:rPr lang="en-US" sz="1150" b="1" dirty="0">
                <a:solidFill>
                  <a:srgbClr val="2F6FE0"/>
                </a:solidFill>
                <a:latin typeface="Nunito" pitchFamily="34" charset="0"/>
                <a:ea typeface="Nunito" pitchFamily="34" charset="-122"/>
                <a:cs typeface="Nunito" pitchFamily="34" charset="-120"/>
              </a:rPr>
              <a:t>[ add link ]</a:t>
            </a:r>
            <a:endParaRPr lang="en-US" sz="1150" dirty="0"/>
          </a:p>
        </p:txBody>
      </p:sp>
      <p:sp>
        <p:nvSpPr>
          <p:cNvPr id="12" name="Shape 10"/>
          <p:cNvSpPr/>
          <p:nvPr/>
        </p:nvSpPr>
        <p:spPr>
          <a:xfrm>
            <a:off x="8186928" y="2286000"/>
            <a:ext cx="3361944" cy="2880360"/>
          </a:xfrm>
          <a:prstGeom prst="roundRect">
            <a:avLst>
              <a:gd name="adj" fmla="val 1905"/>
            </a:avLst>
          </a:prstGeom>
          <a:solidFill>
            <a:srgbClr val="27343D"/>
          </a:solidFill>
          <a:ln/>
        </p:spPr>
      </p:sp>
      <p:sp>
        <p:nvSpPr>
          <p:cNvPr id="13" name="Text 11"/>
          <p:cNvSpPr/>
          <p:nvPr/>
        </p:nvSpPr>
        <p:spPr>
          <a:xfrm>
            <a:off x="8506968" y="2606040"/>
            <a:ext cx="2721864" cy="457200"/>
          </a:xfrm>
          <a:prstGeom prst="rect">
            <a:avLst/>
          </a:prstGeom>
          <a:noFill/>
          <a:ln/>
        </p:spPr>
        <p:txBody>
          <a:bodyPr wrap="square" lIns="0" tIns="0" rIns="0" bIns="0" rtlCol="0" anchor="ctr"/>
          <a:lstStyle/>
          <a:p>
            <a:pPr indent="0" marL="0">
              <a:buNone/>
            </a:pPr>
            <a:r>
              <a:rPr lang="en-US" sz="1900" b="1" dirty="0">
                <a:solidFill>
                  <a:srgbClr val="FFFFFF"/>
                </a:solidFill>
                <a:latin typeface="Nunito" pitchFamily="34" charset="0"/>
                <a:ea typeface="Nunito" pitchFamily="34" charset="-122"/>
                <a:cs typeface="Nunito" pitchFamily="34" charset="-120"/>
              </a:rPr>
              <a:t>Source code</a:t>
            </a:r>
            <a:endParaRPr lang="en-US" sz="1900" dirty="0"/>
          </a:p>
        </p:txBody>
      </p:sp>
      <p:sp>
        <p:nvSpPr>
          <p:cNvPr id="14" name="Text 12"/>
          <p:cNvSpPr/>
          <p:nvPr/>
        </p:nvSpPr>
        <p:spPr>
          <a:xfrm>
            <a:off x="8506968" y="3154680"/>
            <a:ext cx="2721864" cy="1417320"/>
          </a:xfrm>
          <a:prstGeom prst="rect">
            <a:avLst/>
          </a:prstGeom>
          <a:noFill/>
          <a:ln/>
        </p:spPr>
        <p:txBody>
          <a:bodyPr wrap="square" lIns="0" tIns="0" rIns="0" bIns="0" rtlCol="0" anchor="ctr"/>
          <a:lstStyle/>
          <a:p>
            <a:pPr indent="0" marL="0">
              <a:lnSpc>
                <a:spcPct val="115000"/>
              </a:lnSpc>
              <a:buNone/>
            </a:pPr>
            <a:r>
              <a:rPr lang="en-US" sz="1300" dirty="0">
                <a:solidFill>
                  <a:srgbClr val="C7D0D6"/>
                </a:solidFill>
                <a:latin typeface="Nunito" pitchFamily="34" charset="0"/>
                <a:ea typeface="Nunito" pitchFamily="34" charset="-122"/>
                <a:cs typeface="Nunito" pitchFamily="34" charset="-120"/>
              </a:rPr>
              <a:t>The full GUI, test engine, and hardware drivers, version-controlled.</a:t>
            </a:r>
            <a:endParaRPr lang="en-US" sz="1300" dirty="0"/>
          </a:p>
        </p:txBody>
      </p:sp>
      <p:sp>
        <p:nvSpPr>
          <p:cNvPr id="15" name="Text 13"/>
          <p:cNvSpPr/>
          <p:nvPr/>
        </p:nvSpPr>
        <p:spPr>
          <a:xfrm>
            <a:off x="8506968" y="4599432"/>
            <a:ext cx="2721864" cy="365760"/>
          </a:xfrm>
          <a:prstGeom prst="rect">
            <a:avLst/>
          </a:prstGeom>
          <a:noFill/>
          <a:ln/>
        </p:spPr>
        <p:txBody>
          <a:bodyPr wrap="square" lIns="0" tIns="0" rIns="0" bIns="0" rtlCol="0" anchor="ctr"/>
          <a:lstStyle/>
          <a:p>
            <a:pPr indent="0" marL="0">
              <a:buNone/>
            </a:pPr>
            <a:r>
              <a:rPr lang="en-US" sz="1150" b="1" dirty="0">
                <a:solidFill>
                  <a:srgbClr val="2F6FE0"/>
                </a:solidFill>
                <a:latin typeface="Nunito" pitchFamily="34" charset="0"/>
                <a:ea typeface="Nunito" pitchFamily="34" charset="-122"/>
                <a:cs typeface="Nunito" pitchFamily="34" charset="-120"/>
              </a:rPr>
              <a:t>github.com/jacqchuang09/test_fixture</a:t>
            </a:r>
            <a:endParaRPr lang="en-US" sz="1150" dirty="0"/>
          </a:p>
        </p:txBody>
      </p:sp>
      <p:sp>
        <p:nvSpPr>
          <p:cNvPr id="16" name="Text 14"/>
          <p:cNvSpPr/>
          <p:nvPr/>
        </p:nvSpPr>
        <p:spPr>
          <a:xfrm>
            <a:off x="640080" y="6263640"/>
            <a:ext cx="10908792" cy="320040"/>
          </a:xfrm>
          <a:prstGeom prst="rect">
            <a:avLst/>
          </a:prstGeom>
          <a:noFill/>
          <a:ln/>
        </p:spPr>
        <p:txBody>
          <a:bodyPr wrap="square" lIns="0" tIns="0" rIns="0" bIns="0" rtlCol="0" anchor="ctr"/>
          <a:lstStyle/>
          <a:p>
            <a:pPr indent="0" marL="0">
              <a:buNone/>
            </a:pPr>
            <a:r>
              <a:rPr lang="en-US" sz="1250" dirty="0">
                <a:solidFill>
                  <a:srgbClr val="7E8B94"/>
                </a:solidFill>
                <a:latin typeface="Nunito" pitchFamily="34" charset="0"/>
                <a:ea typeface="Nunito" pitchFamily="34" charset="-122"/>
                <a:cs typeface="Nunito" pitchFamily="34" charset="-120"/>
              </a:rPr>
              <a:t>Thank you  ·  Jacqueline Chuang</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A33"/>
        </a:solidFill>
      </p:bgPr>
    </p:bg>
    <p:spTree>
      <p:nvGrpSpPr>
        <p:cNvPr id="1" name=""/>
        <p:cNvGrpSpPr/>
        <p:nvPr/>
      </p:nvGrpSpPr>
      <p:grpSpPr>
        <a:xfrm>
          <a:off x="0" y="0"/>
          <a:ext cx="0" cy="0"/>
          <a:chOff x="0" y="0"/>
          <a:chExt cx="0" cy="0"/>
        </a:xfrm>
      </p:grpSpPr>
      <p:sp>
        <p:nvSpPr>
          <p:cNvPr id="2" name="Text 0"/>
          <p:cNvSpPr/>
          <p:nvPr/>
        </p:nvSpPr>
        <p:spPr>
          <a:xfrm>
            <a:off x="640080" y="2651760"/>
            <a:ext cx="10908792" cy="365760"/>
          </a:xfrm>
          <a:prstGeom prst="rect">
            <a:avLst/>
          </a:prstGeom>
          <a:noFill/>
          <a:ln/>
        </p:spPr>
        <p:txBody>
          <a:bodyPr wrap="square" lIns="0" tIns="0" rIns="0" bIns="0" rtlCol="0" anchor="ctr"/>
          <a:lstStyle/>
          <a:p>
            <a:pPr indent="0" marL="0">
              <a:buNone/>
            </a:pPr>
            <a:r>
              <a:rPr lang="en-US" sz="1400" b="1" spc="300" kern="0" dirty="0">
                <a:solidFill>
                  <a:srgbClr val="2F6FE0"/>
                </a:solidFill>
                <a:latin typeface="Nunito" pitchFamily="34" charset="0"/>
                <a:ea typeface="Nunito" pitchFamily="34" charset="-122"/>
                <a:cs typeface="Nunito" pitchFamily="34" charset="-120"/>
              </a:rPr>
              <a:t>APPENDIX</a:t>
            </a:r>
            <a:endParaRPr lang="en-US" sz="1400" dirty="0"/>
          </a:p>
        </p:txBody>
      </p:sp>
      <p:sp>
        <p:nvSpPr>
          <p:cNvPr id="3" name="Text 1"/>
          <p:cNvSpPr/>
          <p:nvPr/>
        </p:nvSpPr>
        <p:spPr>
          <a:xfrm>
            <a:off x="640080" y="3063240"/>
            <a:ext cx="10908792" cy="1005840"/>
          </a:xfrm>
          <a:prstGeom prst="rect">
            <a:avLst/>
          </a:prstGeom>
          <a:noFill/>
          <a:ln/>
        </p:spPr>
        <p:txBody>
          <a:bodyPr wrap="square" lIns="0" tIns="0" rIns="0" bIns="0" rtlCol="0" anchor="ctr"/>
          <a:lstStyle/>
          <a:p>
            <a:pPr indent="0" marL="0">
              <a:buNone/>
            </a:pPr>
            <a:r>
              <a:rPr lang="en-US" sz="4400" b="1" dirty="0">
                <a:solidFill>
                  <a:srgbClr val="FFFFFF"/>
                </a:solidFill>
                <a:latin typeface="Nunito" pitchFamily="34" charset="0"/>
                <a:ea typeface="Nunito" pitchFamily="34" charset="-122"/>
                <a:cs typeface="Nunito" pitchFamily="34" charset="-120"/>
              </a:rPr>
              <a:t>Deep dives &amp; backup</a:t>
            </a:r>
            <a:endParaRPr lang="en-US" sz="4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ANTICIPATED QUESTION</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Is the live graph behind the real force?</a:t>
            </a:r>
            <a:endParaRPr lang="en-US" sz="3100" dirty="0"/>
          </a:p>
        </p:txBody>
      </p:sp>
      <p:sp>
        <p:nvSpPr>
          <p:cNvPr id="4" name="Text 2"/>
          <p:cNvSpPr/>
          <p:nvPr/>
        </p:nvSpPr>
        <p:spPr>
          <a:xfrm>
            <a:off x="640080" y="1627632"/>
            <a:ext cx="10908792" cy="548640"/>
          </a:xfrm>
          <a:prstGeom prst="rect">
            <a:avLst/>
          </a:prstGeom>
          <a:noFill/>
          <a:ln/>
        </p:spPr>
        <p:txBody>
          <a:bodyPr wrap="square" lIns="0" tIns="0" rIns="0" bIns="0" rtlCol="0" anchor="ctr"/>
          <a:lstStyle/>
          <a:p>
            <a:pPr indent="0" marL="0">
              <a:lnSpc>
                <a:spcPct val="110000"/>
              </a:lnSpc>
              <a:buNone/>
            </a:pPr>
            <a:r>
              <a:rPr lang="en-US" sz="1450" dirty="0">
                <a:solidFill>
                  <a:srgbClr val="5B6770"/>
                </a:solidFill>
                <a:latin typeface="Nunito" pitchFamily="34" charset="0"/>
                <a:ea typeface="Nunito" pitchFamily="34" charset="-122"/>
                <a:cs typeface="Nunito" pitchFamily="34" charset="-120"/>
              </a:rPr>
              <a:t>During a fast fatigue cycle (up to 5 Hz), the on-screen trace can sit a few tens of milliseconds behind the true load. That is real, so here is why it does not put the test at risk.</a:t>
            </a:r>
            <a:endParaRPr lang="en-US" sz="1450" dirty="0"/>
          </a:p>
        </p:txBody>
      </p:sp>
      <p:sp>
        <p:nvSpPr>
          <p:cNvPr id="5" name="Shape 3"/>
          <p:cNvSpPr/>
          <p:nvPr/>
        </p:nvSpPr>
        <p:spPr>
          <a:xfrm>
            <a:off x="640080" y="2377440"/>
            <a:ext cx="10908792" cy="1024128"/>
          </a:xfrm>
          <a:prstGeom prst="roundRect">
            <a:avLst>
              <a:gd name="adj" fmla="val 5357"/>
            </a:avLst>
          </a:prstGeom>
          <a:solidFill>
            <a:srgbClr val="F4F6F8"/>
          </a:solidFill>
          <a:ln/>
          <a:effectLst>
            <a:outerShdw sx="100000" sy="100000" kx="0" ky="0" algn="bl" rotWithShape="0" blurRad="101600" dist="38100" dir="5400000">
              <a:srgbClr val="000000">
                <a:alpha val="10000"/>
              </a:srgbClr>
            </a:outerShdw>
          </a:effectLst>
        </p:spPr>
      </p:sp>
      <p:sp>
        <p:nvSpPr>
          <p:cNvPr id="6" name="Shape 4"/>
          <p:cNvSpPr/>
          <p:nvPr/>
        </p:nvSpPr>
        <p:spPr>
          <a:xfrm>
            <a:off x="950976" y="2734056"/>
            <a:ext cx="310896" cy="310896"/>
          </a:xfrm>
          <a:prstGeom prst="ellipse">
            <a:avLst/>
          </a:prstGeom>
          <a:solidFill>
            <a:srgbClr val="2E875B"/>
          </a:solidFill>
          <a:ln/>
        </p:spPr>
      </p:sp>
      <p:sp>
        <p:nvSpPr>
          <p:cNvPr id="7" name="Text 5"/>
          <p:cNvSpPr/>
          <p:nvPr/>
        </p:nvSpPr>
        <p:spPr>
          <a:xfrm>
            <a:off x="1508760" y="2560320"/>
            <a:ext cx="9720072" cy="365760"/>
          </a:xfrm>
          <a:prstGeom prst="rect">
            <a:avLst/>
          </a:prstGeom>
          <a:noFill/>
          <a:ln/>
        </p:spPr>
        <p:txBody>
          <a:bodyPr wrap="square" lIns="0" tIns="0" rIns="0" bIns="0" rtlCol="0" anchor="ctr"/>
          <a:lstStyle/>
          <a:p>
            <a:pPr indent="0" marL="0">
              <a:buNone/>
            </a:pPr>
            <a:r>
              <a:rPr lang="en-US" sz="1700" b="1" dirty="0">
                <a:solidFill>
                  <a:srgbClr val="2E875B"/>
                </a:solidFill>
                <a:latin typeface="Nunito" pitchFamily="34" charset="0"/>
                <a:ea typeface="Nunito" pitchFamily="34" charset="-122"/>
                <a:cs typeface="Nunito" pitchFamily="34" charset="-120"/>
              </a:rPr>
              <a:t>Safety never looks at the graph</a:t>
            </a:r>
            <a:endParaRPr lang="en-US" sz="1700" dirty="0"/>
          </a:p>
        </p:txBody>
      </p:sp>
      <p:sp>
        <p:nvSpPr>
          <p:cNvPr id="8" name="Text 6"/>
          <p:cNvSpPr/>
          <p:nvPr/>
        </p:nvSpPr>
        <p:spPr>
          <a:xfrm>
            <a:off x="1508760" y="2907792"/>
            <a:ext cx="9720072" cy="411480"/>
          </a:xfrm>
          <a:prstGeom prst="rect">
            <a:avLst/>
          </a:prstGeom>
          <a:noFill/>
          <a:ln/>
        </p:spPr>
        <p:txBody>
          <a:bodyPr wrap="square" lIns="0" tIns="0" rIns="0" bIns="0" rtlCol="0" anchor="ctr"/>
          <a:lstStyle/>
          <a:p>
            <a:pPr indent="0" marL="0">
              <a:lnSpc>
                <a:spcPct val="105000"/>
              </a:lnSpc>
              <a:buNone/>
            </a:pPr>
            <a:r>
              <a:rPr lang="en-US" sz="1300" dirty="0">
                <a:solidFill>
                  <a:srgbClr val="5B6770"/>
                </a:solidFill>
                <a:latin typeface="Nunito" pitchFamily="34" charset="0"/>
                <a:ea typeface="Nunito" pitchFamily="34" charset="-122"/>
                <a:cs typeface="Nunito" pitchFamily="34" charset="-120"/>
              </a:rPr>
              <a:t>Spike and force-limit cutoffs run on the raw sample stream in the backend, before any point is drawn. Display lag cannot delay a safety stop.</a:t>
            </a:r>
            <a:endParaRPr lang="en-US" sz="1300" dirty="0"/>
          </a:p>
        </p:txBody>
      </p:sp>
      <p:sp>
        <p:nvSpPr>
          <p:cNvPr id="9" name="Shape 7"/>
          <p:cNvSpPr/>
          <p:nvPr/>
        </p:nvSpPr>
        <p:spPr>
          <a:xfrm>
            <a:off x="640080" y="3584448"/>
            <a:ext cx="10908792" cy="1024128"/>
          </a:xfrm>
          <a:prstGeom prst="roundRect">
            <a:avLst>
              <a:gd name="adj" fmla="val 5357"/>
            </a:avLst>
          </a:prstGeom>
          <a:solidFill>
            <a:srgbClr val="F4F6F8"/>
          </a:solidFill>
          <a:ln/>
          <a:effectLst>
            <a:outerShdw sx="100000" sy="100000" kx="0" ky="0" algn="bl" rotWithShape="0" blurRad="101600" dist="38100" dir="5400000">
              <a:srgbClr val="000000">
                <a:alpha val="10000"/>
              </a:srgbClr>
            </a:outerShdw>
          </a:effectLst>
        </p:spPr>
      </p:sp>
      <p:sp>
        <p:nvSpPr>
          <p:cNvPr id="10" name="Shape 8"/>
          <p:cNvSpPr/>
          <p:nvPr/>
        </p:nvSpPr>
        <p:spPr>
          <a:xfrm>
            <a:off x="950976" y="3941064"/>
            <a:ext cx="310896" cy="310896"/>
          </a:xfrm>
          <a:prstGeom prst="ellipse">
            <a:avLst/>
          </a:prstGeom>
          <a:solidFill>
            <a:srgbClr val="2F6FE0"/>
          </a:solidFill>
          <a:ln/>
        </p:spPr>
      </p:sp>
      <p:sp>
        <p:nvSpPr>
          <p:cNvPr id="11" name="Text 9"/>
          <p:cNvSpPr/>
          <p:nvPr/>
        </p:nvSpPr>
        <p:spPr>
          <a:xfrm>
            <a:off x="1508760" y="3767328"/>
            <a:ext cx="9720072" cy="365760"/>
          </a:xfrm>
          <a:prstGeom prst="rect">
            <a:avLst/>
          </a:prstGeom>
          <a:noFill/>
          <a:ln/>
        </p:spPr>
        <p:txBody>
          <a:bodyPr wrap="square" lIns="0" tIns="0" rIns="0" bIns="0" rtlCol="0" anchor="ctr"/>
          <a:lstStyle/>
          <a:p>
            <a:pPr indent="0" marL="0">
              <a:buNone/>
            </a:pPr>
            <a:r>
              <a:rPr lang="en-US" sz="1700" b="1" dirty="0">
                <a:solidFill>
                  <a:srgbClr val="2F6FE0"/>
                </a:solidFill>
                <a:latin typeface="Nunito" pitchFamily="34" charset="0"/>
                <a:ea typeface="Nunito" pitchFamily="34" charset="-122"/>
                <a:cs typeface="Nunito" pitchFamily="34" charset="-120"/>
              </a:rPr>
              <a:t>The actuator follows the backend, not the screen</a:t>
            </a:r>
            <a:endParaRPr lang="en-US" sz="1700" dirty="0"/>
          </a:p>
        </p:txBody>
      </p:sp>
      <p:sp>
        <p:nvSpPr>
          <p:cNvPr id="12" name="Text 10"/>
          <p:cNvSpPr/>
          <p:nvPr/>
        </p:nvSpPr>
        <p:spPr>
          <a:xfrm>
            <a:off x="1508760" y="4114800"/>
            <a:ext cx="9720072" cy="411480"/>
          </a:xfrm>
          <a:prstGeom prst="rect">
            <a:avLst/>
          </a:prstGeom>
          <a:noFill/>
          <a:ln/>
        </p:spPr>
        <p:txBody>
          <a:bodyPr wrap="square" lIns="0" tIns="0" rIns="0" bIns="0" rtlCol="0" anchor="ctr"/>
          <a:lstStyle/>
          <a:p>
            <a:pPr indent="0" marL="0">
              <a:lnSpc>
                <a:spcPct val="105000"/>
              </a:lnSpc>
              <a:buNone/>
            </a:pPr>
            <a:r>
              <a:rPr lang="en-US" sz="1300" dirty="0">
                <a:solidFill>
                  <a:srgbClr val="5B6770"/>
                </a:solidFill>
                <a:latin typeface="Nunito" pitchFamily="34" charset="0"/>
                <a:ea typeface="Nunito" pitchFamily="34" charset="-122"/>
                <a:cs typeface="Nunito" pitchFamily="34" charset="-120"/>
              </a:rPr>
              <a:t>The waveform is generated and driven in Python. The live graph is a read-only mirror of that same stream.</a:t>
            </a:r>
            <a:endParaRPr lang="en-US" sz="1300" dirty="0"/>
          </a:p>
        </p:txBody>
      </p:sp>
      <p:sp>
        <p:nvSpPr>
          <p:cNvPr id="13" name="Shape 11"/>
          <p:cNvSpPr/>
          <p:nvPr/>
        </p:nvSpPr>
        <p:spPr>
          <a:xfrm>
            <a:off x="640080" y="4791456"/>
            <a:ext cx="10908792" cy="1024128"/>
          </a:xfrm>
          <a:prstGeom prst="roundRect">
            <a:avLst>
              <a:gd name="adj" fmla="val 5357"/>
            </a:avLst>
          </a:prstGeom>
          <a:solidFill>
            <a:srgbClr val="F4F6F8"/>
          </a:solidFill>
          <a:ln/>
          <a:effectLst>
            <a:outerShdw sx="100000" sy="100000" kx="0" ky="0" algn="bl" rotWithShape="0" blurRad="101600" dist="38100" dir="5400000">
              <a:srgbClr val="000000">
                <a:alpha val="10000"/>
              </a:srgbClr>
            </a:outerShdw>
          </a:effectLst>
        </p:spPr>
      </p:sp>
      <p:sp>
        <p:nvSpPr>
          <p:cNvPr id="14" name="Shape 12"/>
          <p:cNvSpPr/>
          <p:nvPr/>
        </p:nvSpPr>
        <p:spPr>
          <a:xfrm>
            <a:off x="950976" y="5148072"/>
            <a:ext cx="310896" cy="310896"/>
          </a:xfrm>
          <a:prstGeom prst="ellipse">
            <a:avLst/>
          </a:prstGeom>
          <a:solidFill>
            <a:srgbClr val="1F2933"/>
          </a:solidFill>
          <a:ln/>
        </p:spPr>
      </p:sp>
      <p:sp>
        <p:nvSpPr>
          <p:cNvPr id="15" name="Text 13"/>
          <p:cNvSpPr/>
          <p:nvPr/>
        </p:nvSpPr>
        <p:spPr>
          <a:xfrm>
            <a:off x="1508760" y="4974336"/>
            <a:ext cx="9720072" cy="365760"/>
          </a:xfrm>
          <a:prstGeom prst="rect">
            <a:avLst/>
          </a:prstGeom>
          <a:noFill/>
          <a:ln/>
        </p:spPr>
        <p:txBody>
          <a:bodyPr wrap="square" lIns="0" tIns="0" rIns="0" bIns="0" rtlCol="0" anchor="ctr"/>
          <a:lstStyle/>
          <a:p>
            <a:pPr indent="0" marL="0">
              <a:buNone/>
            </a:pPr>
            <a:r>
              <a:rPr lang="en-US" sz="1700" b="1" dirty="0">
                <a:solidFill>
                  <a:srgbClr val="1F2933"/>
                </a:solidFill>
                <a:latin typeface="Nunito" pitchFamily="34" charset="0"/>
                <a:ea typeface="Nunito" pitchFamily="34" charset="-122"/>
                <a:cs typeface="Nunito" pitchFamily="34" charset="-120"/>
              </a:rPr>
              <a:t>So the lag is only a UX number</a:t>
            </a:r>
            <a:endParaRPr lang="en-US" sz="1700" dirty="0"/>
          </a:p>
        </p:txBody>
      </p:sp>
      <p:sp>
        <p:nvSpPr>
          <p:cNvPr id="16" name="Text 14"/>
          <p:cNvSpPr/>
          <p:nvPr/>
        </p:nvSpPr>
        <p:spPr>
          <a:xfrm>
            <a:off x="1508760" y="5321808"/>
            <a:ext cx="9720072" cy="411480"/>
          </a:xfrm>
          <a:prstGeom prst="rect">
            <a:avLst/>
          </a:prstGeom>
          <a:noFill/>
          <a:ln/>
        </p:spPr>
        <p:txBody>
          <a:bodyPr wrap="square" lIns="0" tIns="0" rIns="0" bIns="0" rtlCol="0" anchor="ctr"/>
          <a:lstStyle/>
          <a:p>
            <a:pPr indent="0" marL="0">
              <a:lnSpc>
                <a:spcPct val="105000"/>
              </a:lnSpc>
              <a:buNone/>
            </a:pPr>
            <a:r>
              <a:rPr lang="en-US" sz="1300" dirty="0">
                <a:solidFill>
                  <a:srgbClr val="5B6770"/>
                </a:solidFill>
                <a:latin typeface="Nunito" pitchFamily="34" charset="0"/>
                <a:ea typeface="Nunito" pitchFamily="34" charset="-122"/>
                <a:cs typeface="Nunito" pitchFamily="34" charset="-120"/>
              </a:rPr>
              <a:t>It changes how live the graph feels, never whether the test is safe or the saved data is correct.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TOOL</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Live graph latency simulator</a:t>
            </a:r>
            <a:endParaRPr lang="en-US" sz="3100" dirty="0"/>
          </a:p>
        </p:txBody>
      </p:sp>
      <p:sp>
        <p:nvSpPr>
          <p:cNvPr id="4" name="Text 2"/>
          <p:cNvSpPr/>
          <p:nvPr/>
        </p:nvSpPr>
        <p:spPr>
          <a:xfrm>
            <a:off x="640080" y="1664208"/>
            <a:ext cx="4297680" cy="914400"/>
          </a:xfrm>
          <a:prstGeom prst="rect">
            <a:avLst/>
          </a:prstGeom>
          <a:noFill/>
          <a:ln/>
        </p:spPr>
        <p:txBody>
          <a:bodyPr wrap="square" lIns="0" tIns="0" rIns="0" bIns="0" rtlCol="0" anchor="ctr"/>
          <a:lstStyle/>
          <a:p>
            <a:pPr indent="0" marL="0">
              <a:lnSpc>
                <a:spcPct val="115000"/>
              </a:lnSpc>
              <a:buNone/>
            </a:pPr>
            <a:r>
              <a:rPr lang="en-US" sz="1350" dirty="0">
                <a:solidFill>
                  <a:srgbClr val="5B6770"/>
                </a:solidFill>
                <a:latin typeface="Nunito" pitchFamily="34" charset="0"/>
                <a:ea typeface="Nunito" pitchFamily="34" charset="-122"/>
                <a:cs typeface="Nunito" pitchFamily="34" charset="-120"/>
              </a:rPr>
              <a:t>A standalone page (opens in any browser, no backend) that models how far the live graph trails the real force, so the number is honest instead of a guess.</a:t>
            </a:r>
            <a:endParaRPr lang="en-US" sz="1350" dirty="0"/>
          </a:p>
        </p:txBody>
      </p:sp>
      <p:sp>
        <p:nvSpPr>
          <p:cNvPr id="5" name="Shape 3"/>
          <p:cNvSpPr/>
          <p:nvPr/>
        </p:nvSpPr>
        <p:spPr>
          <a:xfrm>
            <a:off x="640080" y="2807208"/>
            <a:ext cx="128016" cy="128016"/>
          </a:xfrm>
          <a:prstGeom prst="ellipse">
            <a:avLst/>
          </a:prstGeom>
          <a:solidFill>
            <a:srgbClr val="2F6FE0"/>
          </a:solidFill>
          <a:ln/>
        </p:spPr>
      </p:sp>
      <p:sp>
        <p:nvSpPr>
          <p:cNvPr id="6" name="Text 4"/>
          <p:cNvSpPr/>
          <p:nvPr/>
        </p:nvSpPr>
        <p:spPr>
          <a:xfrm>
            <a:off x="932688" y="2697480"/>
            <a:ext cx="4005072" cy="320040"/>
          </a:xfrm>
          <a:prstGeom prst="rect">
            <a:avLst/>
          </a:prstGeom>
          <a:noFill/>
          <a:ln/>
        </p:spPr>
        <p:txBody>
          <a:bodyPr wrap="square" lIns="0" tIns="0" rIns="0" bIns="0" rtlCol="0" anchor="ctr"/>
          <a:lstStyle/>
          <a:p>
            <a:pPr indent="0" marL="0">
              <a:buNone/>
            </a:pPr>
            <a:r>
              <a:rPr lang="en-US" sz="1500" b="1" dirty="0">
                <a:solidFill>
                  <a:srgbClr val="1F2933"/>
                </a:solidFill>
                <a:latin typeface="Nunito" pitchFamily="34" charset="0"/>
                <a:ea typeface="Nunito" pitchFamily="34" charset="-122"/>
                <a:cs typeface="Nunito" pitchFamily="34" charset="-120"/>
              </a:rPr>
              <a:t>Models the whole path</a:t>
            </a:r>
            <a:endParaRPr lang="en-US" sz="1500" dirty="0"/>
          </a:p>
        </p:txBody>
      </p:sp>
      <p:sp>
        <p:nvSpPr>
          <p:cNvPr id="7" name="Text 5"/>
          <p:cNvSpPr/>
          <p:nvPr/>
        </p:nvSpPr>
        <p:spPr>
          <a:xfrm>
            <a:off x="932688" y="3017520"/>
            <a:ext cx="4005072" cy="822960"/>
          </a:xfrm>
          <a:prstGeom prst="rect">
            <a:avLst/>
          </a:prstGeom>
          <a:noFill/>
          <a:ln/>
        </p:spPr>
        <p:txBody>
          <a:bodyPr wrap="square" lIns="0" tIns="0" rIns="0" bIns="0" rtlCol="0" anchor="ctr"/>
          <a:lstStyle/>
          <a:p>
            <a:pPr indent="0" marL="0">
              <a:lnSpc>
                <a:spcPct val="105000"/>
              </a:lnSpc>
              <a:buNone/>
            </a:pPr>
            <a:r>
              <a:rPr lang="en-US" sz="1200" dirty="0">
                <a:solidFill>
                  <a:srgbClr val="5B6770"/>
                </a:solidFill>
                <a:latin typeface="Nunito" pitchFamily="34" charset="0"/>
                <a:ea typeface="Nunito" pitchFamily="34" charset="-122"/>
                <a:cs typeface="Nunito" pitchFamily="34" charset="-120"/>
              </a:rPr>
              <a:t>Load cell sample, backend read, pywebview bridge, then redraw. Each stage is a slider you can dial in.</a:t>
            </a:r>
            <a:endParaRPr lang="en-US" sz="1200" dirty="0"/>
          </a:p>
        </p:txBody>
      </p:sp>
      <p:sp>
        <p:nvSpPr>
          <p:cNvPr id="8" name="Shape 6"/>
          <p:cNvSpPr/>
          <p:nvPr/>
        </p:nvSpPr>
        <p:spPr>
          <a:xfrm>
            <a:off x="640080" y="3995928"/>
            <a:ext cx="128016" cy="128016"/>
          </a:xfrm>
          <a:prstGeom prst="ellipse">
            <a:avLst/>
          </a:prstGeom>
          <a:solidFill>
            <a:srgbClr val="2F6FE0"/>
          </a:solidFill>
          <a:ln/>
        </p:spPr>
      </p:sp>
      <p:sp>
        <p:nvSpPr>
          <p:cNvPr id="9" name="Text 7"/>
          <p:cNvSpPr/>
          <p:nvPr/>
        </p:nvSpPr>
        <p:spPr>
          <a:xfrm>
            <a:off x="932688" y="3886200"/>
            <a:ext cx="4005072" cy="320040"/>
          </a:xfrm>
          <a:prstGeom prst="rect">
            <a:avLst/>
          </a:prstGeom>
          <a:noFill/>
          <a:ln/>
        </p:spPr>
        <p:txBody>
          <a:bodyPr wrap="square" lIns="0" tIns="0" rIns="0" bIns="0" rtlCol="0" anchor="ctr"/>
          <a:lstStyle/>
          <a:p>
            <a:pPr indent="0" marL="0">
              <a:buNone/>
            </a:pPr>
            <a:r>
              <a:rPr lang="en-US" sz="1500" b="1" dirty="0">
                <a:solidFill>
                  <a:srgbClr val="1F2933"/>
                </a:solidFill>
                <a:latin typeface="Nunito" pitchFamily="34" charset="0"/>
                <a:ea typeface="Nunito" pitchFamily="34" charset="-122"/>
                <a:cs typeface="Nunito" pitchFamily="34" charset="-120"/>
              </a:rPr>
              <a:t>Gives a ballpark</a:t>
            </a:r>
            <a:endParaRPr lang="en-US" sz="1500" dirty="0"/>
          </a:p>
        </p:txBody>
      </p:sp>
      <p:sp>
        <p:nvSpPr>
          <p:cNvPr id="10" name="Text 8"/>
          <p:cNvSpPr/>
          <p:nvPr/>
        </p:nvSpPr>
        <p:spPr>
          <a:xfrm>
            <a:off x="932688" y="4206240"/>
            <a:ext cx="4005072" cy="822960"/>
          </a:xfrm>
          <a:prstGeom prst="rect">
            <a:avLst/>
          </a:prstGeom>
          <a:noFill/>
          <a:ln/>
        </p:spPr>
        <p:txBody>
          <a:bodyPr wrap="square" lIns="0" tIns="0" rIns="0" bIns="0" rtlCol="0" anchor="ctr"/>
          <a:lstStyle/>
          <a:p>
            <a:pPr indent="0" marL="0">
              <a:lnSpc>
                <a:spcPct val="105000"/>
              </a:lnSpc>
              <a:buNone/>
            </a:pPr>
            <a:r>
              <a:rPr lang="en-US" sz="1200" dirty="0">
                <a:solidFill>
                  <a:srgbClr val="5B6770"/>
                </a:solidFill>
                <a:latin typeface="Nunito" pitchFamily="34" charset="0"/>
                <a:ea typeface="Nunito" pitchFamily="34" charset="-122"/>
                <a:cs typeface="Nunito" pitchFamily="34" charset="-120"/>
              </a:rPr>
              <a:t>A typical setup lands near 60 ms (range 14-107 ms): streaming, not hard real time.</a:t>
            </a:r>
            <a:endParaRPr lang="en-US" sz="1200" dirty="0"/>
          </a:p>
        </p:txBody>
      </p:sp>
      <p:sp>
        <p:nvSpPr>
          <p:cNvPr id="11" name="Shape 9"/>
          <p:cNvSpPr/>
          <p:nvPr/>
        </p:nvSpPr>
        <p:spPr>
          <a:xfrm>
            <a:off x="640080" y="5184648"/>
            <a:ext cx="128016" cy="128016"/>
          </a:xfrm>
          <a:prstGeom prst="ellipse">
            <a:avLst/>
          </a:prstGeom>
          <a:solidFill>
            <a:srgbClr val="2F6FE0"/>
          </a:solidFill>
          <a:ln/>
        </p:spPr>
      </p:sp>
      <p:sp>
        <p:nvSpPr>
          <p:cNvPr id="12" name="Text 10"/>
          <p:cNvSpPr/>
          <p:nvPr/>
        </p:nvSpPr>
        <p:spPr>
          <a:xfrm>
            <a:off x="932688" y="5074920"/>
            <a:ext cx="4005072" cy="320040"/>
          </a:xfrm>
          <a:prstGeom prst="rect">
            <a:avLst/>
          </a:prstGeom>
          <a:noFill/>
          <a:ln/>
        </p:spPr>
        <p:txBody>
          <a:bodyPr wrap="square" lIns="0" tIns="0" rIns="0" bIns="0" rtlCol="0" anchor="ctr"/>
          <a:lstStyle/>
          <a:p>
            <a:pPr indent="0" marL="0">
              <a:buNone/>
            </a:pPr>
            <a:r>
              <a:rPr lang="en-US" sz="1500" b="1" dirty="0">
                <a:solidFill>
                  <a:srgbClr val="1F2933"/>
                </a:solidFill>
                <a:latin typeface="Nunito" pitchFamily="34" charset="0"/>
                <a:ea typeface="Nunito" pitchFamily="34" charset="-122"/>
                <a:cs typeface="Nunito" pitchFamily="34" charset="-120"/>
              </a:rPr>
              <a:t>Measure the real number</a:t>
            </a:r>
            <a:endParaRPr lang="en-US" sz="1500" dirty="0"/>
          </a:p>
        </p:txBody>
      </p:sp>
      <p:sp>
        <p:nvSpPr>
          <p:cNvPr id="13" name="Text 11"/>
          <p:cNvSpPr/>
          <p:nvPr/>
        </p:nvSpPr>
        <p:spPr>
          <a:xfrm>
            <a:off x="932688" y="5394960"/>
            <a:ext cx="4005072" cy="822960"/>
          </a:xfrm>
          <a:prstGeom prst="rect">
            <a:avLst/>
          </a:prstGeom>
          <a:noFill/>
          <a:ln/>
        </p:spPr>
        <p:txBody>
          <a:bodyPr wrap="square" lIns="0" tIns="0" rIns="0" bIns="0" rtlCol="0" anchor="ctr"/>
          <a:lstStyle/>
          <a:p>
            <a:pPr indent="0" marL="0">
              <a:lnSpc>
                <a:spcPct val="105000"/>
              </a:lnSpc>
              <a:buNone/>
            </a:pPr>
            <a:r>
              <a:rPr lang="en-US" sz="1200" dirty="0">
                <a:solidFill>
                  <a:srgbClr val="5B6770"/>
                </a:solidFill>
                <a:latin typeface="Nunito" pitchFamily="34" charset="0"/>
                <a:ea typeface="Nunito" pitchFamily="34" charset="-122"/>
                <a:cs typeface="Nunito" pitchFamily="34" charset="-120"/>
              </a:rPr>
              <a:t>Stamp perf_counter() in Python and performance.now() at draw, then report the median and 95th-percentile gap over a 30-60 s run.</a:t>
            </a:r>
            <a:endParaRPr lang="en-US" sz="1200" dirty="0"/>
          </a:p>
        </p:txBody>
      </p:sp>
      <p:sp>
        <p:nvSpPr>
          <p:cNvPr id="14" name="Shape 12"/>
          <p:cNvSpPr/>
          <p:nvPr/>
        </p:nvSpPr>
        <p:spPr>
          <a:xfrm>
            <a:off x="5303520" y="1828800"/>
            <a:ext cx="5394960" cy="4165992"/>
          </a:xfrm>
          <a:prstGeom prst="rect">
            <a:avLst/>
          </a:prstGeom>
          <a:solidFill>
            <a:srgbClr val="FFFFFF"/>
          </a:solidFill>
          <a:ln w="9525">
            <a:solidFill>
              <a:srgbClr val="E3E7EB"/>
            </a:solidFill>
            <a:prstDash val="solid"/>
          </a:ln>
          <a:effectLst>
            <a:outerShdw sx="100000" sy="100000" kx="0" ky="0" algn="bl" rotWithShape="0" blurRad="152400" dist="50800" dir="5400000">
              <a:srgbClr val="000000">
                <a:alpha val="18000"/>
              </a:srgbClr>
            </a:outerShdw>
          </a:effectLst>
        </p:spPr>
      </p:sp>
      <p:pic>
        <p:nvPicPr>
          <p:cNvPr id="15" name="Image 0" descr="shot_latency.png">    </p:cNvPr>
          <p:cNvPicPr>
            <a:picLocks noChangeAspect="1"/>
          </p:cNvPicPr>
          <p:nvPr/>
        </p:nvPicPr>
        <p:blipFill>
          <a:blip r:embed="rId1"/>
          <a:stretch>
            <a:fillRect/>
          </a:stretch>
        </p:blipFill>
        <p:spPr>
          <a:xfrm>
            <a:off x="5303520" y="1828800"/>
            <a:ext cx="5394960" cy="416599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DOCUMENTATION</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Live force graph: values</a:t>
            </a:r>
            <a:endParaRPr lang="en-US" sz="3100" dirty="0"/>
          </a:p>
        </p:txBody>
      </p:sp>
      <p:sp>
        <p:nvSpPr>
          <p:cNvPr id="4" name="Text 2"/>
          <p:cNvSpPr/>
          <p:nvPr/>
        </p:nvSpPr>
        <p:spPr>
          <a:xfrm>
            <a:off x="640080" y="1591056"/>
            <a:ext cx="10908792" cy="365760"/>
          </a:xfrm>
          <a:prstGeom prst="rect">
            <a:avLst/>
          </a:prstGeom>
          <a:noFill/>
          <a:ln/>
        </p:spPr>
        <p:txBody>
          <a:bodyPr wrap="square" lIns="0" tIns="0" rIns="0" bIns="0" rtlCol="0" anchor="ctr"/>
          <a:lstStyle/>
          <a:p>
            <a:pPr indent="0" marL="0">
              <a:lnSpc>
                <a:spcPct val="105000"/>
              </a:lnSpc>
              <a:buNone/>
            </a:pPr>
            <a:r>
              <a:rPr lang="en-US" sz="1300" i="1" dirty="0">
                <a:solidFill>
                  <a:srgbClr val="5B6770"/>
                </a:solidFill>
                <a:latin typeface="Nunito" pitchFamily="34" charset="0"/>
                <a:ea typeface="Nunito" pitchFamily="34" charset="-122"/>
                <a:cs typeface="Nunito" pitchFamily="34" charset="-120"/>
              </a:rPr>
              <a:t>Current values for the live force display. Estimates for now; replace with measured numbers once profiled on the rig.</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10908792" cy="914400"/>
        </p:xfrm>
        <a:graphic>
          <a:graphicData uri="http://schemas.openxmlformats.org/drawingml/2006/table">
            <a:tbl>
              <a:tblPr/>
              <a:tblGrid>
                <a:gridCol w="3108960"/>
                <a:gridCol w="2377440"/>
                <a:gridCol w="5422392"/>
              </a:tblGrid>
              <a:tr h="329184">
                <a:tc>
                  <a:txBody>
                    <a:bodyPr/>
                    <a:lstStyle/>
                    <a:p>
                      <a:pPr algn="l" indent="0" marL="0">
                        <a:buNone/>
                      </a:pPr>
                      <a:r>
                        <a:rPr lang="en-US" sz="1250" b="1" dirty="0">
                          <a:solidFill>
                            <a:srgbClr val="FFFFFF"/>
                          </a:solidFill>
                          <a:latin typeface="Nunito" pitchFamily="34" charset="0"/>
                          <a:ea typeface="Nunito" pitchFamily="34" charset="-122"/>
                          <a:cs typeface="Nunito" pitchFamily="34" charset="-120"/>
                        </a:rPr>
                        <a:t>Property</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c>
                  <a:txBody>
                    <a:bodyPr/>
                    <a:lstStyle/>
                    <a:p>
                      <a:pPr algn="l" indent="0" marL="0">
                        <a:buNone/>
                      </a:pPr>
                      <a:r>
                        <a:rPr lang="en-US" sz="1250" b="1" dirty="0">
                          <a:solidFill>
                            <a:srgbClr val="FFFFFF"/>
                          </a:solidFill>
                          <a:latin typeface="Nunito" pitchFamily="34" charset="0"/>
                          <a:ea typeface="Nunito" pitchFamily="34" charset="-122"/>
                          <a:cs typeface="Nunito" pitchFamily="34" charset="-120"/>
                        </a:rPr>
                        <a:t>Value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c>
                  <a:txBody>
                    <a:bodyPr/>
                    <a:lstStyle/>
                    <a:p>
                      <a:pPr algn="l" indent="0" marL="0">
                        <a:buNone/>
                      </a:pPr>
                      <a:r>
                        <a:rPr lang="en-US" sz="1250" b="1" dirty="0">
                          <a:solidFill>
                            <a:srgbClr val="FFFFFF"/>
                          </a:solidFill>
                          <a:latin typeface="Nunito" pitchFamily="34" charset="0"/>
                          <a:ea typeface="Nunito" pitchFamily="34" charset="-122"/>
                          <a:cs typeface="Nunito" pitchFamily="34" charset="-120"/>
                        </a:rPr>
                        <a:t>Notes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Y axis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Force (N)</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live load-cell reading</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X axis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Time (s)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scrolling window</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Sample rate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100 Hz</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one reading every 10 ms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Display lag (typical)</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~60 ms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acquisition to drawn (estimate)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Display lag (range)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14 to 107 ms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best to worst case (estimate)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Update cadence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~10 / second</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browser polls the status endpoint</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Data source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raw backend stream</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safety reads this, not the graph</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DOCUMENTATION</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Live force graph: lag breakdown</a:t>
            </a:r>
            <a:endParaRPr lang="en-US" sz="3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2743200"/>
                <a:gridCol w="2011680"/>
                <a:gridCol w="6153912"/>
              </a:tblGrid>
              <a:tr h="329184">
                <a:tc>
                  <a:txBody>
                    <a:bodyPr/>
                    <a:lstStyle/>
                    <a:p>
                      <a:pPr algn="l" indent="0" marL="0">
                        <a:buNone/>
                      </a:pPr>
                      <a:r>
                        <a:rPr lang="en-US" sz="1250" b="1" dirty="0">
                          <a:solidFill>
                            <a:srgbClr val="FFFFFF"/>
                          </a:solidFill>
                          <a:latin typeface="Nunito" pitchFamily="34" charset="0"/>
                          <a:ea typeface="Nunito" pitchFamily="34" charset="-122"/>
                          <a:cs typeface="Nunito" pitchFamily="34" charset="-120"/>
                        </a:rPr>
                        <a:t>Stage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c>
                  <a:txBody>
                    <a:bodyPr/>
                    <a:lstStyle/>
                    <a:p>
                      <a:pPr algn="l" indent="0" marL="0">
                        <a:buNone/>
                      </a:pPr>
                      <a:r>
                        <a:rPr lang="en-US" sz="1250" b="1" dirty="0">
                          <a:solidFill>
                            <a:srgbClr val="FFFFFF"/>
                          </a:solidFill>
                          <a:latin typeface="Nunito" pitchFamily="34" charset="0"/>
                          <a:ea typeface="Nunito" pitchFamily="34" charset="-122"/>
                          <a:cs typeface="Nunito" pitchFamily="34" charset="-120"/>
                        </a:rPr>
                        <a:t>Typical (ms)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c>
                  <a:txBody>
                    <a:bodyPr/>
                    <a:lstStyle/>
                    <a:p>
                      <a:pPr algn="l" indent="0" marL="0">
                        <a:buNone/>
                      </a:pPr>
                      <a:r>
                        <a:rPr lang="en-US" sz="1250" b="1" dirty="0">
                          <a:solidFill>
                            <a:srgbClr val="FFFFFF"/>
                          </a:solidFill>
                          <a:latin typeface="Nunito" pitchFamily="34" charset="0"/>
                          <a:ea typeface="Nunito" pitchFamily="34" charset="-122"/>
                          <a:cs typeface="Nunito" pitchFamily="34" charset="-120"/>
                        </a:rPr>
                        <a:t>What it is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Acquisition</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5.0</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half a sample period</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Backend read</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0.5</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per-sample processing</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Transport wait</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25.0</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half the push interval</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Bridge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5.0</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Python to JS hand-off</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Frame wait</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16.7</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half a redraw frame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Redraw</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8.0</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paint one frame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Total (typical)</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~60</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sum of the stages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5074920"/>
            <a:ext cx="10908792" cy="274320"/>
          </a:xfrm>
          <a:prstGeom prst="rect">
            <a:avLst/>
          </a:prstGeom>
          <a:noFill/>
          <a:ln/>
        </p:spPr>
        <p:txBody>
          <a:bodyPr wrap="square" lIns="0" tIns="0" rIns="0" bIns="0" rtlCol="0" anchor="ctr"/>
          <a:lstStyle/>
          <a:p>
            <a:pPr indent="0" marL="0">
              <a:buNone/>
            </a:pPr>
            <a:r>
              <a:rPr lang="en-US" sz="1300" b="1" dirty="0">
                <a:solidFill>
                  <a:srgbClr val="1F2933"/>
                </a:solidFill>
                <a:latin typeface="Nunito" pitchFamily="34" charset="0"/>
                <a:ea typeface="Nunito" pitchFamily="34" charset="-122"/>
                <a:cs typeface="Nunito" pitchFamily="34" charset="-120"/>
              </a:rPr>
              <a:t>How the typical figure is built:</a:t>
            </a:r>
            <a:endParaRPr lang="en-US" sz="1300" dirty="0"/>
          </a:p>
        </p:txBody>
      </p:sp>
      <p:sp>
        <p:nvSpPr>
          <p:cNvPr id="6" name="Shape 3"/>
          <p:cNvSpPr/>
          <p:nvPr/>
        </p:nvSpPr>
        <p:spPr>
          <a:xfrm>
            <a:off x="640080" y="5394960"/>
            <a:ext cx="10908792" cy="694944"/>
          </a:xfrm>
          <a:prstGeom prst="roundRect">
            <a:avLst>
              <a:gd name="adj" fmla="val 5263"/>
            </a:avLst>
          </a:prstGeom>
          <a:solidFill>
            <a:srgbClr val="F2F3F5"/>
          </a:solidFill>
          <a:ln w="9525">
            <a:solidFill>
              <a:srgbClr val="E3E7EB"/>
            </a:solidFill>
            <a:prstDash val="solid"/>
          </a:ln>
        </p:spPr>
      </p:sp>
      <p:sp>
        <p:nvSpPr>
          <p:cNvPr id="7" name="Text 4"/>
          <p:cNvSpPr/>
          <p:nvPr/>
        </p:nvSpPr>
        <p:spPr>
          <a:xfrm>
            <a:off x="822960" y="5513832"/>
            <a:ext cx="10543032" cy="457200"/>
          </a:xfrm>
          <a:prstGeom prst="rect">
            <a:avLst/>
          </a:prstGeom>
          <a:noFill/>
          <a:ln/>
        </p:spPr>
        <p:txBody>
          <a:bodyPr wrap="square" lIns="0" tIns="0" rIns="0" bIns="0" rtlCol="0" anchor="t"/>
          <a:lstStyle/>
          <a:p>
            <a:pPr algn="l" indent="0" marL="0">
              <a:lnSpc>
                <a:spcPct val="128000"/>
              </a:lnSpc>
              <a:buNone/>
            </a:pPr>
            <a:r>
              <a:rPr lang="en-US" sz="1200" dirty="0">
                <a:solidFill>
                  <a:srgbClr val="1A1A1A"/>
                </a:solidFill>
                <a:latin typeface="Courier New" pitchFamily="34" charset="0"/>
                <a:ea typeface="Courier New" pitchFamily="34" charset="-122"/>
                <a:cs typeface="Courier New" pitchFamily="34" charset="-120"/>
              </a:rPr>
              <a:t>typical = sample/2 + backend + batch/2 + bridge + frame/2 + redraw</a:t>
            </a:r>
            <a:endParaRPr lang="en-US" sz="1200" dirty="0"/>
          </a:p>
          <a:p>
            <a:pPr algn="l" indent="0" marL="0">
              <a:lnSpc>
                <a:spcPct val="128000"/>
              </a:lnSpc>
              <a:buNone/>
            </a:pPr>
            <a:r>
              <a:rPr lang="en-US" sz="1200" dirty="0">
                <a:solidFill>
                  <a:srgbClr val="1A1A1A"/>
                </a:solidFill>
                <a:latin typeface="Courier New" pitchFamily="34" charset="0"/>
                <a:ea typeface="Courier New" pitchFamily="34" charset="-122"/>
                <a:cs typeface="Courier New" pitchFamily="34" charset="-120"/>
              </a:rPr>
              <a:t>        = 5.0 + 0.5 + 25.0 + 5.0 + 16.7 + 8.0   ~=   60 ms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DOCUMENTATION</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Fatigue simulator: force calculation</a:t>
            </a:r>
            <a:endParaRPr lang="en-US" sz="3100" dirty="0"/>
          </a:p>
        </p:txBody>
      </p:sp>
      <p:sp>
        <p:nvSpPr>
          <p:cNvPr id="4" name="Text 2"/>
          <p:cNvSpPr/>
          <p:nvPr/>
        </p:nvSpPr>
        <p:spPr>
          <a:xfrm>
            <a:off x="640080" y="1591056"/>
            <a:ext cx="10908792" cy="365760"/>
          </a:xfrm>
          <a:prstGeom prst="rect">
            <a:avLst/>
          </a:prstGeom>
          <a:noFill/>
          <a:ln/>
        </p:spPr>
        <p:txBody>
          <a:bodyPr wrap="square" lIns="0" tIns="0" rIns="0" bIns="0" rtlCol="0" anchor="ctr"/>
          <a:lstStyle/>
          <a:p>
            <a:pPr indent="0" marL="0">
              <a:buNone/>
            </a:pPr>
            <a:r>
              <a:rPr lang="en-US" sz="1300" i="1" dirty="0">
                <a:solidFill>
                  <a:srgbClr val="5B6770"/>
                </a:solidFill>
                <a:latin typeface="Nunito" pitchFamily="34" charset="0"/>
                <a:ea typeface="Nunito" pitchFamily="34" charset="-122"/>
                <a:cs typeface="Nunito" pitchFamily="34" charset="-120"/>
              </a:rPr>
              <a:t>How a shape becomes the force the actuator targets, cycle after cycle.</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10908792" cy="914400"/>
        </p:xfrm>
        <a:graphic>
          <a:graphicData uri="http://schemas.openxmlformats.org/drawingml/2006/table">
            <a:tbl>
              <a:tblPr/>
              <a:tblGrid>
                <a:gridCol w="2286000"/>
                <a:gridCol w="3931920"/>
                <a:gridCol w="4690872"/>
              </a:tblGrid>
              <a:tr h="329184">
                <a:tc>
                  <a:txBody>
                    <a:bodyPr/>
                    <a:lstStyle/>
                    <a:p>
                      <a:pPr algn="l" indent="0" marL="0">
                        <a:buNone/>
                      </a:pPr>
                      <a:r>
                        <a:rPr lang="en-US" sz="1250" b="1" dirty="0">
                          <a:solidFill>
                            <a:srgbClr val="FFFFFF"/>
                          </a:solidFill>
                          <a:latin typeface="Nunito" pitchFamily="34" charset="0"/>
                          <a:ea typeface="Nunito" pitchFamily="34" charset="-122"/>
                          <a:cs typeface="Nunito" pitchFamily="34" charset="-120"/>
                        </a:rPr>
                        <a:t>Step</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c>
                  <a:txBody>
                    <a:bodyPr/>
                    <a:lstStyle/>
                    <a:p>
                      <a:pPr algn="l" indent="0" marL="0">
                        <a:buNone/>
                      </a:pPr>
                      <a:r>
                        <a:rPr lang="en-US" sz="1250" b="1" dirty="0">
                          <a:solidFill>
                            <a:srgbClr val="FFFFFF"/>
                          </a:solidFill>
                          <a:latin typeface="Nunito" pitchFamily="34" charset="0"/>
                          <a:ea typeface="Nunito" pitchFamily="34" charset="-122"/>
                          <a:cs typeface="Nunito" pitchFamily="34" charset="-120"/>
                        </a:rPr>
                        <a:t>Calculation</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c>
                  <a:txBody>
                    <a:bodyPr/>
                    <a:lstStyle/>
                    <a:p>
                      <a:pPr algn="l" indent="0" marL="0">
                        <a:buNone/>
                      </a:pPr>
                      <a:r>
                        <a:rPr lang="en-US" sz="1250" b="1" dirty="0">
                          <a:solidFill>
                            <a:srgbClr val="FFFFFF"/>
                          </a:solidFill>
                          <a:latin typeface="Nunito" pitchFamily="34" charset="0"/>
                          <a:ea typeface="Nunito" pitchFamily="34" charset="-122"/>
                          <a:cs typeface="Nunito" pitchFamily="34" charset="-120"/>
                        </a:rPr>
                        <a:t>Result</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Shape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f(phase), phase 0 to 1</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the waveform you picked or typed</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Normalize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(v - min) / (max - min)</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shape squashed to 0 to 1</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Scale to bounds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lower + (upper - lower) * shape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force in newtons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Top-off (clamp)</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min(force, 33 N ceiling)</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never exceeds the safety ceiling</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Repeat</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one cycle per 1 / frequency</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thousands of cycles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5029200"/>
            <a:ext cx="10908792" cy="274320"/>
          </a:xfrm>
          <a:prstGeom prst="rect">
            <a:avLst/>
          </a:prstGeom>
          <a:noFill/>
          <a:ln/>
        </p:spPr>
        <p:txBody>
          <a:bodyPr wrap="square" lIns="0" tIns="0" rIns="0" bIns="0" rtlCol="0" anchor="ctr"/>
          <a:lstStyle/>
          <a:p>
            <a:pPr indent="0" marL="0">
              <a:buNone/>
            </a:pPr>
            <a:r>
              <a:rPr lang="en-US" sz="1300" b="1" dirty="0">
                <a:solidFill>
                  <a:srgbClr val="1F2933"/>
                </a:solidFill>
                <a:latin typeface="Nunito" pitchFamily="34" charset="0"/>
                <a:ea typeface="Nunito" pitchFamily="34" charset="-122"/>
                <a:cs typeface="Nunito" pitchFamily="34" charset="-120"/>
              </a:rPr>
              <a:t>In code:</a:t>
            </a:r>
            <a:endParaRPr lang="en-US" sz="1300" dirty="0"/>
          </a:p>
        </p:txBody>
      </p:sp>
      <p:sp>
        <p:nvSpPr>
          <p:cNvPr id="7" name="Shape 4"/>
          <p:cNvSpPr/>
          <p:nvPr/>
        </p:nvSpPr>
        <p:spPr>
          <a:xfrm>
            <a:off x="640080" y="5349240"/>
            <a:ext cx="10908792" cy="923544"/>
          </a:xfrm>
          <a:prstGeom prst="roundRect">
            <a:avLst>
              <a:gd name="adj" fmla="val 3960"/>
            </a:avLst>
          </a:prstGeom>
          <a:solidFill>
            <a:srgbClr val="F2F3F5"/>
          </a:solidFill>
          <a:ln w="9525">
            <a:solidFill>
              <a:srgbClr val="E3E7EB"/>
            </a:solidFill>
            <a:prstDash val="solid"/>
          </a:ln>
        </p:spPr>
      </p:sp>
      <p:sp>
        <p:nvSpPr>
          <p:cNvPr id="8" name="Text 5"/>
          <p:cNvSpPr/>
          <p:nvPr/>
        </p:nvSpPr>
        <p:spPr>
          <a:xfrm>
            <a:off x="822960" y="5468112"/>
            <a:ext cx="10543032" cy="685800"/>
          </a:xfrm>
          <a:prstGeom prst="rect">
            <a:avLst/>
          </a:prstGeom>
          <a:noFill/>
          <a:ln/>
        </p:spPr>
        <p:txBody>
          <a:bodyPr wrap="square" lIns="0" tIns="0" rIns="0" bIns="0" rtlCol="0" anchor="t"/>
          <a:lstStyle/>
          <a:p>
            <a:pPr algn="l" indent="0" marL="0">
              <a:lnSpc>
                <a:spcPct val="128000"/>
              </a:lnSpc>
              <a:buNone/>
            </a:pPr>
            <a:r>
              <a:rPr lang="en-US" sz="1200" dirty="0">
                <a:solidFill>
                  <a:srgbClr val="1A1A1A"/>
                </a:solidFill>
                <a:latin typeface="Courier New" pitchFamily="34" charset="0"/>
                <a:ea typeface="Courier New" pitchFamily="34" charset="-122"/>
                <a:cs typeface="Courier New" pitchFamily="34" charset="-120"/>
              </a:rPr>
              <a:t>shape = normalize(f(phase))                 // 0 to 1</a:t>
            </a:r>
            <a:endParaRPr lang="en-US" sz="1200" dirty="0"/>
          </a:p>
          <a:p>
            <a:pPr algn="l" indent="0" marL="0">
              <a:lnSpc>
                <a:spcPct val="128000"/>
              </a:lnSpc>
              <a:buNone/>
            </a:pPr>
            <a:r>
              <a:rPr lang="en-US" sz="1200" dirty="0">
                <a:solidFill>
                  <a:srgbClr val="1A1A1A"/>
                </a:solidFill>
                <a:latin typeface="Courier New" pitchFamily="34" charset="0"/>
                <a:ea typeface="Courier New" pitchFamily="34" charset="-122"/>
                <a:cs typeface="Courier New" pitchFamily="34" charset="-120"/>
              </a:rPr>
              <a:t>force = lower + (upper - lower) * shape      // newtons</a:t>
            </a:r>
            <a:endParaRPr lang="en-US" sz="1200" dirty="0"/>
          </a:p>
          <a:p>
            <a:pPr algn="l" indent="0" marL="0">
              <a:lnSpc>
                <a:spcPct val="128000"/>
              </a:lnSpc>
              <a:buNone/>
            </a:pPr>
            <a:r>
              <a:rPr lang="en-US" sz="1200" dirty="0">
                <a:solidFill>
                  <a:srgbClr val="1A1A1A"/>
                </a:solidFill>
                <a:latin typeface="Courier New" pitchFamily="34" charset="0"/>
                <a:ea typeface="Courier New" pitchFamily="34" charset="-122"/>
                <a:cs typeface="Courier New" pitchFamily="34" charset="-120"/>
              </a:rPr>
              <a:t>force = min(force, FORCE_CEILING_N)          // 33 N top-off</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DOCUMENTATION</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Fatigue simulator: round-off check</a:t>
            </a:r>
            <a:endParaRPr lang="en-US" sz="3100" dirty="0"/>
          </a:p>
        </p:txBody>
      </p:sp>
      <p:sp>
        <p:nvSpPr>
          <p:cNvPr id="4" name="Text 2"/>
          <p:cNvSpPr/>
          <p:nvPr/>
        </p:nvSpPr>
        <p:spPr>
          <a:xfrm>
            <a:off x="640080" y="1591056"/>
            <a:ext cx="10908792" cy="365760"/>
          </a:xfrm>
          <a:prstGeom prst="rect">
            <a:avLst/>
          </a:prstGeom>
          <a:noFill/>
          <a:ln/>
        </p:spPr>
        <p:txBody>
          <a:bodyPr wrap="square" lIns="0" tIns="0" rIns="0" bIns="0" rtlCol="0" anchor="ctr"/>
          <a:lstStyle/>
          <a:p>
            <a:pPr indent="0" marL="0">
              <a:buNone/>
            </a:pPr>
            <a:r>
              <a:rPr lang="en-US" sz="1300" i="1" dirty="0">
                <a:solidFill>
                  <a:srgbClr val="5B6770"/>
                </a:solidFill>
                <a:latin typeface="Nunito" pitchFamily="34" charset="0"/>
                <a:ea typeface="Nunito" pitchFamily="34" charset="-122"/>
                <a:cs typeface="Nunito" pitchFamily="34" charset="-120"/>
              </a:rPr>
              <a:t>Whether the actuator can physically follow the curve, or whether the sharp parts round off on the rig.</a:t>
            </a:r>
            <a:endParaRPr lang="en-US" sz="1300" dirty="0"/>
          </a:p>
        </p:txBody>
      </p:sp>
      <p:sp>
        <p:nvSpPr>
          <p:cNvPr id="5" name="Shape 3"/>
          <p:cNvSpPr/>
          <p:nvPr/>
        </p:nvSpPr>
        <p:spPr>
          <a:xfrm>
            <a:off x="640080" y="2057400"/>
            <a:ext cx="10908792" cy="1609344"/>
          </a:xfrm>
          <a:prstGeom prst="roundRect">
            <a:avLst>
              <a:gd name="adj" fmla="val 2273"/>
            </a:avLst>
          </a:prstGeom>
          <a:solidFill>
            <a:srgbClr val="F2F3F5"/>
          </a:solidFill>
          <a:ln w="9525">
            <a:solidFill>
              <a:srgbClr val="E3E7EB"/>
            </a:solidFill>
            <a:prstDash val="solid"/>
          </a:ln>
        </p:spPr>
      </p:sp>
      <p:sp>
        <p:nvSpPr>
          <p:cNvPr id="6" name="Text 4"/>
          <p:cNvSpPr/>
          <p:nvPr/>
        </p:nvSpPr>
        <p:spPr>
          <a:xfrm>
            <a:off x="822960" y="2176272"/>
            <a:ext cx="10543032" cy="1371600"/>
          </a:xfrm>
          <a:prstGeom prst="rect">
            <a:avLst/>
          </a:prstGeom>
          <a:noFill/>
          <a:ln/>
        </p:spPr>
        <p:txBody>
          <a:bodyPr wrap="square" lIns="0" tIns="0" rIns="0" bIns="0" rtlCol="0" anchor="t"/>
          <a:lstStyle/>
          <a:p>
            <a:pPr algn="l" indent="0" marL="0">
              <a:lnSpc>
                <a:spcPct val="128000"/>
              </a:lnSpc>
              <a:buNone/>
            </a:pPr>
            <a:r>
              <a:rPr lang="en-US" sz="1200" dirty="0">
                <a:solidFill>
                  <a:srgbClr val="1A1A1A"/>
                </a:solidFill>
                <a:latin typeface="Courier New" pitchFamily="34" charset="0"/>
                <a:ea typeface="Courier New" pitchFamily="34" charset="-122"/>
                <a:cs typeface="Courier New" pitchFamily="34" charset="-120"/>
              </a:rPr>
              <a:t>period  = 1 / frequency             // seconds per cycle</a:t>
            </a:r>
            <a:endParaRPr lang="en-US" sz="1200" dirty="0"/>
          </a:p>
          <a:p>
            <a:pPr algn="l" indent="0" marL="0">
              <a:lnSpc>
                <a:spcPct val="128000"/>
              </a:lnSpc>
              <a:buNone/>
            </a:pPr>
            <a:r>
              <a:rPr lang="en-US" sz="1200" dirty="0">
                <a:solidFill>
                  <a:srgbClr val="1A1A1A"/>
                </a:solidFill>
                <a:latin typeface="Courier New" pitchFamily="34" charset="0"/>
                <a:ea typeface="Courier New" pitchFamily="34" charset="-122"/>
                <a:cs typeface="Courier New" pitchFamily="34" charset="-120"/>
              </a:rPr>
              <a:t>dt      = period / samples          // time between points</a:t>
            </a:r>
            <a:endParaRPr lang="en-US" sz="1200" dirty="0"/>
          </a:p>
          <a:p>
            <a:pPr algn="l" indent="0" marL="0">
              <a:lnSpc>
                <a:spcPct val="128000"/>
              </a:lnSpc>
              <a:buNone/>
            </a:pPr>
            <a:r>
              <a:rPr lang="en-US" sz="1200" dirty="0">
                <a:solidFill>
                  <a:srgbClr val="1A1A1A"/>
                </a:solidFill>
                <a:latin typeface="Courier New" pitchFamily="34" charset="0"/>
                <a:ea typeface="Courier New" pitchFamily="34" charset="-122"/>
                <a:cs typeface="Courier New" pitchFamily="34" charset="-120"/>
              </a:rPr>
              <a:t>slope   = abs(f[i] - f[i-1]) / dt   // newtons per second</a:t>
            </a:r>
            <a:endParaRPr lang="en-US" sz="1200" dirty="0"/>
          </a:p>
          <a:p>
            <a:pPr algn="l" indent="0" marL="0">
              <a:lnSpc>
                <a:spcPct val="128000"/>
              </a:lnSpc>
              <a:buNone/>
            </a:pPr>
            <a:r>
              <a:rPr lang="en-US" sz="1200" dirty="0">
                <a:solidFill>
                  <a:srgbClr val="1A1A1A"/>
                </a:solidFill>
                <a:latin typeface="Courier New" pitchFamily="34" charset="0"/>
                <a:ea typeface="Courier New" pitchFamily="34" charset="-122"/>
                <a:cs typeface="Courier New" pitchFamily="34" charset="-120"/>
              </a:rPr>
              <a:t>maxSlew = max(slope over one cycle) // steepest demand</a:t>
            </a:r>
            <a:endParaRPr lang="en-US" sz="1200" dirty="0"/>
          </a:p>
          <a:p>
            <a:pPr algn="l" indent="0" marL="0">
              <a:lnSpc>
                <a:spcPct val="128000"/>
              </a:lnSpc>
              <a:buNone/>
            </a:pPr>
            <a:r>
              <a:rPr lang="en-US" sz="1200" dirty="0">
                <a:solidFill>
                  <a:srgbClr val="1A1A1A"/>
                </a:solidFill>
                <a:latin typeface="Courier New" pitchFamily="34" charset="0"/>
                <a:ea typeface="Courier New" pitchFamily="34" charset="-122"/>
                <a:cs typeface="Courier New" pitchFamily="34" charset="-120"/>
              </a:rPr>
              <a:t>limit   = stiffness * max_speed     // actuator ceiling (placeholder 60 N/s)</a:t>
            </a:r>
            <a:endParaRPr lang="en-US" sz="1200" dirty="0"/>
          </a:p>
          <a:p>
            <a:pPr algn="l" indent="0" marL="0">
              <a:lnSpc>
                <a:spcPct val="128000"/>
              </a:lnSpc>
              <a:buNone/>
            </a:pPr>
            <a:r>
              <a:rPr lang="en-US" sz="1200" dirty="0">
                <a:solidFill>
                  <a:srgbClr val="1A1A1A"/>
                </a:solidFill>
                <a:latin typeface="Courier New" pitchFamily="34" charset="0"/>
                <a:ea typeface="Courier New" pitchFamily="34" charset="-122"/>
                <a:cs typeface="Courier New" pitchFamily="34" charset="-120"/>
              </a:rPr>
              <a:t>verdict = maxSlew &lt;= limit          // green, else amber: rounds off</a:t>
            </a:r>
            <a:endParaRPr lang="en-US" sz="1200" dirty="0"/>
          </a:p>
        </p:txBody>
      </p:sp>
      <p:sp>
        <p:nvSpPr>
          <p:cNvPr id="7" name="Text 5"/>
          <p:cNvSpPr/>
          <p:nvPr/>
        </p:nvSpPr>
        <p:spPr>
          <a:xfrm>
            <a:off x="640080" y="4297680"/>
            <a:ext cx="10908792" cy="274320"/>
          </a:xfrm>
          <a:prstGeom prst="rect">
            <a:avLst/>
          </a:prstGeom>
          <a:noFill/>
          <a:ln/>
        </p:spPr>
        <p:txBody>
          <a:bodyPr wrap="square" lIns="0" tIns="0" rIns="0" bIns="0" rtlCol="0" anchor="ctr"/>
          <a:lstStyle/>
          <a:p>
            <a:pPr indent="0" marL="0">
              <a:buNone/>
            </a:pPr>
            <a:r>
              <a:rPr lang="en-US" sz="1300" b="1" dirty="0">
                <a:solidFill>
                  <a:srgbClr val="1F2933"/>
                </a:solidFill>
                <a:latin typeface="Nunito" pitchFamily="34" charset="0"/>
                <a:ea typeface="Nunito" pitchFamily="34" charset="-122"/>
                <a:cs typeface="Nunito" pitchFamily="34" charset="-120"/>
              </a:rPr>
              <a:t>Worked examples (same 2 to 20 N bounds):</a:t>
            </a:r>
            <a:endParaRPr lang="en-US" sz="13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40080" y="4617720"/>
          <a:ext cx="10908792" cy="914400"/>
        </p:xfrm>
        <a:graphic>
          <a:graphicData uri="http://schemas.openxmlformats.org/drawingml/2006/table">
            <a:tbl>
              <a:tblPr/>
              <a:tblGrid>
                <a:gridCol w="3657600"/>
                <a:gridCol w="2926080"/>
                <a:gridCol w="4325112"/>
              </a:tblGrid>
              <a:tr h="329184">
                <a:tc>
                  <a:txBody>
                    <a:bodyPr/>
                    <a:lstStyle/>
                    <a:p>
                      <a:pPr algn="l" indent="0" marL="0">
                        <a:buNone/>
                      </a:pPr>
                      <a:r>
                        <a:rPr lang="en-US" sz="1250" b="1" dirty="0">
                          <a:solidFill>
                            <a:srgbClr val="FFFFFF"/>
                          </a:solidFill>
                          <a:latin typeface="Nunito" pitchFamily="34" charset="0"/>
                          <a:ea typeface="Nunito" pitchFamily="34" charset="-122"/>
                          <a:cs typeface="Nunito" pitchFamily="34" charset="-120"/>
                        </a:rPr>
                        <a:t>Waveform</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c>
                  <a:txBody>
                    <a:bodyPr/>
                    <a:lstStyle/>
                    <a:p>
                      <a:pPr algn="l" indent="0" marL="0">
                        <a:buNone/>
                      </a:pPr>
                      <a:r>
                        <a:rPr lang="en-US" sz="1250" b="1" dirty="0">
                          <a:solidFill>
                            <a:srgbClr val="FFFFFF"/>
                          </a:solidFill>
                          <a:latin typeface="Nunito" pitchFamily="34" charset="0"/>
                          <a:ea typeface="Nunito" pitchFamily="34" charset="-122"/>
                          <a:cs typeface="Nunito" pitchFamily="34" charset="-120"/>
                        </a:rPr>
                        <a:t>Needs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c>
                  <a:txBody>
                    <a:bodyPr/>
                    <a:lstStyle/>
                    <a:p>
                      <a:pPr algn="l" indent="0" marL="0">
                        <a:buNone/>
                      </a:pPr>
                      <a:r>
                        <a:rPr lang="en-US" sz="1250" b="1" dirty="0">
                          <a:solidFill>
                            <a:srgbClr val="FFFFFF"/>
                          </a:solidFill>
                          <a:latin typeface="Nunito" pitchFamily="34" charset="0"/>
                          <a:ea typeface="Nunito" pitchFamily="34" charset="-122"/>
                          <a:cs typeface="Nunito" pitchFamily="34" charset="-120"/>
                        </a:rPr>
                        <a:t>Verdict</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Sine, 1 Hz</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~57 N/s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green, follows faithfully</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Blood pressure, 60 bpm</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~230 N/s</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amber, upstroke rounds off</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F2933"/>
                          </a:solidFill>
                          <a:latin typeface="Nunito" pitchFamily="34" charset="0"/>
                          <a:ea typeface="Nunito" pitchFamily="34" charset="-122"/>
                          <a:cs typeface="Nunito" pitchFamily="34" charset="-120"/>
                        </a:rPr>
                        <a:t>Square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very large (instant jump)</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770"/>
                          </a:solidFill>
                          <a:latin typeface="Nunito" pitchFamily="34" charset="0"/>
                          <a:ea typeface="Nunito" pitchFamily="34" charset="-122"/>
                          <a:cs typeface="Nunito" pitchFamily="34" charset="-120"/>
                        </a:rPr>
                        <a:t>amber, comes out like a sine</a:t>
                      </a:r>
                      <a:endParaRPr lang="en-US" sz="125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9" name="Text 6"/>
          <p:cNvSpPr/>
          <p:nvPr/>
        </p:nvSpPr>
        <p:spPr>
          <a:xfrm>
            <a:off x="640080" y="6355080"/>
            <a:ext cx="10908792" cy="365760"/>
          </a:xfrm>
          <a:prstGeom prst="rect">
            <a:avLst/>
          </a:prstGeom>
          <a:noFill/>
          <a:ln/>
        </p:spPr>
        <p:txBody>
          <a:bodyPr wrap="square" lIns="0" tIns="0" rIns="0" bIns="0" rtlCol="0" anchor="ctr"/>
          <a:lstStyle/>
          <a:p>
            <a:pPr indent="0" marL="0">
              <a:lnSpc>
                <a:spcPct val="105000"/>
              </a:lnSpc>
              <a:buNone/>
            </a:pPr>
            <a:r>
              <a:rPr lang="en-US" sz="1100" i="1" dirty="0">
                <a:solidFill>
                  <a:srgbClr val="5B6770"/>
                </a:solidFill>
                <a:latin typeface="Nunito" pitchFamily="34" charset="0"/>
                <a:ea typeface="Nunito" pitchFamily="34" charset="-122"/>
                <a:cs typeface="Nunito" pitchFamily="34" charset="-120"/>
              </a:rPr>
              <a:t>limit = block stiffness (N/mm) x max actuator speed (mm/s). The 60 N/s is a placeholder until the block stiffness is measured on the rig.</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200" b="1" spc="300" kern="0" dirty="0">
                <a:solidFill>
                  <a:srgbClr val="2F6FE0"/>
                </a:solidFill>
                <a:latin typeface="Nunito" pitchFamily="34" charset="0"/>
                <a:ea typeface="Nunito" pitchFamily="34" charset="-122"/>
                <a:cs typeface="Nunito" pitchFamily="34" charset="-120"/>
              </a:rPr>
              <a:t>DOCUMENTATION</a:t>
            </a:r>
            <a:endParaRPr lang="en-US" sz="1200" dirty="0"/>
          </a:p>
        </p:txBody>
      </p:sp>
      <p:sp>
        <p:nvSpPr>
          <p:cNvPr id="3" name="Text 1"/>
          <p:cNvSpPr/>
          <p:nvPr/>
        </p:nvSpPr>
        <p:spPr>
          <a:xfrm>
            <a:off x="640080" y="768096"/>
            <a:ext cx="10908792" cy="777240"/>
          </a:xfrm>
          <a:prstGeom prst="rect">
            <a:avLst/>
          </a:prstGeom>
          <a:noFill/>
          <a:ln/>
        </p:spPr>
        <p:txBody>
          <a:bodyPr wrap="square" lIns="0" tIns="0" rIns="0" bIns="0" rtlCol="0" anchor="ctr"/>
          <a:lstStyle/>
          <a:p>
            <a:pPr indent="0" marL="0">
              <a:buNone/>
            </a:pPr>
            <a:r>
              <a:rPr lang="en-US" sz="3100" b="1" dirty="0">
                <a:solidFill>
                  <a:srgbClr val="1F2933"/>
                </a:solidFill>
                <a:latin typeface="Nunito" pitchFamily="34" charset="0"/>
                <a:ea typeface="Nunito" pitchFamily="34" charset="-122"/>
                <a:cs typeface="Nunito" pitchFamily="34" charset="-120"/>
              </a:rPr>
              <a:t>Fatigue square-wave frequency limit</a:t>
            </a:r>
            <a:endParaRPr lang="en-US" sz="3100" dirty="0"/>
          </a:p>
        </p:txBody>
      </p:sp>
      <p:sp>
        <p:nvSpPr>
          <p:cNvPr id="4" name="Text 2"/>
          <p:cNvSpPr/>
          <p:nvPr/>
        </p:nvSpPr>
        <p:spPr>
          <a:xfrm>
            <a:off x="640080" y="1572768"/>
            <a:ext cx="10908792" cy="548640"/>
          </a:xfrm>
          <a:prstGeom prst="rect">
            <a:avLst/>
          </a:prstGeom>
          <a:noFill/>
          <a:ln/>
        </p:spPr>
        <p:txBody>
          <a:bodyPr wrap="square" lIns="0" tIns="0" rIns="0" bIns="0" rtlCol="0" anchor="ctr"/>
          <a:lstStyle/>
          <a:p>
            <a:pPr indent="0" marL="0">
              <a:lnSpc>
                <a:spcPct val="110000"/>
              </a:lnSpc>
              <a:buNone/>
            </a:pPr>
            <a:r>
              <a:rPr lang="en-US" sz="1250" i="1" dirty="0">
                <a:solidFill>
                  <a:srgbClr val="5B6770"/>
                </a:solidFill>
                <a:latin typeface="Nunito" pitchFamily="34" charset="0"/>
                <a:ea typeface="Nunito" pitchFamily="34" charset="-122"/>
                <a:cs typeface="Nunito" pitchFamily="34" charset="-120"/>
              </a:rPr>
              <a:t>A rig frequency sweep (tools/zaber_square_wave_characterization.py) measures where a square wave stops holding its flats. Flat-hold - the fraction of each half-cycle held at the commanded level - is the decider: a true square holds most of it, a triangle almost none.</a:t>
            </a:r>
            <a:endParaRPr lang="en-US" sz="12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40080" y="2286000"/>
          <a:ext cx="10908792" cy="914400"/>
        </p:xfrm>
        <a:graphic>
          <a:graphicData uri="http://schemas.openxmlformats.org/drawingml/2006/table">
            <a:tbl>
              <a:tblPr/>
              <a:tblGrid>
                <a:gridCol w="2103120"/>
                <a:gridCol w="1737360"/>
                <a:gridCol w="2286000"/>
                <a:gridCol w="4782312"/>
              </a:tblGrid>
              <a:tr h="457200">
                <a:tc>
                  <a:txBody>
                    <a:bodyPr/>
                    <a:lstStyle/>
                    <a:p>
                      <a:pPr algn="l" indent="0" marL="0">
                        <a:buNone/>
                      </a:pPr>
                      <a:r>
                        <a:rPr lang="en-US" sz="1300" b="1" dirty="0">
                          <a:solidFill>
                            <a:srgbClr val="FFFFFF"/>
                          </a:solidFill>
                          <a:latin typeface="Nunito" pitchFamily="34" charset="0"/>
                          <a:ea typeface="Nunito" pitchFamily="34" charset="-122"/>
                          <a:cs typeface="Nunito" pitchFamily="34" charset="-120"/>
                        </a:rPr>
                        <a:t>Frequency</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c>
                  <a:txBody>
                    <a:bodyPr/>
                    <a:lstStyle/>
                    <a:p>
                      <a:pPr algn="l" indent="0" marL="0">
                        <a:buNone/>
                      </a:pPr>
                      <a:r>
                        <a:rPr lang="en-US" sz="1300" b="1" dirty="0">
                          <a:solidFill>
                            <a:srgbClr val="FFFFFF"/>
                          </a:solidFill>
                          <a:latin typeface="Nunito" pitchFamily="34" charset="0"/>
                          <a:ea typeface="Nunito" pitchFamily="34" charset="-122"/>
                          <a:cs typeface="Nunito" pitchFamily="34" charset="-120"/>
                        </a:rPr>
                        <a:t>Flat-hold</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c>
                  <a:txBody>
                    <a:bodyPr/>
                    <a:lstStyle/>
                    <a:p>
                      <a:pPr algn="l" indent="0" marL="0">
                        <a:buNone/>
                      </a:pPr>
                      <a:r>
                        <a:rPr lang="en-US" sz="1300" b="1" dirty="0">
                          <a:solidFill>
                            <a:srgbClr val="FFFFFF"/>
                          </a:solidFill>
                          <a:latin typeface="Nunito" pitchFamily="34" charset="0"/>
                          <a:ea typeface="Nunito" pitchFamily="34" charset="-122"/>
                          <a:cs typeface="Nunito" pitchFamily="34" charset="-120"/>
                        </a:rPr>
                        <a:t>Reaches bounds</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c>
                  <a:txBody>
                    <a:bodyPr/>
                    <a:lstStyle/>
                    <a:p>
                      <a:pPr algn="l" indent="0" marL="0">
                        <a:buNone/>
                      </a:pPr>
                      <a:r>
                        <a:rPr lang="en-US" sz="1300" b="1" dirty="0">
                          <a:solidFill>
                            <a:srgbClr val="FFFFFF"/>
                          </a:solidFill>
                          <a:latin typeface="Nunito" pitchFamily="34" charset="0"/>
                          <a:ea typeface="Nunito" pitchFamily="34" charset="-122"/>
                          <a:cs typeface="Nunito" pitchFamily="34" charset="-120"/>
                        </a:rPr>
                        <a:t>Shape</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F6FE0"/>
                    </a:solidFill>
                  </a:tcPr>
                </a:tc>
              </a:tr>
              <a:tr h="457200">
                <a:tc>
                  <a:txBody>
                    <a:bodyPr/>
                    <a:lstStyle/>
                    <a:p>
                      <a:pPr algn="l" indent="0" marL="0">
                        <a:buNone/>
                      </a:pPr>
                      <a:r>
                        <a:rPr lang="en-US" sz="1300" b="1" dirty="0">
                          <a:solidFill>
                            <a:srgbClr val="2E875B"/>
                          </a:solidFill>
                          <a:latin typeface="Nunito" pitchFamily="34" charset="0"/>
                          <a:ea typeface="Nunito" pitchFamily="34" charset="-122"/>
                          <a:cs typeface="Nunito" pitchFamily="34" charset="-120"/>
                        </a:rPr>
                        <a:t>≤ 0.25 Hz</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E875B"/>
                          </a:solidFill>
                          <a:latin typeface="Nunito" pitchFamily="34" charset="0"/>
                          <a:ea typeface="Nunito" pitchFamily="34" charset="-122"/>
                          <a:cs typeface="Nunito" pitchFamily="34" charset="-120"/>
                        </a:rPr>
                        <a:t>50-81%</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E875B"/>
                          </a:solidFill>
                          <a:latin typeface="Nunito" pitchFamily="34" charset="0"/>
                          <a:ea typeface="Nunito" pitchFamily="34" charset="-122"/>
                          <a:cs typeface="Nunito" pitchFamily="34" charset="-120"/>
                        </a:rPr>
                        <a:t>yes (100%)</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E875B"/>
                          </a:solidFill>
                          <a:latin typeface="Nunito" pitchFamily="34" charset="0"/>
                          <a:ea typeface="Nunito" pitchFamily="34" charset="-122"/>
                          <a:cs typeface="Nunito" pitchFamily="34" charset="-120"/>
                        </a:rPr>
                        <a:t>square - holds a flat</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B0560F"/>
                          </a:solidFill>
                          <a:latin typeface="Nunito" pitchFamily="34" charset="0"/>
                          <a:ea typeface="Nunito" pitchFamily="34" charset="-122"/>
                          <a:cs typeface="Nunito" pitchFamily="34" charset="-120"/>
                        </a:rPr>
                        <a:t>0.3-0.45 Hz</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B0560F"/>
                          </a:solidFill>
                          <a:latin typeface="Nunito" pitchFamily="34" charset="0"/>
                          <a:ea typeface="Nunito" pitchFamily="34" charset="-122"/>
                          <a:cs typeface="Nunito" pitchFamily="34" charset="-120"/>
                        </a:rPr>
                        <a:t>13-42%</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B0560F"/>
                          </a:solidFill>
                          <a:latin typeface="Nunito" pitchFamily="34" charset="0"/>
                          <a:ea typeface="Nunito" pitchFamily="34" charset="-122"/>
                          <a:cs typeface="Nunito" pitchFamily="34" charset="-120"/>
                        </a:rPr>
                        <a:t>yes (100%)</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B0560F"/>
                          </a:solidFill>
                          <a:latin typeface="Nunito" pitchFamily="34" charset="0"/>
                          <a:ea typeface="Nunito" pitchFamily="34" charset="-122"/>
                          <a:cs typeface="Nunito" pitchFamily="34" charset="-120"/>
                        </a:rPr>
                        <a:t>rounding into a triangle</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B0560F"/>
                          </a:solidFill>
                          <a:latin typeface="Nunito" pitchFamily="34" charset="0"/>
                          <a:ea typeface="Nunito" pitchFamily="34" charset="-122"/>
                          <a:cs typeface="Nunito" pitchFamily="34" charset="-120"/>
                        </a:rPr>
                        <a:t>0.5 Hz</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B0560F"/>
                          </a:solidFill>
                          <a:latin typeface="Nunito" pitchFamily="34" charset="0"/>
                          <a:ea typeface="Nunito" pitchFamily="34" charset="-122"/>
                          <a:cs typeface="Nunito" pitchFamily="34" charset="-120"/>
                        </a:rPr>
                        <a:t>~1%</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B0560F"/>
                          </a:solidFill>
                          <a:latin typeface="Nunito" pitchFamily="34" charset="0"/>
                          <a:ea typeface="Nunito" pitchFamily="34" charset="-122"/>
                          <a:cs typeface="Nunito" pitchFamily="34" charset="-120"/>
                        </a:rPr>
                        <a:t>barely (98%)</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B0560F"/>
                          </a:solidFill>
                          <a:latin typeface="Nunito" pitchFamily="34" charset="0"/>
                          <a:ea typeface="Nunito" pitchFamily="34" charset="-122"/>
                          <a:cs typeface="Nunito" pitchFamily="34" charset="-120"/>
                        </a:rPr>
                        <a:t>triangle - no flat</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C5423C"/>
                          </a:solidFill>
                          <a:latin typeface="Nunito" pitchFamily="34" charset="0"/>
                          <a:ea typeface="Nunito" pitchFamily="34" charset="-122"/>
                          <a:cs typeface="Nunito" pitchFamily="34" charset="-120"/>
                        </a:rPr>
                        <a:t>≥ 0.75 Hz</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C5423C"/>
                          </a:solidFill>
                          <a:latin typeface="Nunito" pitchFamily="34" charset="0"/>
                          <a:ea typeface="Nunito" pitchFamily="34" charset="-122"/>
                          <a:cs typeface="Nunito" pitchFamily="34" charset="-120"/>
                        </a:rPr>
                        <a:t>0%</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C5423C"/>
                          </a:solidFill>
                          <a:latin typeface="Nunito" pitchFamily="34" charset="0"/>
                          <a:ea typeface="Nunito" pitchFamily="34" charset="-122"/>
                          <a:cs typeface="Nunito" pitchFamily="34" charset="-120"/>
                        </a:rPr>
                        <a:t>no (60-46%)</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C5423C"/>
                          </a:solidFill>
                          <a:latin typeface="Nunito" pitchFamily="34" charset="0"/>
                          <a:ea typeface="Nunito" pitchFamily="34" charset="-122"/>
                          <a:cs typeface="Nunito" pitchFamily="34" charset="-120"/>
                        </a:rPr>
                        <a:t>cannot reach amplitude</a:t>
                      </a:r>
                      <a:endParaRPr lang="en-US" sz="1300" dirty="0">
                        <a:latin typeface="Nunito" charset="0"/>
                        <a:ea typeface="Nunito" charset="0"/>
                        <a:cs typeface="Nunito" charset="0"/>
                      </a:endParaRPr>
                    </a:p>
                  </a:txBody>
                  <a:tcPr marL="101600" marR="101600" marT="38100" marB="3810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4983480"/>
            <a:ext cx="10908792" cy="1143000"/>
          </a:xfrm>
          <a:prstGeom prst="roundRect">
            <a:avLst>
              <a:gd name="adj" fmla="val 4800"/>
            </a:avLst>
          </a:prstGeom>
          <a:solidFill>
            <a:srgbClr val="EAF0FC"/>
          </a:solidFill>
          <a:ln/>
          <a:effectLst>
            <a:outerShdw sx="100000" sy="100000" kx="0" ky="0" algn="bl" rotWithShape="0" blurRad="101600" dist="38100" dir="5400000">
              <a:srgbClr val="000000">
                <a:alpha val="10000"/>
              </a:srgbClr>
            </a:outerShdw>
          </a:effectLst>
        </p:spPr>
      </p:sp>
      <p:sp>
        <p:nvSpPr>
          <p:cNvPr id="7" name="Text 4"/>
          <p:cNvSpPr/>
          <p:nvPr/>
        </p:nvSpPr>
        <p:spPr>
          <a:xfrm>
            <a:off x="932688" y="5102352"/>
            <a:ext cx="10323576" cy="914400"/>
          </a:xfrm>
          <a:prstGeom prst="rect">
            <a:avLst/>
          </a:prstGeom>
          <a:noFill/>
          <a:ln/>
        </p:spPr>
        <p:txBody>
          <a:bodyPr wrap="square" lIns="0" tIns="0" rIns="0" bIns="0" rtlCol="0" anchor="ctr"/>
          <a:lstStyle/>
          <a:p>
            <a:pPr indent="0" marL="0">
              <a:lnSpc>
                <a:spcPct val="112000"/>
              </a:lnSpc>
              <a:buNone/>
            </a:pPr>
            <a:r>
              <a:rPr lang="en-US" sz="1200" b="1" dirty="0">
                <a:solidFill>
                  <a:srgbClr val="2F6FE0"/>
                </a:solidFill>
                <a:latin typeface="Nunito" pitchFamily="34" charset="0"/>
                <a:ea typeface="Nunito" pitchFamily="34" charset="-122"/>
                <a:cs typeface="Nunito" pitchFamily="34" charset="-120"/>
              </a:rPr>
              <a:t>Faithful square: keep it at or below 0.25 Hz.  </a:t>
            </a:r>
            <a:pPr indent="0" marL="0">
              <a:lnSpc>
                <a:spcPct val="112000"/>
              </a:lnSpc>
              <a:buNone/>
            </a:pPr>
            <a:r>
              <a:rPr lang="en-US" sz="1200" dirty="0">
                <a:solidFill>
                  <a:srgbClr val="1F2933"/>
                </a:solidFill>
                <a:latin typeface="Nunito" pitchFamily="34" charset="0"/>
                <a:ea typeface="Nunito" pitchFamily="34" charset="-122"/>
                <a:cs typeface="Nunito" pitchFamily="34" charset="-120"/>
              </a:rPr>
              <a:t>The frequency field allows a square up to 1 Hz, but above ~0.25 Hz the wave rounds into a triangle and above ~0.5 Hz it no longer reaches its bounds. The rod slews a 2 mm swing in about 1 s and lags the command ~165 ms - so the measured limit lands far below the naive speed-only ceiling of a few hertz (which wrongly assumes the rod reaches full speed instantly).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Fixture GUI - Progress Update</dc:title>
  <dc:subject>PptxGenJS Presentation</dc:subject>
  <dc:creator>Jacqueline Chuang</dc:creator>
  <cp:lastModifiedBy>Jacqueline Chuang</cp:lastModifiedBy>
  <cp:revision>1</cp:revision>
  <dcterms:created xsi:type="dcterms:W3CDTF">2026-07-13T17:02:23Z</dcterms:created>
  <dcterms:modified xsi:type="dcterms:W3CDTF">2026-07-13T17:02:23Z</dcterms:modified>
</cp:coreProperties>
</file>