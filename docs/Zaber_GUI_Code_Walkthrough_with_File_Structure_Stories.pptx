
<file path=[Content_Types].xml><?xml version="1.0" encoding="utf-8"?>
<ns0:Types xmlns:ns0="http://schemas.openxmlformats.org/package/2006/content-types"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theme/theme1.xml" ContentType="application/vnd.openxmlformats-officedocument.theme+xml"/>
  <ns0:Override PartName="/ppt/slideMasters/slideMaster1.xml" ContentType="application/vnd.openxmlformats-officedocument.presentationml.slideMaster+xml"/>
  <ns0:Override PartName="/ppt/slideLayouts/slideLayout1.xml" ContentType="application/vnd.openxmlformats-officedocument.presentationml.slideLayout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</ns0: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999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Slide18"/>
    <p:sldId id="274" r:id="rIdSlide19"/>
  </p:sldIdLst>
  <p:sldSz cx="12192000" cy="6858000" type="wide"/>
  <p:notesSz cx="6858000" cy="9144000"/>
  <p:defaultTextStyle>
    <a:defPPr>
      <a:defRPr lang="en-US"/>
    </a:defPPr>
  </p:defaultTextStyle>
</p:presentation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" Target="slides/slide1.xml" /><ns0:Relationship Id="rId2" Type="http://schemas.openxmlformats.org/officeDocument/2006/relationships/slide" Target="slides/slide2.xml" /><ns0:Relationship Id="rId3" Type="http://schemas.openxmlformats.org/officeDocument/2006/relationships/slide" Target="slides/slide3.xml" /><ns0:Relationship Id="rId4" Type="http://schemas.openxmlformats.org/officeDocument/2006/relationships/slide" Target="slides/slide4.xml" /><ns0:Relationship Id="rId5" Type="http://schemas.openxmlformats.org/officeDocument/2006/relationships/slide" Target="slides/slide5.xml" /><ns0:Relationship Id="rId6" Type="http://schemas.openxmlformats.org/officeDocument/2006/relationships/slide" Target="slides/slide6.xml" /><ns0:Relationship Id="rId7" Type="http://schemas.openxmlformats.org/officeDocument/2006/relationships/slide" Target="slides/slide7.xml" /><ns0:Relationship Id="rId8" Type="http://schemas.openxmlformats.org/officeDocument/2006/relationships/slide" Target="slides/slide8.xml" /><ns0:Relationship Id="rId9" Type="http://schemas.openxmlformats.org/officeDocument/2006/relationships/slide" Target="slides/slide9.xml" /><ns0:Relationship Id="rId10" Type="http://schemas.openxmlformats.org/officeDocument/2006/relationships/slide" Target="slides/slide10.xml" /><ns0:Relationship Id="rId11" Type="http://schemas.openxmlformats.org/officeDocument/2006/relationships/slide" Target="slides/slide11.xml" /><ns0:Relationship Id="rId12" Type="http://schemas.openxmlformats.org/officeDocument/2006/relationships/slide" Target="slides/slide12.xml" /><ns0:Relationship Id="rId13" Type="http://schemas.openxmlformats.org/officeDocument/2006/relationships/slide" Target="slides/slide13.xml" /><ns0:Relationship Id="rId14" Type="http://schemas.openxmlformats.org/officeDocument/2006/relationships/slide" Target="slides/slide14.xml" /><ns0:Relationship Id="rId15" Type="http://schemas.openxmlformats.org/officeDocument/2006/relationships/slide" Target="slides/slide15.xml" /><ns0:Relationship Id="rId16" Type="http://schemas.openxmlformats.org/officeDocument/2006/relationships/slide" Target="slides/slide16.xml" /><ns0:Relationship Id="rId17" Type="http://schemas.openxmlformats.org/officeDocument/2006/relationships/slide" Target="slides/slide17.xml" /><ns0:Relationship Id="rId18" Type="http://schemas.openxmlformats.org/officeDocument/2006/relationships/theme" Target="theme/theme1.xml" /><ns0:Relationship Id="rId999" Type="http://schemas.openxmlformats.org/officeDocument/2006/relationships/slideMaster" Target="slideMasters/slideMaster1.xml" /><ns0:Relationship Id="rIdSlide18" Type="http://schemas.openxmlformats.org/officeDocument/2006/relationships/slide" Target="slides/slide18.xml" /><ns0:Relationship Id="rIdSlide19" Type="http://schemas.openxmlformats.org/officeDocument/2006/relationships/slide" Target="slides/slide19.xml" /></ns0: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84048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3400" b="1">
                <a:solidFill>
                  <a:srgbClr val="172033"/>
                </a:solidFill>
                <a:latin typeface="Aptos"/>
              </a:rPr>
              <a:t>Zaber GUI Code Walkthrough</a:t>
            </a:r>
            <a:endParaRPr lang="en-US" sz="3400"/>
          </a:p>
        </p:txBody>
      </p:sp>
      <p:sp>
        <p:nvSpPr>
          <p:cNvPr id="3" name="TextBox 3"/>
          <p:cNvSpPr txBox="1"/>
          <p:nvPr/>
        </p:nvSpPr>
        <p:spPr>
          <a:xfrm>
            <a:off x="530352" y="1143000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800">
                <a:solidFill>
                  <a:srgbClr val="697790"/>
                </a:solidFill>
                <a:latin typeface="Aptos"/>
              </a:rPr>
              <a:t>Structure of index.html and run_web_gui.py</a:t>
            </a:r>
            <a:endParaRPr lang="en-US" sz="1800"/>
          </a:p>
        </p:txBody>
      </p:sp>
      <p:sp>
        <p:nvSpPr>
          <p:cNvPr id="4" name="Shape 4"/>
          <p:cNvSpPr/>
          <p:nvPr/>
        </p:nvSpPr>
        <p:spPr>
          <a:xfrm>
            <a:off x="502920" y="1874519"/>
            <a:ext cx="111556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822960" y="224028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000" b="1">
                <a:solidFill>
                  <a:srgbClr val="172033"/>
                </a:solidFill>
                <a:latin typeface="Aptos"/>
              </a:rPr>
              <a:t>What this deck explains</a:t>
            </a:r>
            <a:endParaRPr lang="en-US" sz="2000"/>
          </a:p>
        </p:txBody>
      </p:sp>
      <p:sp>
        <p:nvSpPr>
          <p:cNvPr id="6" name="TextBox 6"/>
          <p:cNvSpPr txBox="1"/>
          <p:nvPr/>
        </p:nvSpPr>
        <p:spPr>
          <a:xfrm>
            <a:off x="822960" y="2788920"/>
            <a:ext cx="4297680" cy="2468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- How index.html is split into HTML, CSS, and JavaScript</a:t>
            </a:r>
            <a:endParaRPr lang="en-US" sz="1700"/>
          </a:p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- How run_web_gui.py acts as the local Python bridge</a:t>
            </a:r>
            <a:endParaRPr lang="en-US" sz="1700"/>
          </a:p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- How test windows, analysis tabs, folders, and simulated data flow together</a:t>
            </a:r>
            <a:endParaRPr lang="en-US" sz="1700"/>
          </a:p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- Where real Zaber and FUTEK hardware integration belongs</a:t>
            </a:r>
            <a:endParaRPr lang="en-US" sz="1700"/>
          </a:p>
        </p:txBody>
      </p:sp>
      <p:sp>
        <p:nvSpPr>
          <p:cNvPr id="7" name="Shape 7"/>
          <p:cNvSpPr/>
          <p:nvPr/>
        </p:nvSpPr>
        <p:spPr>
          <a:xfrm>
            <a:off x="6400800" y="2395728"/>
            <a:ext cx="4206240" cy="64008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BD4FF"/>
            </a:solidFill>
          </a:ln>
        </p:spPr>
        <p:txBody>
          <a:bodyPr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6537960" y="2532888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 b="1">
                <a:solidFill>
                  <a:srgbClr val="174A7C"/>
                </a:solidFill>
                <a:latin typeface="Aptos"/>
              </a:rPr>
              <a:t>Browser UI -&gt; Python backend -&gt; files + hardware</a:t>
            </a:r>
            <a:endParaRPr lang="en-US" sz="1600"/>
          </a:p>
        </p:txBody>
      </p:sp>
      <p:cxnSp>
        <p:nvCxnSpPr>
          <p:cNvPr id="9" name="Connector 9"/>
          <p:cNvCxnSpPr/>
          <p:nvPr/>
        </p:nvCxnSpPr>
        <p:spPr>
          <a:xfrm>
            <a:off x="6903720" y="3429000"/>
            <a:ext cx="3154680" cy="9144"/>
          </a:xfrm>
          <a:prstGeom prst="line">
            <a:avLst/>
          </a:prstGeom>
          <a:ln w="25400">
            <a:solidFill>
              <a:srgbClr val="3F73E6"/>
            </a:solidFill>
            <a:tailEnd type="triangle"/>
          </a:ln>
        </p:spPr>
      </p:cxnSp>
      <p:sp>
        <p:nvSpPr>
          <p:cNvPr id="10" name="Shape 10"/>
          <p:cNvSpPr/>
          <p:nvPr/>
        </p:nvSpPr>
        <p:spPr>
          <a:xfrm>
            <a:off x="6400800" y="3703320"/>
            <a:ext cx="1325880" cy="594360"/>
          </a:xfrm>
          <a:prstGeom prst="roundRect">
            <a:avLst/>
          </a:prstGeom>
          <a:solidFill>
            <a:srgbClr val="3F73E6"/>
          </a:solidFill>
          <a:ln w="12700">
            <a:solidFill>
              <a:srgbClr val="3F73E6"/>
            </a:solidFill>
          </a:ln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6464808" y="38587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200" b="1">
                <a:solidFill>
                  <a:srgbClr val="FFFFFF"/>
                </a:solidFill>
                <a:latin typeface="Aptos"/>
              </a:rPr>
              <a:t>index.html</a:t>
            </a:r>
            <a:endParaRPr lang="en-US" sz="1200"/>
          </a:p>
        </p:txBody>
      </p:sp>
      <p:sp>
        <p:nvSpPr>
          <p:cNvPr id="12" name="Shape 12"/>
          <p:cNvSpPr/>
          <p:nvPr/>
        </p:nvSpPr>
        <p:spPr>
          <a:xfrm>
            <a:off x="7955279" y="3703320"/>
            <a:ext cx="1325880" cy="594360"/>
          </a:xfrm>
          <a:prstGeom prst="roundRect">
            <a:avLst/>
          </a:prstGeom>
          <a:solidFill>
            <a:srgbClr val="3F8B42"/>
          </a:solidFill>
          <a:ln w="12700">
            <a:solidFill>
              <a:srgbClr val="3F8B42"/>
            </a:solidFill>
          </a:ln>
        </p:spPr>
        <p:txBody>
          <a:bodyPr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8019288" y="38587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200" b="1">
                <a:solidFill>
                  <a:srgbClr val="FFFFFF"/>
                </a:solidFill>
                <a:latin typeface="Aptos"/>
              </a:rPr>
              <a:t>run_web_gui.py</a:t>
            </a:r>
            <a:endParaRPr lang="en-US" sz="1200"/>
          </a:p>
        </p:txBody>
      </p:sp>
      <p:sp>
        <p:nvSpPr>
          <p:cNvPr id="14" name="Shape 14"/>
          <p:cNvSpPr/>
          <p:nvPr/>
        </p:nvSpPr>
        <p:spPr>
          <a:xfrm>
            <a:off x="9646920" y="3703320"/>
            <a:ext cx="1325880" cy="594360"/>
          </a:xfrm>
          <a:prstGeom prst="roundRect">
            <a:avLst/>
          </a:prstGeom>
          <a:solidFill>
            <a:srgbClr val="ED6C02"/>
          </a:solidFill>
          <a:ln w="12700">
            <a:solidFill>
              <a:srgbClr val="ED6C02"/>
            </a:solidFill>
          </a:ln>
        </p:spPr>
        <p:txBody>
          <a:bodyPr/>
          <a:lstStyle/>
          <a:p/>
        </p:txBody>
      </p:sp>
      <p:sp>
        <p:nvSpPr>
          <p:cNvPr id="15" name="TextBox 15"/>
          <p:cNvSpPr txBox="1"/>
          <p:nvPr/>
        </p:nvSpPr>
        <p:spPr>
          <a:xfrm>
            <a:off x="9710928" y="385876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200" b="1">
                <a:solidFill>
                  <a:srgbClr val="FFFFFF"/>
                </a:solidFill>
                <a:latin typeface="Aptos"/>
              </a:rPr>
              <a:t>outputs / devices</a:t>
            </a:r>
            <a:endParaRPr 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1. The app is a browser-based GUI with a local Python backend</a:t>
            </a:r>
            <a:endParaRPr lang="en-US" sz="2800"/>
          </a:p>
        </p:txBody>
      </p:sp>
      <p:sp>
        <p:nvSpPr>
          <p:cNvPr id="3" name="TextBox 3"/>
          <p:cNvSpPr txBox="1"/>
          <p:nvPr/>
        </p:nvSpPr>
        <p:spPr>
          <a:xfrm>
            <a:off x="530352" y="868680"/>
            <a:ext cx="1042416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697790"/>
                </a:solidFill>
                <a:latin typeface="Aptos"/>
              </a:rPr>
              <a:t>The browser gives the modern interface; Python keeps access to local files, analysis generation, and hardware-oriented code.</a:t>
            </a:r>
            <a:endParaRPr lang="en-US" sz="1500"/>
          </a:p>
        </p:txBody>
      </p:sp>
      <p:sp>
        <p:nvSpPr>
          <p:cNvPr id="4" name="Shape 4"/>
          <p:cNvSpPr/>
          <p:nvPr/>
        </p:nvSpPr>
        <p:spPr>
          <a:xfrm>
            <a:off x="640080" y="1920240"/>
            <a:ext cx="2468880" cy="868680"/>
          </a:xfrm>
          <a:prstGeom prst="roundRect">
            <a:avLst/>
          </a:prstGeom>
          <a:solidFill>
            <a:srgbClr val="3F73E6"/>
          </a:solidFill>
          <a:ln w="12700">
            <a:solidFill>
              <a:srgbClr val="3F73E6"/>
            </a:solidFill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731519" y="2084832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600" b="1">
                <a:solidFill>
                  <a:srgbClr val="FFFFFF"/>
                </a:solidFill>
                <a:latin typeface="Aptos"/>
              </a:rPr>
              <a:t>Browser UI</a:t>
            </a:r>
            <a:endParaRPr lang="en-US" sz="1600"/>
          </a:p>
          <a:p>
            <a:pPr algn="c"/>
            <a:r>
              <a:rPr lang="en-US" sz="1600" b="1">
                <a:solidFill>
                  <a:srgbClr val="FFFFFF"/>
                </a:solidFill>
                <a:latin typeface="Aptos"/>
              </a:rPr>
              <a:t>index.html</a:t>
            </a:r>
            <a:endParaRPr lang="en-US" sz="1600"/>
          </a:p>
        </p:txBody>
      </p:sp>
      <p:sp>
        <p:nvSpPr>
          <p:cNvPr id="6" name="Shape 6"/>
          <p:cNvSpPr/>
          <p:nvPr/>
        </p:nvSpPr>
        <p:spPr>
          <a:xfrm>
            <a:off x="4114800" y="1920240"/>
            <a:ext cx="2468880" cy="868680"/>
          </a:xfrm>
          <a:prstGeom prst="roundRect">
            <a:avLst/>
          </a:prstGeom>
          <a:solidFill>
            <a:srgbClr val="3F8B42"/>
          </a:solidFill>
          <a:ln w="12700">
            <a:solidFill>
              <a:srgbClr val="3F8B42"/>
            </a:solidFill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4206240" y="2084832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600" b="1">
                <a:solidFill>
                  <a:srgbClr val="FFFFFF"/>
                </a:solidFill>
                <a:latin typeface="Aptos"/>
              </a:rPr>
              <a:t>Local API server</a:t>
            </a:r>
            <a:endParaRPr lang="en-US" sz="1600"/>
          </a:p>
          <a:p>
            <a:pPr algn="c"/>
            <a:r>
              <a:rPr lang="en-US" sz="1600" b="1">
                <a:solidFill>
                  <a:srgbClr val="FFFFFF"/>
                </a:solidFill>
                <a:latin typeface="Aptos"/>
              </a:rPr>
              <a:t>run_web_gui.py</a:t>
            </a:r>
            <a:endParaRPr lang="en-US" sz="1600"/>
          </a:p>
        </p:txBody>
      </p:sp>
      <p:sp>
        <p:nvSpPr>
          <p:cNvPr id="8" name="Shape 8"/>
          <p:cNvSpPr/>
          <p:nvPr/>
        </p:nvSpPr>
        <p:spPr>
          <a:xfrm>
            <a:off x="7589520" y="1280160"/>
            <a:ext cx="2468880" cy="868680"/>
          </a:xfrm>
          <a:prstGeom prst="roundRect">
            <a:avLst/>
          </a:prstGeom>
          <a:solidFill>
            <a:srgbClr val="ED6C02"/>
          </a:solidFill>
          <a:ln w="12700">
            <a:solidFill>
              <a:srgbClr val="ED6C02"/>
            </a:solidFill>
          </a:ln>
        </p:spPr>
        <p:txBody>
          <a:bodyPr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7680960" y="1444751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600" b="1">
                <a:solidFill>
                  <a:srgbClr val="FFFFFF"/>
                </a:solidFill>
                <a:latin typeface="Aptos"/>
              </a:rPr>
              <a:t>Filesystem</a:t>
            </a:r>
            <a:endParaRPr lang="en-US" sz="1600"/>
          </a:p>
          <a:p>
            <a:pPr algn="c"/>
            <a:r>
              <a:rPr lang="en-US" sz="1600" b="1">
                <a:solidFill>
                  <a:srgbClr val="FFFFFF"/>
                </a:solidFill>
                <a:latin typeface="Aptos"/>
              </a:rPr>
              <a:t>FUT / CAP / Analysis</a:t>
            </a:r>
            <a:endParaRPr lang="en-US" sz="1600"/>
          </a:p>
        </p:txBody>
      </p:sp>
      <p:sp>
        <p:nvSpPr>
          <p:cNvPr id="10" name="Shape 10"/>
          <p:cNvSpPr/>
          <p:nvPr/>
        </p:nvSpPr>
        <p:spPr>
          <a:xfrm>
            <a:off x="7589520" y="2743200"/>
            <a:ext cx="2468880" cy="868680"/>
          </a:xfrm>
          <a:prstGeom prst="roundRect">
            <a:avLst/>
          </a:prstGeom>
          <a:solidFill>
            <a:srgbClr val="E11955"/>
          </a:solidFill>
          <a:ln w="12700">
            <a:solidFill>
              <a:srgbClr val="E11955"/>
            </a:solidFill>
          </a:ln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7680960" y="2907792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600" b="1">
                <a:solidFill>
                  <a:srgbClr val="FFFFFF"/>
                </a:solidFill>
                <a:latin typeface="Aptos"/>
              </a:rPr>
              <a:t>Hardware layer</a:t>
            </a:r>
            <a:endParaRPr lang="en-US" sz="1600"/>
          </a:p>
          <a:p>
            <a:pPr algn="c"/>
            <a:r>
              <a:rPr lang="en-US" sz="1600" b="1">
                <a:solidFill>
                  <a:srgbClr val="FFFFFF"/>
                </a:solidFill>
                <a:latin typeface="Aptos"/>
              </a:rPr>
              <a:t>Zaber + FUTEK</a:t>
            </a:r>
            <a:endParaRPr lang="en-US" sz="1600"/>
          </a:p>
        </p:txBody>
      </p:sp>
      <p:cxnSp>
        <p:nvCxnSpPr>
          <p:cNvPr id="12" name="Connector 12"/>
          <p:cNvCxnSpPr/>
          <p:nvPr/>
        </p:nvCxnSpPr>
        <p:spPr>
          <a:xfrm>
            <a:off x="3200400" y="2359152"/>
            <a:ext cx="868680" cy="9144"/>
          </a:xfrm>
          <a:prstGeom prst="line">
            <a:avLst/>
          </a:prstGeom>
          <a:ln w="25400">
            <a:solidFill>
              <a:srgbClr val="3F73E6"/>
            </a:solidFill>
            <a:tailEnd type="triangle"/>
          </a:ln>
        </p:spPr>
      </p:cxnSp>
      <p:sp>
        <p:nvSpPr>
          <p:cNvPr id="13" name="TextBox 13"/>
          <p:cNvSpPr txBox="1"/>
          <p:nvPr/>
        </p:nvSpPr>
        <p:spPr>
          <a:xfrm>
            <a:off x="3063240" y="1965960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200">
                <a:solidFill>
                  <a:srgbClr val="697790"/>
                </a:solidFill>
                <a:latin typeface="Aptos"/>
              </a:rPr>
              <a:t>fetch()</a:t>
            </a:r>
            <a:endParaRPr lang="en-US" sz="1200"/>
          </a:p>
        </p:txBody>
      </p:sp>
      <p:cxnSp>
        <p:nvCxnSpPr>
          <p:cNvPr id="14" name="Connector 14"/>
          <p:cNvCxnSpPr/>
          <p:nvPr/>
        </p:nvCxnSpPr>
        <p:spPr>
          <a:xfrm flipV="1">
            <a:off x="6629400" y="1737360"/>
            <a:ext cx="868679" cy="475488"/>
          </a:xfrm>
          <a:prstGeom prst="line">
            <a:avLst/>
          </a:prstGeom>
          <a:ln w="25400">
            <a:solidFill>
              <a:srgbClr val="3F73E6"/>
            </a:solidFill>
            <a:tailEnd type="triangle"/>
          </a:ln>
        </p:spPr>
      </p:cxnSp>
      <p:cxnSp>
        <p:nvCxnSpPr>
          <p:cNvPr id="15" name="Connector 15"/>
          <p:cNvCxnSpPr/>
          <p:nvPr/>
        </p:nvCxnSpPr>
        <p:spPr>
          <a:xfrm>
            <a:off x="6629400" y="2487168"/>
            <a:ext cx="868679" cy="667512"/>
          </a:xfrm>
          <a:prstGeom prst="line">
            <a:avLst/>
          </a:prstGeom>
          <a:ln w="25400">
            <a:solidFill>
              <a:srgbClr val="3F73E6"/>
            </a:solidFill>
            <a:tailEnd type="triangle"/>
          </a:ln>
        </p:spPr>
      </p:cxnSp>
      <p:sp>
        <p:nvSpPr>
          <p:cNvPr id="16" name="TextBox 16"/>
          <p:cNvSpPr txBox="1"/>
          <p:nvPr/>
        </p:nvSpPr>
        <p:spPr>
          <a:xfrm>
            <a:off x="685800" y="4160520"/>
            <a:ext cx="10515600" cy="914400"/>
          </a:xfrm>
          <a:prstGeom prst="rect">
            <a:avLst/>
          </a:prstGeom>
          <a:solidFill>
            <a:srgbClr val="EAF2FF"/>
          </a:solidFill>
          <a:ln w="12700">
            <a:solidFill>
              <a:srgbClr val="BBD4FF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2000" b="1">
                <a:solidFill>
                  <a:srgbClr val="174A7C"/>
                </a:solidFill>
                <a:latin typeface="Aptos"/>
              </a:rPr>
              <a:t>Important mental model: the page can be opened as a file, but API calls only work when run_web_gui.py is running and serving http://127.0.0.1:8765/index.html.</a:t>
            </a:r>
            <a:endParaRPr lang="en-US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2. File map: what each major file is responsible for</a:t>
            </a:r>
            <a:endParaRPr lang="en-US" sz="2800"/>
          </a:p>
        </p:txBody>
      </p:sp>
      <p:sp>
        <p:nvSpPr>
          <p:cNvPr id="3" name="Shape 3"/>
          <p:cNvSpPr/>
          <p:nvPr/>
        </p:nvSpPr>
        <p:spPr>
          <a:xfrm>
            <a:off x="640080" y="1143000"/>
            <a:ext cx="108813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868680" y="1289304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 b="1">
                <a:solidFill>
                  <a:srgbClr val="172033"/>
                </a:solidFill>
                <a:latin typeface="Aptos"/>
              </a:rPr>
              <a:t>web_preview/index.html</a:t>
            </a:r>
            <a:endParaRPr lang="en-US" sz="1500"/>
          </a:p>
        </p:txBody>
      </p:sp>
      <p:sp>
        <p:nvSpPr>
          <p:cNvPr id="5" name="TextBox 5"/>
          <p:cNvSpPr txBox="1"/>
          <p:nvPr/>
        </p:nvSpPr>
        <p:spPr>
          <a:xfrm>
            <a:off x="3886200" y="1289304"/>
            <a:ext cx="722376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single-page GUI: markup, styling, modals, graphs, state, and browser actions</a:t>
            </a:r>
            <a:endParaRPr lang="en-US" sz="1500"/>
          </a:p>
        </p:txBody>
      </p:sp>
      <p:sp>
        <p:nvSpPr>
          <p:cNvPr id="6" name="Shape 6"/>
          <p:cNvSpPr/>
          <p:nvPr/>
        </p:nvSpPr>
        <p:spPr>
          <a:xfrm>
            <a:off x="640080" y="1929384"/>
            <a:ext cx="108813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868680" y="2075688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 b="1">
                <a:solidFill>
                  <a:srgbClr val="172033"/>
                </a:solidFill>
                <a:latin typeface="Aptos"/>
              </a:rPr>
              <a:t>web_preview/run_web_gui.py</a:t>
            </a:r>
            <a:endParaRPr lang="en-US" sz="1500"/>
          </a:p>
        </p:txBody>
      </p:sp>
      <p:sp>
        <p:nvSpPr>
          <p:cNvPr id="8" name="TextBox 8"/>
          <p:cNvSpPr txBox="1"/>
          <p:nvPr/>
        </p:nvSpPr>
        <p:spPr>
          <a:xfrm>
            <a:off x="3886200" y="2075688"/>
            <a:ext cx="722376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local HTTP server: routes, folder checks, preview data files, analysis outputs</a:t>
            </a:r>
            <a:endParaRPr lang="en-US" sz="1500"/>
          </a:p>
        </p:txBody>
      </p:sp>
      <p:sp>
        <p:nvSpPr>
          <p:cNvPr id="9" name="Shape 9"/>
          <p:cNvSpPr/>
          <p:nvPr/>
        </p:nvSpPr>
        <p:spPr>
          <a:xfrm>
            <a:off x="640080" y="2715768"/>
            <a:ext cx="108813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868680" y="2862072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 b="1">
                <a:solidFill>
                  <a:srgbClr val="172033"/>
                </a:solidFill>
                <a:latin typeface="Aptos"/>
              </a:rPr>
              <a:t>zaber_cli.py / futek_cli.py</a:t>
            </a:r>
            <a:endParaRPr lang="en-US" sz="1500"/>
          </a:p>
        </p:txBody>
      </p:sp>
      <p:sp>
        <p:nvSpPr>
          <p:cNvPr id="11" name="TextBox 11"/>
          <p:cNvSpPr txBox="1"/>
          <p:nvPr/>
        </p:nvSpPr>
        <p:spPr>
          <a:xfrm>
            <a:off x="3886200" y="2862072"/>
            <a:ext cx="722376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hardware-facing Python modules copied from the original Tkinter project</a:t>
            </a:r>
            <a:endParaRPr lang="en-US" sz="1500"/>
          </a:p>
        </p:txBody>
      </p:sp>
      <p:sp>
        <p:nvSpPr>
          <p:cNvPr id="12" name="Shape 12"/>
          <p:cNvSpPr/>
          <p:nvPr/>
        </p:nvSpPr>
        <p:spPr>
          <a:xfrm>
            <a:off x="640080" y="3502151"/>
            <a:ext cx="108813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868680" y="3648456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 b="1">
                <a:solidFill>
                  <a:srgbClr val="172033"/>
                </a:solidFill>
                <a:latin typeface="Aptos"/>
              </a:rPr>
              <a:t>Zaber_GUI_Checks_Documentation.xlsx</a:t>
            </a:r>
            <a:endParaRPr lang="en-US" sz="1500"/>
          </a:p>
        </p:txBody>
      </p:sp>
      <p:sp>
        <p:nvSpPr>
          <p:cNvPr id="14" name="TextBox 14"/>
          <p:cNvSpPr txBox="1"/>
          <p:nvPr/>
        </p:nvSpPr>
        <p:spPr>
          <a:xfrm>
            <a:off x="3886200" y="3648456"/>
            <a:ext cx="722376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requirements/check tracker and user story tracker</a:t>
            </a:r>
            <a:endParaRPr lang="en-US" sz="1500"/>
          </a:p>
        </p:txBody>
      </p:sp>
      <p:sp>
        <p:nvSpPr>
          <p:cNvPr id="15" name="Shape 15"/>
          <p:cNvSpPr/>
          <p:nvPr/>
        </p:nvSpPr>
        <p:spPr>
          <a:xfrm>
            <a:off x="640080" y="4288536"/>
            <a:ext cx="108813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868680" y="4434840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 b="1">
                <a:solidFill>
                  <a:srgbClr val="172033"/>
                </a:solidFill>
                <a:latin typeface="Aptos"/>
              </a:rPr>
              <a:t>FUT / CAP / Analysis folders</a:t>
            </a:r>
            <a:endParaRPr lang="en-US" sz="1500"/>
          </a:p>
        </p:txBody>
      </p:sp>
      <p:sp>
        <p:nvSpPr>
          <p:cNvPr id="17" name="TextBox 17"/>
          <p:cNvSpPr txBox="1"/>
          <p:nvPr/>
        </p:nvSpPr>
        <p:spPr>
          <a:xfrm>
            <a:off x="3886200" y="4434840"/>
            <a:ext cx="722376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runtime output structure created when analysis is performed</a:t>
            </a:r>
            <a:endParaRPr lang="en-US"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3. index.html: one file, three layers</a:t>
            </a:r>
            <a:endParaRPr lang="en-US" sz="2800"/>
          </a:p>
        </p:txBody>
      </p:sp>
      <p:sp>
        <p:nvSpPr>
          <p:cNvPr id="3" name="Shape 3"/>
          <p:cNvSpPr/>
          <p:nvPr/>
        </p:nvSpPr>
        <p:spPr>
          <a:xfrm>
            <a:off x="594360" y="1234440"/>
            <a:ext cx="34290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822960" y="1508760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400" b="1">
                <a:solidFill>
                  <a:srgbClr val="3F73E6"/>
                </a:solidFill>
                <a:latin typeface="Aptos"/>
              </a:rPr>
              <a:t>HTML</a:t>
            </a:r>
            <a:endParaRPr lang="en-US" sz="2400"/>
          </a:p>
        </p:txBody>
      </p:sp>
      <p:sp>
        <p:nvSpPr>
          <p:cNvPr id="5" name="TextBox 5"/>
          <p:cNvSpPr txBox="1"/>
          <p:nvPr/>
        </p:nvSpPr>
        <p:spPr>
          <a:xfrm>
            <a:off x="822960" y="1965960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697790"/>
                </a:solidFill>
                <a:latin typeface="Aptos"/>
              </a:rPr>
              <a:t>what exists on screen</a:t>
            </a:r>
            <a:endParaRPr lang="en-US" sz="1500"/>
          </a:p>
        </p:txBody>
      </p:sp>
      <p:sp>
        <p:nvSpPr>
          <p:cNvPr id="6" name="TextBox 6"/>
          <p:cNvSpPr txBox="1"/>
          <p:nvPr/>
        </p:nvSpPr>
        <p:spPr>
          <a:xfrm>
            <a:off x="822960" y="2560320"/>
            <a:ext cx="2926080" cy="2286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- main setup form</a:t>
            </a:r>
            <a:endParaRPr lang="en-US" sz="1500"/>
          </a:p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- dialog windows</a:t>
            </a:r>
            <a:endParaRPr lang="en-US" sz="1500"/>
          </a:p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- buttons</a:t>
            </a:r>
            <a:endParaRPr lang="en-US" sz="1500"/>
          </a:p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- SVG graph containers</a:t>
            </a:r>
            <a:endParaRPr lang="en-US" sz="1500"/>
          </a:p>
        </p:txBody>
      </p:sp>
      <p:sp>
        <p:nvSpPr>
          <p:cNvPr id="7" name="Shape 7"/>
          <p:cNvSpPr/>
          <p:nvPr/>
        </p:nvSpPr>
        <p:spPr>
          <a:xfrm>
            <a:off x="4343400" y="1234440"/>
            <a:ext cx="34290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4572000" y="1508760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400" b="1">
                <a:solidFill>
                  <a:srgbClr val="3F73E6"/>
                </a:solidFill>
                <a:latin typeface="Aptos"/>
              </a:rPr>
              <a:t>CSS</a:t>
            </a:r>
            <a:endParaRPr lang="en-US" sz="2400"/>
          </a:p>
        </p:txBody>
      </p:sp>
      <p:sp>
        <p:nvSpPr>
          <p:cNvPr id="9" name="TextBox 9"/>
          <p:cNvSpPr txBox="1"/>
          <p:nvPr/>
        </p:nvSpPr>
        <p:spPr>
          <a:xfrm>
            <a:off x="4572000" y="1965960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697790"/>
                </a:solidFill>
                <a:latin typeface="Aptos"/>
              </a:rPr>
              <a:t>how it looks</a:t>
            </a:r>
            <a:endParaRPr lang="en-US" sz="1500"/>
          </a:p>
        </p:txBody>
      </p:sp>
      <p:sp>
        <p:nvSpPr>
          <p:cNvPr id="10" name="TextBox 10"/>
          <p:cNvSpPr txBox="1"/>
          <p:nvPr/>
        </p:nvSpPr>
        <p:spPr>
          <a:xfrm>
            <a:off x="4572000" y="2560320"/>
            <a:ext cx="2926080" cy="2286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- colors</a:t>
            </a:r>
            <a:endParaRPr lang="en-US" sz="1500"/>
          </a:p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- typography</a:t>
            </a:r>
            <a:endParaRPr lang="en-US" sz="1500"/>
          </a:p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- cards</a:t>
            </a:r>
            <a:endParaRPr lang="en-US" sz="1500"/>
          </a:p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- state pills</a:t>
            </a:r>
            <a:endParaRPr lang="en-US" sz="1500"/>
          </a:p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- modals</a:t>
            </a:r>
            <a:endParaRPr lang="en-US" sz="1500"/>
          </a:p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- graph sizing</a:t>
            </a:r>
            <a:endParaRPr lang="en-US" sz="1500"/>
          </a:p>
        </p:txBody>
      </p:sp>
      <p:sp>
        <p:nvSpPr>
          <p:cNvPr id="11" name="Shape 11"/>
          <p:cNvSpPr/>
          <p:nvPr/>
        </p:nvSpPr>
        <p:spPr>
          <a:xfrm>
            <a:off x="8092440" y="1234440"/>
            <a:ext cx="34290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8321040" y="1508760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400" b="1">
                <a:solidFill>
                  <a:srgbClr val="3F73E6"/>
                </a:solidFill>
                <a:latin typeface="Aptos"/>
              </a:rPr>
              <a:t>JavaScript</a:t>
            </a:r>
            <a:endParaRPr lang="en-US" sz="2400"/>
          </a:p>
        </p:txBody>
      </p:sp>
      <p:sp>
        <p:nvSpPr>
          <p:cNvPr id="13" name="TextBox 13"/>
          <p:cNvSpPr txBox="1"/>
          <p:nvPr/>
        </p:nvSpPr>
        <p:spPr>
          <a:xfrm>
            <a:off x="8321040" y="1965960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697790"/>
                </a:solidFill>
                <a:latin typeface="Aptos"/>
              </a:rPr>
              <a:t>how it behaves</a:t>
            </a:r>
            <a:endParaRPr lang="en-US" sz="1500"/>
          </a:p>
        </p:txBody>
      </p:sp>
      <p:sp>
        <p:nvSpPr>
          <p:cNvPr id="14" name="TextBox 14"/>
          <p:cNvSpPr txBox="1"/>
          <p:nvPr/>
        </p:nvSpPr>
        <p:spPr>
          <a:xfrm>
            <a:off x="8321040" y="2560320"/>
            <a:ext cx="2926080" cy="2286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- validation</a:t>
            </a:r>
            <a:endParaRPr lang="en-US" sz="1500"/>
          </a:p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- state</a:t>
            </a:r>
            <a:endParaRPr lang="en-US" sz="1500"/>
          </a:p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- fake live data</a:t>
            </a:r>
            <a:endParaRPr lang="en-US" sz="1500"/>
          </a:p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- API calls</a:t>
            </a:r>
            <a:endParaRPr lang="en-US" sz="1500"/>
          </a:p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- analysis tabs</a:t>
            </a:r>
            <a:endParaRPr lang="en-US"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4. HTML structure: the page is mostly sections and dialogs</a:t>
            </a:r>
            <a:endParaRPr lang="en-US" sz="2800"/>
          </a:p>
        </p:txBody>
      </p:sp>
      <p:sp>
        <p:nvSpPr>
          <p:cNvPr id="3" name="Shape 3"/>
          <p:cNvSpPr/>
          <p:nvPr/>
        </p:nvSpPr>
        <p:spPr>
          <a:xfrm>
            <a:off x="640080" y="1051560"/>
            <a:ext cx="5394960" cy="448056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749808" y="1161288"/>
            <a:ext cx="5175504" cy="426110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D7DEEA"/>
                </a:solidFill>
                <a:latin typeface="Aptos"/>
              </a:rPr>
              <a:t>&lt;main&gt;</a:t>
            </a:r>
            <a:endParaRPr lang="en-US" sz="1500"/>
          </a:p>
          <a:p>
            <a:pPr algn="l"/>
            <a:r>
              <a:rPr lang="en-US" sz="1500">
                <a:solidFill>
                  <a:srgbClr val="D7DEEA"/>
                </a:solidFill>
                <a:latin typeface="Aptos"/>
              </a:rPr>
              <a:t>  Basic Settings</a:t>
            </a:r>
            <a:endParaRPr lang="en-US" sz="1500"/>
          </a:p>
          <a:p>
            <a:pPr algn="l"/>
            <a:r>
              <a:rPr lang="en-US" sz="1500">
                <a:solidFill>
                  <a:srgbClr val="D7DEEA"/>
                </a:solidFill>
                <a:latin typeface="Aptos"/>
              </a:rPr>
              <a:t>  Test Configuration</a:t>
            </a:r>
            <a:endParaRPr lang="en-US" sz="1500"/>
          </a:p>
          <a:p>
            <a:pPr algn="l"/>
            <a:r>
              <a:rPr lang="en-US" sz="1500">
                <a:solidFill>
                  <a:srgbClr val="D7DEEA"/>
                </a:solidFill>
                <a:latin typeface="Aptos"/>
              </a:rPr>
              <a:t>&lt;/main&gt;</a:t>
            </a:r>
            <a:endParaRPr lang="en-US" sz="1500"/>
          </a:p>
          <a:p>
            <a:pPr algn="l"/>
            <a:endParaRPr lang="en-US" sz="1500"/>
          </a:p>
          <a:p>
            <a:pPr algn="l"/>
            <a:r>
              <a:rPr lang="en-US" sz="1500">
                <a:solidFill>
                  <a:srgbClr val="D7DEEA"/>
                </a:solidFill>
                <a:latin typeface="Aptos"/>
              </a:rPr>
              <a:t>&lt;dialog id="emTestModal"&gt;</a:t>
            </a:r>
            <a:endParaRPr lang="en-US" sz="1500"/>
          </a:p>
          <a:p>
            <a:pPr algn="l"/>
            <a:r>
              <a:rPr lang="en-US" sz="1500">
                <a:solidFill>
                  <a:srgbClr val="D7DEEA"/>
                </a:solidFill>
                <a:latin typeface="Aptos"/>
              </a:rPr>
              <a:t>&lt;dialog id="emAnalysisModal"&gt;</a:t>
            </a:r>
            <a:endParaRPr lang="en-US" sz="1500"/>
          </a:p>
          <a:p>
            <a:pPr algn="l"/>
            <a:r>
              <a:rPr lang="en-US" sz="1500">
                <a:solidFill>
                  <a:srgbClr val="D7DEEA"/>
                </a:solidFill>
                <a:latin typeface="Aptos"/>
              </a:rPr>
              <a:t>&lt;dialog id="manualTestModal"&gt;</a:t>
            </a:r>
            <a:endParaRPr lang="en-US" sz="1500"/>
          </a:p>
          <a:p>
            <a:pPr algn="l"/>
            <a:r>
              <a:rPr lang="en-US" sz="1500">
                <a:solidFill>
                  <a:srgbClr val="D7DEEA"/>
                </a:solidFill>
                <a:latin typeface="Aptos"/>
              </a:rPr>
              <a:t>&lt;dialog id="cyclicalTestModal"&gt;</a:t>
            </a:r>
            <a:endParaRPr lang="en-US" sz="1500"/>
          </a:p>
          <a:p>
            <a:pPr algn="l"/>
            <a:r>
              <a:rPr lang="en-US" sz="1500">
                <a:solidFill>
                  <a:srgbClr val="D7DEEA"/>
                </a:solidFill>
                <a:latin typeface="Aptos"/>
              </a:rPr>
              <a:t>&lt;dialog id="shearTestModal"&gt;</a:t>
            </a:r>
            <a:endParaRPr lang="en-US" sz="1500"/>
          </a:p>
          <a:p>
            <a:pPr algn="l"/>
            <a:r>
              <a:rPr lang="en-US" sz="1500">
                <a:solidFill>
                  <a:srgbClr val="D7DEEA"/>
                </a:solidFill>
                <a:latin typeface="Aptos"/>
              </a:rPr>
              <a:t>&lt;dialog id="calibrationModal"&gt;</a:t>
            </a:r>
            <a:endParaRPr lang="en-US" sz="1500"/>
          </a:p>
          <a:p>
            <a:pPr algn="l"/>
            <a:r>
              <a:rPr lang="en-US" sz="1500">
                <a:solidFill>
                  <a:srgbClr val="D7DEEA"/>
                </a:solidFill>
                <a:latin typeface="Aptos"/>
              </a:rPr>
              <a:t>&lt;dialog id="existingTestModal"&gt;</a:t>
            </a:r>
            <a:endParaRPr lang="en-US" sz="1500"/>
          </a:p>
        </p:txBody>
      </p:sp>
      <p:sp>
        <p:nvSpPr>
          <p:cNvPr id="5" name="TextBox 5"/>
          <p:cNvSpPr txBox="1"/>
          <p:nvPr/>
        </p:nvSpPr>
        <p:spPr>
          <a:xfrm>
            <a:off x="6400800" y="123444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200" b="1">
                <a:solidFill>
                  <a:srgbClr val="172033"/>
                </a:solidFill>
                <a:latin typeface="Aptos"/>
              </a:rPr>
              <a:t>Why dialogs?</a:t>
            </a:r>
            <a:endParaRPr lang="en-US" sz="2200"/>
          </a:p>
        </p:txBody>
      </p:sp>
      <p:sp>
        <p:nvSpPr>
          <p:cNvPr id="6" name="TextBox 6"/>
          <p:cNvSpPr txBox="1"/>
          <p:nvPr/>
        </p:nvSpPr>
        <p:spPr>
          <a:xfrm>
            <a:off x="6400800" y="1783080"/>
            <a:ext cx="4846320" cy="2560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- Each workflow feels like its own window without leaving the page</a:t>
            </a:r>
            <a:endParaRPr lang="en-US" sz="1700"/>
          </a:p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- The main form stays behind the active test or analysis view</a:t>
            </a:r>
            <a:endParaRPr lang="en-US" sz="1700"/>
          </a:p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- Dialog IDs become JavaScript handles for opening, closing, and updating content</a:t>
            </a:r>
            <a:endParaRPr lang="en-US" sz="1700"/>
          </a:p>
        </p:txBody>
      </p:sp>
      <p:sp>
        <p:nvSpPr>
          <p:cNvPr id="7" name="TextBox 7"/>
          <p:cNvSpPr txBox="1"/>
          <p:nvPr/>
        </p:nvSpPr>
        <p:spPr>
          <a:xfrm>
            <a:off x="6400800" y="4572000"/>
            <a:ext cx="4754880" cy="594360"/>
          </a:xfrm>
          <a:prstGeom prst="rect">
            <a:avLst/>
          </a:prstGeom>
          <a:solidFill>
            <a:srgbClr val="EAF2FF"/>
          </a:solidFill>
          <a:ln w="12700">
            <a:solidFill>
              <a:srgbClr val="BBD4FF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800" b="1">
                <a:solidFill>
                  <a:srgbClr val="174A7C"/>
                </a:solidFill>
                <a:latin typeface="Aptos"/>
              </a:rPr>
              <a:t>The UI is still one browser page, but it behaves like a multi-window desktop app.</a:t>
            </a:r>
            <a:endParaRPr lang="en-US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5. CSS: a small design system for a lab instrument UI</a:t>
            </a:r>
            <a:endParaRPr lang="en-US" sz="2800"/>
          </a:p>
        </p:txBody>
      </p:sp>
      <p:sp>
        <p:nvSpPr>
          <p:cNvPr id="3" name="Shape 3"/>
          <p:cNvSpPr/>
          <p:nvPr/>
        </p:nvSpPr>
        <p:spPr>
          <a:xfrm>
            <a:off x="731520" y="1280160"/>
            <a:ext cx="22402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822960" y="1481328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400" b="1">
                <a:solidFill>
                  <a:srgbClr val="172033"/>
                </a:solidFill>
                <a:latin typeface="Aptos"/>
              </a:rPr>
              <a:t>cards + blocks</a:t>
            </a:r>
            <a:endParaRPr lang="en-US" sz="1400"/>
          </a:p>
        </p:txBody>
      </p:sp>
      <p:sp>
        <p:nvSpPr>
          <p:cNvPr id="5" name="Shape 5"/>
          <p:cNvSpPr/>
          <p:nvPr/>
        </p:nvSpPr>
        <p:spPr>
          <a:xfrm>
            <a:off x="3337560" y="1280160"/>
            <a:ext cx="2240280" cy="685800"/>
          </a:xfrm>
          <a:prstGeom prst="roundRect">
            <a:avLst/>
          </a:prstGeom>
          <a:solidFill>
            <a:srgbClr val="3F73E6"/>
          </a:solidFill>
          <a:ln w="12700">
            <a:solidFill>
              <a:srgbClr val="3F73E6"/>
            </a:solidFill>
          </a:ln>
        </p:spPr>
        <p:txBody>
          <a:bodyPr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3429000" y="1481328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400" b="1">
                <a:solidFill>
                  <a:srgbClr val="FFFFFF"/>
                </a:solidFill>
                <a:latin typeface="Aptos"/>
              </a:rPr>
              <a:t>blue primary buttons</a:t>
            </a:r>
            <a:endParaRPr lang="en-US" sz="1400"/>
          </a:p>
        </p:txBody>
      </p:sp>
      <p:sp>
        <p:nvSpPr>
          <p:cNvPr id="7" name="Shape 7"/>
          <p:cNvSpPr/>
          <p:nvPr/>
        </p:nvSpPr>
        <p:spPr>
          <a:xfrm>
            <a:off x="5943600" y="1280160"/>
            <a:ext cx="2240280" cy="685800"/>
          </a:xfrm>
          <a:prstGeom prst="roundRect">
            <a:avLst/>
          </a:prstGeom>
          <a:solidFill>
            <a:srgbClr val="3F8B42"/>
          </a:solidFill>
          <a:ln w="12700">
            <a:solidFill>
              <a:srgbClr val="3F8B42"/>
            </a:solidFill>
          </a:ln>
        </p:spPr>
        <p:txBody>
          <a:bodyPr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6035040" y="1481328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400" b="1">
                <a:solidFill>
                  <a:srgbClr val="FFFFFF"/>
                </a:solidFill>
                <a:latin typeface="Aptos"/>
              </a:rPr>
              <a:t>green start buttons</a:t>
            </a:r>
            <a:endParaRPr lang="en-US" sz="1400"/>
          </a:p>
        </p:txBody>
      </p:sp>
      <p:sp>
        <p:nvSpPr>
          <p:cNvPr id="9" name="Shape 9"/>
          <p:cNvSpPr/>
          <p:nvPr/>
        </p:nvSpPr>
        <p:spPr>
          <a:xfrm>
            <a:off x="8549640" y="1280160"/>
            <a:ext cx="2240280" cy="685800"/>
          </a:xfrm>
          <a:prstGeom prst="roundRect">
            <a:avLst/>
          </a:prstGeom>
          <a:solidFill>
            <a:srgbClr val="C9423A"/>
          </a:solidFill>
          <a:ln w="12700">
            <a:solidFill>
              <a:srgbClr val="C9423A"/>
            </a:solidFill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8641080" y="1481328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400" b="1">
                <a:solidFill>
                  <a:srgbClr val="FFFFFF"/>
                </a:solidFill>
                <a:latin typeface="Aptos"/>
              </a:rPr>
              <a:t>red stop / pause states</a:t>
            </a:r>
            <a:endParaRPr lang="en-US" sz="1400"/>
          </a:p>
        </p:txBody>
      </p:sp>
      <p:sp>
        <p:nvSpPr>
          <p:cNvPr id="11" name="TextBox 11"/>
          <p:cNvSpPr txBox="1"/>
          <p:nvPr/>
        </p:nvSpPr>
        <p:spPr>
          <a:xfrm>
            <a:off x="822960" y="2514600"/>
            <a:ext cx="5120640" cy="2286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- CSS variables define the visual language: navy text, muted notes, blue action color, green start, red stop</a:t>
            </a:r>
            <a:endParaRPr lang="en-US" sz="1700"/>
          </a:p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- Reusable classes style cards, state pills, buttons, tables, dialogs, and graph wrappers</a:t>
            </a:r>
            <a:endParaRPr lang="en-US" sz="1700"/>
          </a:p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- SVG graphs inherit the same spacing, axes, and color conventions</a:t>
            </a:r>
            <a:endParaRPr lang="en-US" sz="1700"/>
          </a:p>
        </p:txBody>
      </p:sp>
      <p:sp>
        <p:nvSpPr>
          <p:cNvPr id="12" name="Shape 12"/>
          <p:cNvSpPr/>
          <p:nvPr/>
        </p:nvSpPr>
        <p:spPr>
          <a:xfrm>
            <a:off x="6583680" y="2423160"/>
            <a:ext cx="4343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6858000" y="2697480"/>
            <a:ext cx="3749039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800" b="1">
                <a:solidFill>
                  <a:srgbClr val="172033"/>
                </a:solidFill>
                <a:latin typeface="Aptos"/>
              </a:rPr>
              <a:t>Useful explanation for your boss</a:t>
            </a:r>
            <a:endParaRPr lang="en-US" sz="1800"/>
          </a:p>
        </p:txBody>
      </p:sp>
      <p:sp>
        <p:nvSpPr>
          <p:cNvPr id="14" name="TextBox 14"/>
          <p:cNvSpPr txBox="1"/>
          <p:nvPr/>
        </p:nvSpPr>
        <p:spPr>
          <a:xfrm>
            <a:off x="6858000" y="3154680"/>
            <a:ext cx="3749039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The CSS is not just decoration. It makes test state readable at a glance: ready, running, stopped, warning, analysis-ready.</a:t>
            </a:r>
            <a:endParaRPr lang="en-US" sz="1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6. JavaScript state: the browser remembers the active workflow</a:t>
            </a:r>
            <a:endParaRPr lang="en-US" sz="2800"/>
          </a:p>
        </p:txBody>
      </p:sp>
      <p:sp>
        <p:nvSpPr>
          <p:cNvPr id="3" name="Shape 3"/>
          <p:cNvSpPr/>
          <p:nvPr/>
        </p:nvSpPr>
        <p:spPr>
          <a:xfrm>
            <a:off x="685800" y="1051560"/>
            <a:ext cx="107899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914400" y="1207007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 b="1">
                <a:solidFill>
                  <a:srgbClr val="3F73E6"/>
                </a:solidFill>
                <a:latin typeface="Aptos"/>
              </a:rPr>
              <a:t>Setup state</a:t>
            </a:r>
            <a:endParaRPr lang="en-US" sz="1500"/>
          </a:p>
        </p:txBody>
      </p:sp>
      <p:sp>
        <p:nvSpPr>
          <p:cNvPr id="5" name="TextBox 5"/>
          <p:cNvSpPr txBox="1"/>
          <p:nvPr/>
        </p:nvSpPr>
        <p:spPr>
          <a:xfrm>
            <a:off x="2880360" y="1207007"/>
            <a:ext cx="813816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settingsVerified, current sensor ID, computed test folder, existing-test action</a:t>
            </a:r>
            <a:endParaRPr lang="en-US" sz="1500"/>
          </a:p>
        </p:txBody>
      </p:sp>
      <p:sp>
        <p:nvSpPr>
          <p:cNvPr id="6" name="Shape 6"/>
          <p:cNvSpPr/>
          <p:nvPr/>
        </p:nvSpPr>
        <p:spPr>
          <a:xfrm>
            <a:off x="685800" y="1764792"/>
            <a:ext cx="107899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914400" y="1920240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 b="1">
                <a:solidFill>
                  <a:srgbClr val="3F73E6"/>
                </a:solidFill>
                <a:latin typeface="Aptos"/>
              </a:rPr>
              <a:t>EM state</a:t>
            </a:r>
            <a:endParaRPr lang="en-US" sz="1500"/>
          </a:p>
        </p:txBody>
      </p:sp>
      <p:sp>
        <p:nvSpPr>
          <p:cNvPr id="8" name="TextBox 8"/>
          <p:cNvSpPr txBox="1"/>
          <p:nvPr/>
        </p:nvSpPr>
        <p:spPr>
          <a:xfrm>
            <a:off x="2880360" y="1920240"/>
            <a:ext cx="813816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current run, completed runs, EM readings, timers, status table</a:t>
            </a:r>
            <a:endParaRPr lang="en-US" sz="1500"/>
          </a:p>
        </p:txBody>
      </p:sp>
      <p:sp>
        <p:nvSpPr>
          <p:cNvPr id="9" name="Shape 9"/>
          <p:cNvSpPr/>
          <p:nvPr/>
        </p:nvSpPr>
        <p:spPr>
          <a:xfrm>
            <a:off x="685800" y="2478024"/>
            <a:ext cx="107899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914400" y="2633472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 b="1">
                <a:solidFill>
                  <a:srgbClr val="3F73E6"/>
                </a:solidFill>
                <a:latin typeface="Aptos"/>
              </a:rPr>
              <a:t>Shear state</a:t>
            </a:r>
            <a:endParaRPr lang="en-US" sz="1500"/>
          </a:p>
        </p:txBody>
      </p:sp>
      <p:sp>
        <p:nvSpPr>
          <p:cNvPr id="11" name="TextBox 11"/>
          <p:cNvSpPr txBox="1"/>
          <p:nvPr/>
        </p:nvSpPr>
        <p:spPr>
          <a:xfrm>
            <a:off x="2880360" y="2633472"/>
            <a:ext cx="813816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latest run data, graph timer, Stop state, analysis unlock</a:t>
            </a:r>
            <a:endParaRPr lang="en-US" sz="1500"/>
          </a:p>
        </p:txBody>
      </p:sp>
      <p:sp>
        <p:nvSpPr>
          <p:cNvPr id="12" name="Shape 12"/>
          <p:cNvSpPr/>
          <p:nvPr/>
        </p:nvSpPr>
        <p:spPr>
          <a:xfrm>
            <a:off x="685800" y="3191256"/>
            <a:ext cx="107899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914400" y="3346704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 b="1">
                <a:solidFill>
                  <a:srgbClr val="3F73E6"/>
                </a:solidFill>
                <a:latin typeface="Aptos"/>
              </a:rPr>
              <a:t>Manual state</a:t>
            </a:r>
            <a:endParaRPr lang="en-US" sz="1500"/>
          </a:p>
        </p:txBody>
      </p:sp>
      <p:sp>
        <p:nvSpPr>
          <p:cNvPr id="14" name="TextBox 14"/>
          <p:cNvSpPr txBox="1"/>
          <p:nvPr/>
        </p:nvSpPr>
        <p:spPr>
          <a:xfrm>
            <a:off x="2880360" y="3346704"/>
            <a:ext cx="813816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distance/force mode, position, drag target, movement lockout, graph data</a:t>
            </a:r>
            <a:endParaRPr lang="en-US" sz="1500"/>
          </a:p>
        </p:txBody>
      </p:sp>
      <p:sp>
        <p:nvSpPr>
          <p:cNvPr id="15" name="Shape 15"/>
          <p:cNvSpPr/>
          <p:nvPr/>
        </p:nvSpPr>
        <p:spPr>
          <a:xfrm>
            <a:off x="685800" y="3904488"/>
            <a:ext cx="107899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914400" y="4059936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 b="1">
                <a:solidFill>
                  <a:srgbClr val="3F73E6"/>
                </a:solidFill>
                <a:latin typeface="Aptos"/>
              </a:rPr>
              <a:t>Cyclical state</a:t>
            </a:r>
            <a:endParaRPr lang="en-US" sz="1500"/>
          </a:p>
        </p:txBody>
      </p:sp>
      <p:sp>
        <p:nvSpPr>
          <p:cNvPr id="17" name="TextBox 17"/>
          <p:cNvSpPr txBox="1"/>
          <p:nvPr/>
        </p:nvSpPr>
        <p:spPr>
          <a:xfrm>
            <a:off x="2880360" y="4059936"/>
            <a:ext cx="813816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waveform settings, force bounds, cycle count, live curve timer</a:t>
            </a:r>
            <a:endParaRPr lang="en-US" sz="1500"/>
          </a:p>
        </p:txBody>
      </p:sp>
      <p:sp>
        <p:nvSpPr>
          <p:cNvPr id="18" name="TextBox 18"/>
          <p:cNvSpPr txBox="1"/>
          <p:nvPr/>
        </p:nvSpPr>
        <p:spPr>
          <a:xfrm>
            <a:off x="731520" y="5074920"/>
            <a:ext cx="10424160" cy="457200"/>
          </a:xfrm>
          <a:prstGeom prst="rect">
            <a:avLst/>
          </a:prstGeom>
          <a:solidFill>
            <a:srgbClr val="EAF2FF"/>
          </a:solidFill>
          <a:ln w="12700">
            <a:solidFill>
              <a:srgbClr val="BBD4FF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700" b="1">
                <a:solidFill>
                  <a:srgbClr val="174A7C"/>
                </a:solidFill>
                <a:latin typeface="Aptos"/>
              </a:rPr>
              <a:t>Most testing behavior is event-driven: click handlers update state, redraw SVG graphs, and call Python only when local files/folders are needed.</a:t>
            </a:r>
            <a:endParaRPr lang="en-US" sz="1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7. Frontend workflow: from setup to analysis</a:t>
            </a:r>
            <a:endParaRPr lang="en-US" sz="2800"/>
          </a:p>
        </p:txBody>
      </p:sp>
      <p:sp>
        <p:nvSpPr>
          <p:cNvPr id="3" name="Shape 3"/>
          <p:cNvSpPr/>
          <p:nvPr/>
        </p:nvSpPr>
        <p:spPr>
          <a:xfrm>
            <a:off x="502920" y="1828800"/>
            <a:ext cx="1417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D4FF"/>
            </a:solidFill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576072" y="2029968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200" b="1">
                <a:solidFill>
                  <a:srgbClr val="172033"/>
                </a:solidFill>
                <a:latin typeface="Aptos"/>
              </a:rPr>
              <a:t>Basic Settings</a:t>
            </a:r>
            <a:endParaRPr lang="en-US" sz="1200"/>
          </a:p>
        </p:txBody>
      </p:sp>
      <p:cxnSp>
        <p:nvCxnSpPr>
          <p:cNvPr id="5" name="Connector 5"/>
          <p:cNvCxnSpPr/>
          <p:nvPr/>
        </p:nvCxnSpPr>
        <p:spPr>
          <a:xfrm>
            <a:off x="1929384" y="2176272"/>
            <a:ext cx="402335" cy="9144"/>
          </a:xfrm>
          <a:prstGeom prst="line">
            <a:avLst/>
          </a:prstGeom>
          <a:ln w="25400">
            <a:solidFill>
              <a:srgbClr val="3F73E6"/>
            </a:solidFill>
            <a:tailEnd type="triangle"/>
          </a:ln>
        </p:spPr>
      </p:cxnSp>
      <p:sp>
        <p:nvSpPr>
          <p:cNvPr id="6" name="Shape 6"/>
          <p:cNvSpPr/>
          <p:nvPr/>
        </p:nvSpPr>
        <p:spPr>
          <a:xfrm>
            <a:off x="2194560" y="1828800"/>
            <a:ext cx="1417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D4FF"/>
            </a:solidFill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2267712" y="2029968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200" b="1">
                <a:solidFill>
                  <a:srgbClr val="172033"/>
                </a:solidFill>
                <a:latin typeface="Aptos"/>
              </a:rPr>
              <a:t>Verify</a:t>
            </a:r>
            <a:endParaRPr lang="en-US" sz="1200"/>
          </a:p>
        </p:txBody>
      </p:sp>
      <p:cxnSp>
        <p:nvCxnSpPr>
          <p:cNvPr id="8" name="Connector 8"/>
          <p:cNvCxnSpPr/>
          <p:nvPr/>
        </p:nvCxnSpPr>
        <p:spPr>
          <a:xfrm>
            <a:off x="3621024" y="2176272"/>
            <a:ext cx="402335" cy="9144"/>
          </a:xfrm>
          <a:prstGeom prst="line">
            <a:avLst/>
          </a:prstGeom>
          <a:ln w="25400">
            <a:solidFill>
              <a:srgbClr val="3F73E6"/>
            </a:solidFill>
            <a:tailEnd type="triangle"/>
          </a:ln>
        </p:spPr>
      </p:cxnSp>
      <p:sp>
        <p:nvSpPr>
          <p:cNvPr id="9" name="Shape 9"/>
          <p:cNvSpPr/>
          <p:nvPr/>
        </p:nvSpPr>
        <p:spPr>
          <a:xfrm>
            <a:off x="3886200" y="1828800"/>
            <a:ext cx="1417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D4FF"/>
            </a:solidFill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3959352" y="2029968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200" b="1">
                <a:solidFill>
                  <a:srgbClr val="172033"/>
                </a:solidFill>
                <a:latin typeface="Aptos"/>
              </a:rPr>
              <a:t>Test Configuration</a:t>
            </a:r>
            <a:endParaRPr lang="en-US" sz="1200"/>
          </a:p>
        </p:txBody>
      </p:sp>
      <p:cxnSp>
        <p:nvCxnSpPr>
          <p:cNvPr id="11" name="Connector 11"/>
          <p:cNvCxnSpPr/>
          <p:nvPr/>
        </p:nvCxnSpPr>
        <p:spPr>
          <a:xfrm>
            <a:off x="5312664" y="2176272"/>
            <a:ext cx="402335" cy="9144"/>
          </a:xfrm>
          <a:prstGeom prst="line">
            <a:avLst/>
          </a:prstGeom>
          <a:ln w="25400">
            <a:solidFill>
              <a:srgbClr val="3F73E6"/>
            </a:solidFill>
            <a:tailEnd type="triangle"/>
          </a:ln>
        </p:spPr>
      </p:cxnSp>
      <p:sp>
        <p:nvSpPr>
          <p:cNvPr id="12" name="Shape 12"/>
          <p:cNvSpPr/>
          <p:nvPr/>
        </p:nvSpPr>
        <p:spPr>
          <a:xfrm>
            <a:off x="5577840" y="1828800"/>
            <a:ext cx="1417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D4FF"/>
            </a:solidFill>
          </a:ln>
        </p:spPr>
        <p:txBody>
          <a:bodyPr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5650992" y="2029968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200" b="1">
                <a:solidFill>
                  <a:srgbClr val="172033"/>
                </a:solidFill>
                <a:latin typeface="Aptos"/>
              </a:rPr>
              <a:t>Begin Test</a:t>
            </a:r>
            <a:endParaRPr lang="en-US" sz="1200"/>
          </a:p>
        </p:txBody>
      </p:sp>
      <p:cxnSp>
        <p:nvCxnSpPr>
          <p:cNvPr id="14" name="Connector 14"/>
          <p:cNvCxnSpPr/>
          <p:nvPr/>
        </p:nvCxnSpPr>
        <p:spPr>
          <a:xfrm>
            <a:off x="7004304" y="2176272"/>
            <a:ext cx="402335" cy="9144"/>
          </a:xfrm>
          <a:prstGeom prst="line">
            <a:avLst/>
          </a:prstGeom>
          <a:ln w="25400">
            <a:solidFill>
              <a:srgbClr val="3F73E6"/>
            </a:solidFill>
            <a:tailEnd type="triangle"/>
          </a:ln>
        </p:spPr>
      </p:cxnSp>
      <p:sp>
        <p:nvSpPr>
          <p:cNvPr id="15" name="Shape 15"/>
          <p:cNvSpPr/>
          <p:nvPr/>
        </p:nvSpPr>
        <p:spPr>
          <a:xfrm>
            <a:off x="7269479" y="1828800"/>
            <a:ext cx="1417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D4FF"/>
            </a:solidFill>
          </a:ln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7342631" y="2029968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200" b="1">
                <a:solidFill>
                  <a:srgbClr val="172033"/>
                </a:solidFill>
                <a:latin typeface="Aptos"/>
              </a:rPr>
              <a:t>Testing Window</a:t>
            </a:r>
            <a:endParaRPr lang="en-US" sz="1200"/>
          </a:p>
        </p:txBody>
      </p:sp>
      <p:cxnSp>
        <p:nvCxnSpPr>
          <p:cNvPr id="17" name="Connector 17"/>
          <p:cNvCxnSpPr/>
          <p:nvPr/>
        </p:nvCxnSpPr>
        <p:spPr>
          <a:xfrm>
            <a:off x="8695944" y="2176272"/>
            <a:ext cx="402335" cy="9144"/>
          </a:xfrm>
          <a:prstGeom prst="line">
            <a:avLst/>
          </a:prstGeom>
          <a:ln w="25400">
            <a:solidFill>
              <a:srgbClr val="3F73E6"/>
            </a:solidFill>
            <a:tailEnd type="triangle"/>
          </a:ln>
        </p:spPr>
      </p:cxnSp>
      <p:sp>
        <p:nvSpPr>
          <p:cNvPr id="18" name="Shape 18"/>
          <p:cNvSpPr/>
          <p:nvPr/>
        </p:nvSpPr>
        <p:spPr>
          <a:xfrm>
            <a:off x="8961119" y="1828800"/>
            <a:ext cx="1417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D4FF"/>
            </a:solidFill>
          </a:ln>
        </p:spPr>
        <p:txBody>
          <a:bodyPr/>
          <a:lstStyle/>
          <a:p/>
        </p:txBody>
      </p:sp>
      <p:sp>
        <p:nvSpPr>
          <p:cNvPr id="19" name="TextBox 19"/>
          <p:cNvSpPr txBox="1"/>
          <p:nvPr/>
        </p:nvSpPr>
        <p:spPr>
          <a:xfrm>
            <a:off x="9034272" y="2029968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200" b="1">
                <a:solidFill>
                  <a:srgbClr val="172033"/>
                </a:solidFill>
                <a:latin typeface="Aptos"/>
              </a:rPr>
              <a:t>Perform Analysis</a:t>
            </a:r>
            <a:endParaRPr lang="en-US" sz="1200"/>
          </a:p>
        </p:txBody>
      </p:sp>
      <p:cxnSp>
        <p:nvCxnSpPr>
          <p:cNvPr id="20" name="Connector 20"/>
          <p:cNvCxnSpPr/>
          <p:nvPr/>
        </p:nvCxnSpPr>
        <p:spPr>
          <a:xfrm>
            <a:off x="10387584" y="2176272"/>
            <a:ext cx="402335" cy="9144"/>
          </a:xfrm>
          <a:prstGeom prst="line">
            <a:avLst/>
          </a:prstGeom>
          <a:ln w="25400">
            <a:solidFill>
              <a:srgbClr val="3F73E6"/>
            </a:solidFill>
            <a:tailEnd type="triangle"/>
          </a:ln>
        </p:spPr>
      </p:cxnSp>
      <p:sp>
        <p:nvSpPr>
          <p:cNvPr id="21" name="Shape 21"/>
          <p:cNvSpPr/>
          <p:nvPr/>
        </p:nvSpPr>
        <p:spPr>
          <a:xfrm>
            <a:off x="10652759" y="1828800"/>
            <a:ext cx="1417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D4FF"/>
            </a:solidFill>
          </a:ln>
        </p:spPr>
        <p:txBody>
          <a:bodyPr/>
          <a:lstStyle/>
          <a:p/>
        </p:txBody>
      </p:sp>
      <p:sp>
        <p:nvSpPr>
          <p:cNvPr id="22" name="TextBox 22"/>
          <p:cNvSpPr txBox="1"/>
          <p:nvPr/>
        </p:nvSpPr>
        <p:spPr>
          <a:xfrm>
            <a:off x="10725911" y="2029968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200" b="1">
                <a:solidFill>
                  <a:srgbClr val="172033"/>
                </a:solidFill>
                <a:latin typeface="Aptos"/>
              </a:rPr>
              <a:t>Analysis Tabs</a:t>
            </a:r>
            <a:endParaRPr lang="en-US" sz="1200"/>
          </a:p>
        </p:txBody>
      </p:sp>
      <p:sp>
        <p:nvSpPr>
          <p:cNvPr id="23" name="TextBox 23"/>
          <p:cNvSpPr txBox="1"/>
          <p:nvPr/>
        </p:nvSpPr>
        <p:spPr>
          <a:xfrm>
            <a:off x="777240" y="3154680"/>
            <a:ext cx="10332720" cy="1554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800">
                <a:solidFill>
                  <a:srgbClr val="38445A"/>
                </a:solidFill>
                <a:latin typeface="Aptos"/>
              </a:rPr>
              <a:t>- Verify checks basic setup and reveals the test configuration section</a:t>
            </a:r>
            <a:endParaRPr lang="en-US" sz="1800"/>
          </a:p>
          <a:p>
            <a:pPr algn="l"/>
            <a:r>
              <a:rPr lang="en-US" sz="1800">
                <a:solidFill>
                  <a:srgbClr val="38445A"/>
                </a:solidFill>
                <a:latin typeface="Aptos"/>
              </a:rPr>
              <a:t>- Begin Test validates the selected workflow and opens the matching modal</a:t>
            </a:r>
            <a:endParaRPr lang="en-US" sz="1800"/>
          </a:p>
          <a:p>
            <a:pPr algn="l"/>
            <a:r>
              <a:rPr lang="en-US" sz="1800">
                <a:solidFill>
                  <a:srgbClr val="38445A"/>
                </a:solidFill>
                <a:latin typeface="Aptos"/>
              </a:rPr>
              <a:t>- Perform Analysis runs a progress state, calls Python, then fills tabbed plots/tables</a:t>
            </a:r>
            <a:endParaRPr lang="en-US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8. Folder and existing-test logic protects saved data</a:t>
            </a:r>
            <a:endParaRPr lang="en-US" sz="2800"/>
          </a:p>
        </p:txBody>
      </p:sp>
      <p:sp>
        <p:nvSpPr>
          <p:cNvPr id="3" name="Shape 3"/>
          <p:cNvSpPr/>
          <p:nvPr/>
        </p:nvSpPr>
        <p:spPr>
          <a:xfrm>
            <a:off x="640080" y="1097280"/>
            <a:ext cx="5120640" cy="201168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749808" y="1207007"/>
            <a:ext cx="4901183" cy="17922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>
                <a:solidFill>
                  <a:srgbClr val="D7DEEA"/>
                </a:solidFill>
                <a:latin typeface="Aptos"/>
              </a:rPr>
              <a:t>Google Drive /</a:t>
            </a:r>
            <a:endParaRPr lang="en-US" sz="1600"/>
          </a:p>
          <a:p>
            <a:pPr algn="l"/>
            <a:r>
              <a:rPr lang="en-US" sz="1600">
                <a:solidFill>
                  <a:srgbClr val="D7DEEA"/>
                </a:solidFill>
                <a:latin typeface="Aptos"/>
              </a:rPr>
              <a:t>  SensorID /</a:t>
            </a:r>
            <a:endParaRPr lang="en-US" sz="1600"/>
          </a:p>
          <a:p>
            <a:pPr algn="l"/>
            <a:r>
              <a:rPr lang="en-US" sz="1600">
                <a:solidFill>
                  <a:srgbClr val="D7DEEA"/>
                </a:solidFill>
                <a:latin typeface="Aptos"/>
              </a:rPr>
              <a:t>    05 26 26_325mm2_EM /</a:t>
            </a:r>
            <a:endParaRPr lang="en-US" sz="1600"/>
          </a:p>
          <a:p>
            <a:pPr algn="l"/>
            <a:r>
              <a:rPr lang="en-US" sz="1600">
                <a:solidFill>
                  <a:srgbClr val="D7DEEA"/>
                </a:solidFill>
                <a:latin typeface="Aptos"/>
              </a:rPr>
              <a:t>      FUT /</a:t>
            </a:r>
            <a:endParaRPr lang="en-US" sz="1600"/>
          </a:p>
          <a:p>
            <a:pPr algn="l"/>
            <a:r>
              <a:rPr lang="en-US" sz="1600">
                <a:solidFill>
                  <a:srgbClr val="D7DEEA"/>
                </a:solidFill>
                <a:latin typeface="Aptos"/>
              </a:rPr>
              <a:t>      CAP /</a:t>
            </a:r>
            <a:endParaRPr lang="en-US" sz="1600"/>
          </a:p>
          <a:p>
            <a:pPr algn="l"/>
            <a:r>
              <a:rPr lang="en-US" sz="1600">
                <a:solidFill>
                  <a:srgbClr val="D7DEEA"/>
                </a:solidFill>
                <a:latin typeface="Aptos"/>
              </a:rPr>
              <a:t>      Analysis outputs</a:t>
            </a:r>
            <a:endParaRPr lang="en-US" sz="1600"/>
          </a:p>
          <a:p>
            <a:pPr algn="l"/>
            <a:r>
              <a:rPr lang="en-US" sz="1600">
                <a:solidFill>
                  <a:srgbClr val="D7DEEA"/>
                </a:solidFill>
                <a:latin typeface="Aptos"/>
              </a:rPr>
              <a:t>    05 26 26_325mm2_EM_2 /</a:t>
            </a:r>
            <a:endParaRPr lang="en-US" sz="1600"/>
          </a:p>
        </p:txBody>
      </p:sp>
      <p:sp>
        <p:nvSpPr>
          <p:cNvPr id="5" name="TextBox 5"/>
          <p:cNvSpPr txBox="1"/>
          <p:nvPr/>
        </p:nvSpPr>
        <p:spPr>
          <a:xfrm>
            <a:off x="6217920" y="1097280"/>
            <a:ext cx="5212080" cy="20116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- The browser computes the intended test path from Sensor ID, date, surface area, and test type</a:t>
            </a:r>
            <a:endParaRPr lang="en-US" sz="1600"/>
          </a:p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- Python checks the filesystem for an existing matching folder, including versioned folders like _2 or _3</a:t>
            </a:r>
            <a:endParaRPr lang="en-US" sz="1600"/>
          </a:p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- Existing Test Found offers version, redo, overwrite, or cancel</a:t>
            </a:r>
            <a:endParaRPr lang="en-US" sz="1600"/>
          </a:p>
        </p:txBody>
      </p:sp>
      <p:sp>
        <p:nvSpPr>
          <p:cNvPr id="6" name="Shape 6"/>
          <p:cNvSpPr/>
          <p:nvPr/>
        </p:nvSpPr>
        <p:spPr>
          <a:xfrm>
            <a:off x="685800" y="3886200"/>
            <a:ext cx="10561320" cy="685800"/>
          </a:xfrm>
          <a:prstGeom prst="roundRect">
            <a:avLst/>
          </a:prstGeom>
          <a:solidFill>
            <a:srgbClr val="FFF8E8"/>
          </a:solidFill>
          <a:ln w="12700">
            <a:solidFill>
              <a:srgbClr val="F4C86A"/>
            </a:solidFill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914400" y="4087368"/>
            <a:ext cx="1005840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 b="1">
                <a:solidFill>
                  <a:srgbClr val="7A4E00"/>
                </a:solidFill>
                <a:latin typeface="Aptos"/>
              </a:rPr>
              <a:t>Key rule: data folders are intended to be created/saved at analysis time, while the UI can still preview the path earlier.</a:t>
            </a:r>
            <a:endParaRPr lang="en-US"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9. Test workflows: four modes share a pattern but differ in controls</a:t>
            </a:r>
            <a:endParaRPr lang="en-US" sz="2800"/>
          </a:p>
        </p:txBody>
      </p:sp>
      <p:sp>
        <p:nvSpPr>
          <p:cNvPr id="3" name="Shape 3"/>
          <p:cNvSpPr/>
          <p:nvPr/>
        </p:nvSpPr>
        <p:spPr>
          <a:xfrm>
            <a:off x="502920" y="1280160"/>
            <a:ext cx="26974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704088" y="1572768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900" b="1">
                <a:solidFill>
                  <a:srgbClr val="3F73E6"/>
                </a:solidFill>
                <a:latin typeface="Aptos"/>
              </a:rPr>
              <a:t>EM Test</a:t>
            </a:r>
            <a:endParaRPr lang="en-US" sz="1900"/>
          </a:p>
        </p:txBody>
      </p:sp>
      <p:sp>
        <p:nvSpPr>
          <p:cNvPr id="5" name="TextBox 5"/>
          <p:cNvSpPr txBox="1"/>
          <p:nvPr/>
        </p:nvSpPr>
        <p:spPr>
          <a:xfrm>
            <a:off x="704088" y="2148840"/>
            <a:ext cx="2286000" cy="23774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run table + Force vs Time graph; runs pause between cycles; analysis after completion</a:t>
            </a:r>
            <a:endParaRPr lang="en-US" sz="1600"/>
          </a:p>
        </p:txBody>
      </p:sp>
      <p:sp>
        <p:nvSpPr>
          <p:cNvPr id="6" name="Shape 6"/>
          <p:cNvSpPr/>
          <p:nvPr/>
        </p:nvSpPr>
        <p:spPr>
          <a:xfrm>
            <a:off x="3383280" y="1280160"/>
            <a:ext cx="26974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3584448" y="1572768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900" b="1">
                <a:solidFill>
                  <a:srgbClr val="3F73E6"/>
                </a:solidFill>
                <a:latin typeface="Aptos"/>
              </a:rPr>
              <a:t>Shear Test</a:t>
            </a:r>
            <a:endParaRPr lang="en-US" sz="1900"/>
          </a:p>
        </p:txBody>
      </p:sp>
      <p:sp>
        <p:nvSpPr>
          <p:cNvPr id="8" name="TextBox 8"/>
          <p:cNvSpPr txBox="1"/>
          <p:nvPr/>
        </p:nvSpPr>
        <p:spPr>
          <a:xfrm>
            <a:off x="3584448" y="2148840"/>
            <a:ext cx="2286000" cy="23774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load-cell style graph; Start then Stop; analysis uses latest valid run</a:t>
            </a:r>
            <a:endParaRPr lang="en-US" sz="1600"/>
          </a:p>
        </p:txBody>
      </p:sp>
      <p:sp>
        <p:nvSpPr>
          <p:cNvPr id="9" name="Shape 9"/>
          <p:cNvSpPr/>
          <p:nvPr/>
        </p:nvSpPr>
        <p:spPr>
          <a:xfrm>
            <a:off x="6263640" y="1280160"/>
            <a:ext cx="26974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6464807" y="1572768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900" b="1">
                <a:solidFill>
                  <a:srgbClr val="3F73E6"/>
                </a:solidFill>
                <a:latin typeface="Aptos"/>
              </a:rPr>
              <a:t>Manual Test</a:t>
            </a:r>
            <a:endParaRPr lang="en-US" sz="1900"/>
          </a:p>
        </p:txBody>
      </p:sp>
      <p:sp>
        <p:nvSpPr>
          <p:cNvPr id="11" name="TextBox 11"/>
          <p:cNvSpPr txBox="1"/>
          <p:nvPr/>
        </p:nvSpPr>
        <p:spPr>
          <a:xfrm>
            <a:off x="6464807" y="2148840"/>
            <a:ext cx="2286000" cy="23774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distance or force control; drag confirm; three live relationship graphs</a:t>
            </a:r>
            <a:endParaRPr lang="en-US" sz="1600"/>
          </a:p>
        </p:txBody>
      </p:sp>
      <p:sp>
        <p:nvSpPr>
          <p:cNvPr id="12" name="Shape 12"/>
          <p:cNvSpPr/>
          <p:nvPr/>
        </p:nvSpPr>
        <p:spPr>
          <a:xfrm>
            <a:off x="9144000" y="1280160"/>
            <a:ext cx="26974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9345168" y="1572768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900" b="1">
                <a:solidFill>
                  <a:srgbClr val="3F73E6"/>
                </a:solidFill>
                <a:latin typeface="Aptos"/>
              </a:rPr>
              <a:t>Cyclical Test</a:t>
            </a:r>
            <a:endParaRPr lang="en-US" sz="1900"/>
          </a:p>
        </p:txBody>
      </p:sp>
      <p:sp>
        <p:nvSpPr>
          <p:cNvPr id="14" name="TextBox 14"/>
          <p:cNvSpPr txBox="1"/>
          <p:nvPr/>
        </p:nvSpPr>
        <p:spPr>
          <a:xfrm>
            <a:off x="9345168" y="2148840"/>
            <a:ext cx="2286000" cy="23774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sine/square fatigue cycling; force bounds and cycle estimate; Stop locks/unlocks state</a:t>
            </a:r>
            <a:endParaRPr lang="en-US"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10. Graphs are custom SVG, not a charting library</a:t>
            </a:r>
            <a:endParaRPr lang="en-US" sz="2800"/>
          </a:p>
        </p:txBody>
      </p:sp>
      <p:sp>
        <p:nvSpPr>
          <p:cNvPr id="3" name="TextBox 3"/>
          <p:cNvSpPr txBox="1"/>
          <p:nvPr/>
        </p:nvSpPr>
        <p:spPr>
          <a:xfrm>
            <a:off x="685800" y="1097280"/>
            <a:ext cx="5303520" cy="2057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- SVG elements are generated by JavaScript strings</a:t>
            </a:r>
            <a:endParaRPr lang="en-US" sz="1700"/>
          </a:p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- Helpers convert data values into x/y coordinates</a:t>
            </a:r>
            <a:endParaRPr lang="en-US" sz="1700"/>
          </a:p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- Axes, tick marks, paths, markers, and hover points are drawn manually</a:t>
            </a:r>
            <a:endParaRPr lang="en-US" sz="1700"/>
          </a:p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- This makes the preview lightweight and easy to package</a:t>
            </a:r>
            <a:endParaRPr lang="en-US" sz="1700"/>
          </a:p>
        </p:txBody>
      </p:sp>
      <p:sp>
        <p:nvSpPr>
          <p:cNvPr id="4" name="Shape 4"/>
          <p:cNvSpPr/>
          <p:nvPr/>
        </p:nvSpPr>
        <p:spPr>
          <a:xfrm>
            <a:off x="6400800" y="1005840"/>
            <a:ext cx="448056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cxnSp>
        <p:nvCxnSpPr>
          <p:cNvPr id="5" name="Connector 5"/>
          <p:cNvCxnSpPr/>
          <p:nvPr/>
        </p:nvCxnSpPr>
        <p:spPr>
          <a:xfrm>
            <a:off x="6720840" y="1417320"/>
            <a:ext cx="3840480" cy="9144"/>
          </a:xfrm>
          <a:prstGeom prst="line">
            <a:avLst/>
          </a:prstGeom>
          <a:ln w="12700">
            <a:solidFill>
              <a:srgbClr val="E4EAF2"/>
            </a:solidFill>
          </a:ln>
        </p:spPr>
      </p:cxnSp>
      <p:cxnSp>
        <p:nvCxnSpPr>
          <p:cNvPr id="6" name="Connector 6"/>
          <p:cNvCxnSpPr/>
          <p:nvPr/>
        </p:nvCxnSpPr>
        <p:spPr>
          <a:xfrm>
            <a:off x="6720840" y="1801368"/>
            <a:ext cx="3840480" cy="9144"/>
          </a:xfrm>
          <a:prstGeom prst="line">
            <a:avLst/>
          </a:prstGeom>
          <a:ln w="12700">
            <a:solidFill>
              <a:srgbClr val="E4EAF2"/>
            </a:solidFill>
          </a:ln>
        </p:spPr>
      </p:cxnSp>
      <p:cxnSp>
        <p:nvCxnSpPr>
          <p:cNvPr id="7" name="Connector 7"/>
          <p:cNvCxnSpPr/>
          <p:nvPr/>
        </p:nvCxnSpPr>
        <p:spPr>
          <a:xfrm>
            <a:off x="6720840" y="2185416"/>
            <a:ext cx="3840480" cy="9144"/>
          </a:xfrm>
          <a:prstGeom prst="line">
            <a:avLst/>
          </a:prstGeom>
          <a:ln w="12700">
            <a:solidFill>
              <a:srgbClr val="E4EAF2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6720840" y="2569464"/>
            <a:ext cx="3840480" cy="9144"/>
          </a:xfrm>
          <a:prstGeom prst="line">
            <a:avLst/>
          </a:prstGeom>
          <a:ln w="12700">
            <a:solidFill>
              <a:srgbClr val="E4EAF2"/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6720840" y="2953512"/>
            <a:ext cx="3840480" cy="9144"/>
          </a:xfrm>
          <a:prstGeom prst="line">
            <a:avLst/>
          </a:prstGeom>
          <a:ln w="12700">
            <a:solidFill>
              <a:srgbClr val="E4EAF2"/>
            </a:solidFill>
          </a:ln>
        </p:spPr>
      </p:cxnSp>
      <p:cxnSp>
        <p:nvCxnSpPr>
          <p:cNvPr id="10" name="Connector 10"/>
          <p:cNvCxnSpPr/>
          <p:nvPr/>
        </p:nvCxnSpPr>
        <p:spPr>
          <a:xfrm>
            <a:off x="6720840" y="3337560"/>
            <a:ext cx="3840480" cy="9144"/>
          </a:xfrm>
          <a:prstGeom prst="line">
            <a:avLst/>
          </a:prstGeom>
          <a:ln w="12700">
            <a:solidFill>
              <a:srgbClr val="E4EAF2"/>
            </a:solidFill>
          </a:ln>
        </p:spPr>
      </p:cxnSp>
      <p:cxnSp>
        <p:nvCxnSpPr>
          <p:cNvPr id="11" name="Connector 11"/>
          <p:cNvCxnSpPr/>
          <p:nvPr/>
        </p:nvCxnSpPr>
        <p:spPr>
          <a:xfrm>
            <a:off x="6720840" y="1417320"/>
            <a:ext cx="9144" cy="1920239"/>
          </a:xfrm>
          <a:prstGeom prst="line">
            <a:avLst/>
          </a:prstGeom>
          <a:ln w="12700">
            <a:solidFill>
              <a:srgbClr val="E4EAF2"/>
            </a:solidFill>
          </a:ln>
        </p:spPr>
      </p:cxnSp>
      <p:cxnSp>
        <p:nvCxnSpPr>
          <p:cNvPr id="12" name="Connector 12"/>
          <p:cNvCxnSpPr/>
          <p:nvPr/>
        </p:nvCxnSpPr>
        <p:spPr>
          <a:xfrm>
            <a:off x="7452360" y="1417320"/>
            <a:ext cx="9144" cy="1920239"/>
          </a:xfrm>
          <a:prstGeom prst="line">
            <a:avLst/>
          </a:prstGeom>
          <a:ln w="12700">
            <a:solidFill>
              <a:srgbClr val="E4EAF2"/>
            </a:solidFill>
          </a:ln>
        </p:spPr>
      </p:cxnSp>
      <p:cxnSp>
        <p:nvCxnSpPr>
          <p:cNvPr id="13" name="Connector 13"/>
          <p:cNvCxnSpPr/>
          <p:nvPr/>
        </p:nvCxnSpPr>
        <p:spPr>
          <a:xfrm>
            <a:off x="8183879" y="1417320"/>
            <a:ext cx="9144" cy="1920239"/>
          </a:xfrm>
          <a:prstGeom prst="line">
            <a:avLst/>
          </a:prstGeom>
          <a:ln w="12700">
            <a:solidFill>
              <a:srgbClr val="E4EAF2"/>
            </a:solidFill>
          </a:ln>
        </p:spPr>
      </p:cxnSp>
      <p:cxnSp>
        <p:nvCxnSpPr>
          <p:cNvPr id="14" name="Connector 14"/>
          <p:cNvCxnSpPr/>
          <p:nvPr/>
        </p:nvCxnSpPr>
        <p:spPr>
          <a:xfrm>
            <a:off x="8915400" y="1417320"/>
            <a:ext cx="9144" cy="1920239"/>
          </a:xfrm>
          <a:prstGeom prst="line">
            <a:avLst/>
          </a:prstGeom>
          <a:ln w="12700">
            <a:solidFill>
              <a:srgbClr val="E4EAF2"/>
            </a:solidFill>
          </a:ln>
        </p:spPr>
      </p:cxnSp>
      <p:cxnSp>
        <p:nvCxnSpPr>
          <p:cNvPr id="15" name="Connector 15"/>
          <p:cNvCxnSpPr/>
          <p:nvPr/>
        </p:nvCxnSpPr>
        <p:spPr>
          <a:xfrm>
            <a:off x="9646920" y="1417320"/>
            <a:ext cx="9144" cy="1920239"/>
          </a:xfrm>
          <a:prstGeom prst="line">
            <a:avLst/>
          </a:prstGeom>
          <a:ln w="12700">
            <a:solidFill>
              <a:srgbClr val="E4EAF2"/>
            </a:solidFill>
          </a:ln>
        </p:spPr>
      </p:cxnSp>
      <p:cxnSp>
        <p:nvCxnSpPr>
          <p:cNvPr id="16" name="Connector 16"/>
          <p:cNvCxnSpPr/>
          <p:nvPr/>
        </p:nvCxnSpPr>
        <p:spPr>
          <a:xfrm>
            <a:off x="10378440" y="1417320"/>
            <a:ext cx="9144" cy="1920239"/>
          </a:xfrm>
          <a:prstGeom prst="line">
            <a:avLst/>
          </a:prstGeom>
          <a:ln w="12700">
            <a:solidFill>
              <a:srgbClr val="E4EAF2"/>
            </a:solidFill>
          </a:ln>
        </p:spPr>
      </p:cxnSp>
      <p:cxnSp>
        <p:nvCxnSpPr>
          <p:cNvPr id="17" name="Connector 17"/>
          <p:cNvCxnSpPr/>
          <p:nvPr/>
        </p:nvCxnSpPr>
        <p:spPr>
          <a:xfrm>
            <a:off x="6720840" y="3337560"/>
            <a:ext cx="3840480" cy="9144"/>
          </a:xfrm>
          <a:prstGeom prst="line">
            <a:avLst/>
          </a:prstGeom>
          <a:ln w="25400">
            <a:solidFill>
              <a:srgbClr val="172033"/>
            </a:solidFill>
          </a:ln>
        </p:spPr>
      </p:cxnSp>
      <p:cxnSp>
        <p:nvCxnSpPr>
          <p:cNvPr id="18" name="Connector 18"/>
          <p:cNvCxnSpPr/>
          <p:nvPr/>
        </p:nvCxnSpPr>
        <p:spPr>
          <a:xfrm>
            <a:off x="6720840" y="1417320"/>
            <a:ext cx="9144" cy="1920239"/>
          </a:xfrm>
          <a:prstGeom prst="line">
            <a:avLst/>
          </a:prstGeom>
          <a:ln w="25400">
            <a:solidFill>
              <a:srgbClr val="172033"/>
            </a:solidFill>
          </a:ln>
        </p:spPr>
      </p:cxnSp>
      <p:cxnSp>
        <p:nvCxnSpPr>
          <p:cNvPr id="19" name="Connector 19"/>
          <p:cNvCxnSpPr/>
          <p:nvPr/>
        </p:nvCxnSpPr>
        <p:spPr>
          <a:xfrm flipV="1">
            <a:off x="6812280" y="2743200"/>
            <a:ext cx="640080" cy="274319"/>
          </a:xfrm>
          <a:prstGeom prst="line">
            <a:avLst/>
          </a:prstGeom>
          <a:ln w="38100">
            <a:solidFill>
              <a:srgbClr val="3F73E6"/>
            </a:solidFill>
          </a:ln>
        </p:spPr>
      </p:cxnSp>
      <p:cxnSp>
        <p:nvCxnSpPr>
          <p:cNvPr id="20" name="Connector 20"/>
          <p:cNvCxnSpPr/>
          <p:nvPr/>
        </p:nvCxnSpPr>
        <p:spPr>
          <a:xfrm flipV="1">
            <a:off x="7452360" y="2377440"/>
            <a:ext cx="594360" cy="365759"/>
          </a:xfrm>
          <a:prstGeom prst="line">
            <a:avLst/>
          </a:prstGeom>
          <a:ln w="38100">
            <a:solidFill>
              <a:srgbClr val="3F73E6"/>
            </a:solidFill>
          </a:ln>
        </p:spPr>
      </p:cxnSp>
      <p:cxnSp>
        <p:nvCxnSpPr>
          <p:cNvPr id="21" name="Connector 21"/>
          <p:cNvCxnSpPr/>
          <p:nvPr/>
        </p:nvCxnSpPr>
        <p:spPr>
          <a:xfrm flipV="1">
            <a:off x="8046720" y="1828800"/>
            <a:ext cx="731519" cy="548640"/>
          </a:xfrm>
          <a:prstGeom prst="line">
            <a:avLst/>
          </a:prstGeom>
          <a:ln w="38100">
            <a:solidFill>
              <a:srgbClr val="3F73E6"/>
            </a:solidFill>
          </a:ln>
        </p:spPr>
      </p:cxnSp>
      <p:cxnSp>
        <p:nvCxnSpPr>
          <p:cNvPr id="22" name="Connector 22"/>
          <p:cNvCxnSpPr/>
          <p:nvPr/>
        </p:nvCxnSpPr>
        <p:spPr>
          <a:xfrm flipV="1">
            <a:off x="8778240" y="1600200"/>
            <a:ext cx="1097280" cy="228600"/>
          </a:xfrm>
          <a:prstGeom prst="line">
            <a:avLst/>
          </a:prstGeom>
          <a:ln w="38100">
            <a:solidFill>
              <a:srgbClr val="3F73E6"/>
            </a:solidFill>
          </a:ln>
        </p:spPr>
      </p:cxnSp>
      <p:sp>
        <p:nvSpPr>
          <p:cNvPr id="23" name="TextBox 23"/>
          <p:cNvSpPr txBox="1"/>
          <p:nvPr/>
        </p:nvSpPr>
        <p:spPr>
          <a:xfrm>
            <a:off x="6720840" y="365760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300">
                <a:solidFill>
                  <a:srgbClr val="697790"/>
                </a:solidFill>
                <a:latin typeface="Aptos"/>
              </a:rPr>
              <a:t>same idea as drawEmForceGraph / drawShearGraph</a:t>
            </a:r>
            <a:endParaRPr lang="en-US" sz="13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11. Analysis windows turn saved or simulated data into reviewable outputs</a:t>
            </a:r>
            <a:endParaRPr lang="en-US" sz="2800"/>
          </a:p>
        </p:txBody>
      </p:sp>
      <p:sp>
        <p:nvSpPr>
          <p:cNvPr id="3" name="Shape 3"/>
          <p:cNvSpPr/>
          <p:nvPr/>
        </p:nvSpPr>
        <p:spPr>
          <a:xfrm>
            <a:off x="640080" y="1234440"/>
            <a:ext cx="32004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868680" y="15544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000" b="1">
                <a:solidFill>
                  <a:srgbClr val="3F73E6"/>
                </a:solidFill>
                <a:latin typeface="Aptos"/>
              </a:rPr>
              <a:t>EM Analysis</a:t>
            </a:r>
            <a:endParaRPr lang="en-US" sz="2000"/>
          </a:p>
        </p:txBody>
      </p:sp>
      <p:sp>
        <p:nvSpPr>
          <p:cNvPr id="5" name="TextBox 5"/>
          <p:cNvSpPr txBox="1"/>
          <p:nvPr/>
        </p:nvSpPr>
        <p:spPr>
          <a:xfrm>
            <a:off x="868680" y="2057400"/>
            <a:ext cx="2743200" cy="23774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- Raw Signals</a:t>
            </a:r>
            <a:endParaRPr lang="en-US" sz="1600"/>
          </a:p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- Pressure Sensitivity Curves</a:t>
            </a:r>
            <a:endParaRPr lang="en-US" sz="1600"/>
          </a:p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- All CH/Runs</a:t>
            </a:r>
            <a:endParaRPr lang="en-US" sz="1600"/>
          </a:p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- Summary Stats</a:t>
            </a:r>
            <a:endParaRPr lang="en-US" sz="1600"/>
          </a:p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- Report Output</a:t>
            </a:r>
            <a:endParaRPr lang="en-US" sz="1600"/>
          </a:p>
        </p:txBody>
      </p:sp>
      <p:sp>
        <p:nvSpPr>
          <p:cNvPr id="6" name="Shape 6"/>
          <p:cNvSpPr/>
          <p:nvPr/>
        </p:nvSpPr>
        <p:spPr>
          <a:xfrm>
            <a:off x="4343400" y="1234440"/>
            <a:ext cx="32004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4572000" y="15544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000" b="1">
                <a:solidFill>
                  <a:srgbClr val="3F73E6"/>
                </a:solidFill>
                <a:latin typeface="Aptos"/>
              </a:rPr>
              <a:t>Shear Analysis</a:t>
            </a:r>
            <a:endParaRPr lang="en-US" sz="2000"/>
          </a:p>
        </p:txBody>
      </p:sp>
      <p:sp>
        <p:nvSpPr>
          <p:cNvPr id="8" name="TextBox 8"/>
          <p:cNvSpPr txBox="1"/>
          <p:nvPr/>
        </p:nvSpPr>
        <p:spPr>
          <a:xfrm>
            <a:off x="4572000" y="2057400"/>
            <a:ext cx="2743200" cy="23774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- Plot</a:t>
            </a:r>
            <a:endParaRPr lang="en-US" sz="1600"/>
          </a:p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- Failure Checks</a:t>
            </a:r>
            <a:endParaRPr lang="en-US" sz="1600"/>
          </a:p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- Report Output</a:t>
            </a:r>
            <a:endParaRPr lang="en-US" sz="1600"/>
          </a:p>
        </p:txBody>
      </p:sp>
      <p:sp>
        <p:nvSpPr>
          <p:cNvPr id="9" name="Shape 9"/>
          <p:cNvSpPr/>
          <p:nvPr/>
        </p:nvSpPr>
        <p:spPr>
          <a:xfrm>
            <a:off x="7543800" y="1234440"/>
            <a:ext cx="32004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7772400" y="15544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000" b="1">
                <a:solidFill>
                  <a:srgbClr val="3F73E6"/>
                </a:solidFill>
                <a:latin typeface="Aptos"/>
              </a:rPr>
              <a:t>Manual Analysis</a:t>
            </a:r>
            <a:endParaRPr lang="en-US" sz="2000"/>
          </a:p>
        </p:txBody>
      </p:sp>
      <p:sp>
        <p:nvSpPr>
          <p:cNvPr id="11" name="TextBox 11"/>
          <p:cNvSpPr txBox="1"/>
          <p:nvPr/>
        </p:nvSpPr>
        <p:spPr>
          <a:xfrm>
            <a:off x="7772400" y="2057400"/>
            <a:ext cx="2743200" cy="23774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- Capacitance vs Force</a:t>
            </a:r>
            <a:endParaRPr lang="en-US" sz="1600"/>
          </a:p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- Force vs Time</a:t>
            </a:r>
            <a:endParaRPr lang="en-US" sz="1600"/>
          </a:p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- Capacitance vs Time</a:t>
            </a:r>
            <a:endParaRPr lang="en-US" sz="1600"/>
          </a:p>
        </p:txBody>
      </p:sp>
      <p:sp>
        <p:nvSpPr>
          <p:cNvPr id="12" name="TextBox 12"/>
          <p:cNvSpPr txBox="1"/>
          <p:nvPr/>
        </p:nvSpPr>
        <p:spPr>
          <a:xfrm>
            <a:off x="822960" y="5532120"/>
            <a:ext cx="101498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 b="1">
                <a:solidFill>
                  <a:srgbClr val="174A7C"/>
                </a:solidFill>
                <a:latin typeface="Aptos"/>
              </a:rPr>
              <a:t>The Report Output tabs are built for copy/paste into tracking spreadsheets: headers are visible; copy buttons can copy just the values row.</a:t>
            </a:r>
            <a:endParaRPr lang="en-US" sz="1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12. run_web_gui.py: the local bridge between browser and Mac</a:t>
            </a:r>
            <a:endParaRPr lang="en-US" sz="2800"/>
          </a:p>
        </p:txBody>
      </p:sp>
      <p:sp>
        <p:nvSpPr>
          <p:cNvPr id="3" name="TextBox 3"/>
          <p:cNvSpPr txBox="1"/>
          <p:nvPr/>
        </p:nvSpPr>
        <p:spPr>
          <a:xfrm>
            <a:off x="685800" y="105156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>
                <a:solidFill>
                  <a:srgbClr val="697790"/>
                </a:solidFill>
                <a:latin typeface="Aptos"/>
              </a:rPr>
              <a:t>The backend uses Python’s built-in HTTP server, so the UI can stay simple and local.</a:t>
            </a:r>
            <a:endParaRPr lang="en-US" sz="1600"/>
          </a:p>
        </p:txBody>
      </p:sp>
      <p:sp>
        <p:nvSpPr>
          <p:cNvPr id="4" name="Shape 4"/>
          <p:cNvSpPr/>
          <p:nvPr/>
        </p:nvSpPr>
        <p:spPr>
          <a:xfrm>
            <a:off x="685800" y="1691640"/>
            <a:ext cx="107899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914400" y="1847088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 b="1">
                <a:solidFill>
                  <a:srgbClr val="3F8B42"/>
                </a:solidFill>
                <a:latin typeface="Aptos"/>
              </a:rPr>
              <a:t>HardwareState</a:t>
            </a:r>
            <a:endParaRPr lang="en-US" sz="1600"/>
          </a:p>
        </p:txBody>
      </p:sp>
      <p:sp>
        <p:nvSpPr>
          <p:cNvPr id="6" name="TextBox 6"/>
          <p:cNvSpPr txBox="1"/>
          <p:nvPr/>
        </p:nvSpPr>
        <p:spPr>
          <a:xfrm>
            <a:off x="3063240" y="1847088"/>
            <a:ext cx="7955279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stores Zaber/FUTEK connection state and preview mode flags</a:t>
            </a:r>
            <a:endParaRPr lang="en-US" sz="1600"/>
          </a:p>
        </p:txBody>
      </p:sp>
      <p:sp>
        <p:nvSpPr>
          <p:cNvPr id="7" name="Shape 7"/>
          <p:cNvSpPr/>
          <p:nvPr/>
        </p:nvSpPr>
        <p:spPr>
          <a:xfrm>
            <a:off x="685800" y="2478024"/>
            <a:ext cx="107899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914400" y="2633472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 b="1">
                <a:solidFill>
                  <a:srgbClr val="3F8B42"/>
                </a:solidFill>
                <a:latin typeface="Aptos"/>
              </a:rPr>
              <a:t>SavedTestAnalyzer</a:t>
            </a:r>
            <a:endParaRPr lang="en-US" sz="1600"/>
          </a:p>
        </p:txBody>
      </p:sp>
      <p:sp>
        <p:nvSpPr>
          <p:cNvPr id="9" name="TextBox 9"/>
          <p:cNvSpPr txBox="1"/>
          <p:nvPr/>
        </p:nvSpPr>
        <p:spPr>
          <a:xfrm>
            <a:off x="3063240" y="2633472"/>
            <a:ext cx="7955279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generates SVG plots, TSV tables, JSON summaries, and report outputs</a:t>
            </a:r>
            <a:endParaRPr lang="en-US" sz="1600"/>
          </a:p>
        </p:txBody>
      </p:sp>
      <p:sp>
        <p:nvSpPr>
          <p:cNvPr id="10" name="Shape 10"/>
          <p:cNvSpPr/>
          <p:nvPr/>
        </p:nvSpPr>
        <p:spPr>
          <a:xfrm>
            <a:off x="685800" y="3264408"/>
            <a:ext cx="107899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914400" y="3419856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 b="1">
                <a:solidFill>
                  <a:srgbClr val="3F8B42"/>
                </a:solidFill>
                <a:latin typeface="Aptos"/>
              </a:rPr>
              <a:t>Handler</a:t>
            </a:r>
            <a:endParaRPr lang="en-US" sz="1600"/>
          </a:p>
        </p:txBody>
      </p:sp>
      <p:sp>
        <p:nvSpPr>
          <p:cNvPr id="12" name="TextBox 12"/>
          <p:cNvSpPr txBox="1"/>
          <p:nvPr/>
        </p:nvSpPr>
        <p:spPr>
          <a:xfrm>
            <a:off x="3063240" y="3419856"/>
            <a:ext cx="7955279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receives browser API calls and dispatches routes</a:t>
            </a:r>
            <a:endParaRPr lang="en-US" sz="1600"/>
          </a:p>
        </p:txBody>
      </p:sp>
      <p:sp>
        <p:nvSpPr>
          <p:cNvPr id="13" name="Shape 13"/>
          <p:cNvSpPr/>
          <p:nvPr/>
        </p:nvSpPr>
        <p:spPr>
          <a:xfrm>
            <a:off x="685800" y="4050791"/>
            <a:ext cx="107899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914400" y="4206240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 b="1">
                <a:solidFill>
                  <a:srgbClr val="3F8B42"/>
                </a:solidFill>
                <a:latin typeface="Aptos"/>
              </a:rPr>
              <a:t>main()</a:t>
            </a:r>
            <a:endParaRPr lang="en-US" sz="1600"/>
          </a:p>
        </p:txBody>
      </p:sp>
      <p:sp>
        <p:nvSpPr>
          <p:cNvPr id="15" name="TextBox 15"/>
          <p:cNvSpPr txBox="1"/>
          <p:nvPr/>
        </p:nvSpPr>
        <p:spPr>
          <a:xfrm>
            <a:off x="3063240" y="4206240"/>
            <a:ext cx="7955279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>
                <a:solidFill>
                  <a:srgbClr val="38445A"/>
                </a:solidFill>
                <a:latin typeface="Aptos"/>
              </a:rPr>
              <a:t>starts the server on port 8765 or a free backup port</a:t>
            </a:r>
            <a:endParaRPr lang="en-US"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13. Backend API routes: small commands sent from JavaScript</a:t>
            </a:r>
            <a:endParaRPr lang="en-US" sz="2800"/>
          </a:p>
        </p:txBody>
      </p:sp>
      <p:sp>
        <p:nvSpPr>
          <p:cNvPr id="3" name="Shape 3"/>
          <p:cNvSpPr/>
          <p:nvPr/>
        </p:nvSpPr>
        <p:spPr>
          <a:xfrm>
            <a:off x="777240" y="1143000"/>
            <a:ext cx="104241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1005840" y="1298448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 b="1">
                <a:solidFill>
                  <a:srgbClr val="3F73E6"/>
                </a:solidFill>
                <a:latin typeface="Aptos"/>
              </a:rPr>
              <a:t>/api/check-existing</a:t>
            </a:r>
            <a:endParaRPr lang="en-US" sz="1500"/>
          </a:p>
        </p:txBody>
      </p:sp>
      <p:sp>
        <p:nvSpPr>
          <p:cNvPr id="5" name="TextBox 5"/>
          <p:cNvSpPr txBox="1"/>
          <p:nvPr/>
        </p:nvSpPr>
        <p:spPr>
          <a:xfrm>
            <a:off x="3520440" y="1298448"/>
            <a:ext cx="722376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find latest matching test folder and return choices</a:t>
            </a:r>
            <a:endParaRPr lang="en-US" sz="1500"/>
          </a:p>
        </p:txBody>
      </p:sp>
      <p:sp>
        <p:nvSpPr>
          <p:cNvPr id="6" name="Shape 6"/>
          <p:cNvSpPr/>
          <p:nvPr/>
        </p:nvSpPr>
        <p:spPr>
          <a:xfrm>
            <a:off x="777240" y="1892807"/>
            <a:ext cx="104241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1005840" y="2048255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 b="1">
                <a:solidFill>
                  <a:srgbClr val="3F73E6"/>
                </a:solidFill>
                <a:latin typeface="Aptos"/>
              </a:rPr>
              <a:t>/api/perform-analysis</a:t>
            </a:r>
            <a:endParaRPr lang="en-US" sz="1500"/>
          </a:p>
        </p:txBody>
      </p:sp>
      <p:sp>
        <p:nvSpPr>
          <p:cNvPr id="8" name="TextBox 8"/>
          <p:cNvSpPr txBox="1"/>
          <p:nvPr/>
        </p:nvSpPr>
        <p:spPr>
          <a:xfrm>
            <a:off x="3520440" y="2048255"/>
            <a:ext cx="722376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prepare FUT/CAP inputs, generate analysis files, return summaries</a:t>
            </a:r>
            <a:endParaRPr lang="en-US" sz="1500"/>
          </a:p>
        </p:txBody>
      </p:sp>
      <p:sp>
        <p:nvSpPr>
          <p:cNvPr id="9" name="Shape 9"/>
          <p:cNvSpPr/>
          <p:nvPr/>
        </p:nvSpPr>
        <p:spPr>
          <a:xfrm>
            <a:off x="777240" y="2642615"/>
            <a:ext cx="104241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1005840" y="2798063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 b="1">
                <a:solidFill>
                  <a:srgbClr val="3F73E6"/>
                </a:solidFill>
                <a:latin typeface="Aptos"/>
              </a:rPr>
              <a:t>/api/browse-folder</a:t>
            </a:r>
            <a:endParaRPr lang="en-US" sz="1500"/>
          </a:p>
        </p:txBody>
      </p:sp>
      <p:sp>
        <p:nvSpPr>
          <p:cNvPr id="11" name="TextBox 11"/>
          <p:cNvSpPr txBox="1"/>
          <p:nvPr/>
        </p:nvSpPr>
        <p:spPr>
          <a:xfrm>
            <a:off x="3520440" y="2798063"/>
            <a:ext cx="722376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open native folder chooser when possible</a:t>
            </a:r>
            <a:endParaRPr lang="en-US" sz="1500"/>
          </a:p>
        </p:txBody>
      </p:sp>
      <p:sp>
        <p:nvSpPr>
          <p:cNvPr id="12" name="Shape 12"/>
          <p:cNvSpPr/>
          <p:nvPr/>
        </p:nvSpPr>
        <p:spPr>
          <a:xfrm>
            <a:off x="777240" y="3392423"/>
            <a:ext cx="104241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1005840" y="3547871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 b="1">
                <a:solidFill>
                  <a:srgbClr val="3F73E6"/>
                </a:solidFill>
                <a:latin typeface="Aptos"/>
              </a:rPr>
              <a:t>/api/connect / move / home</a:t>
            </a:r>
            <a:endParaRPr lang="en-US" sz="1500"/>
          </a:p>
        </p:txBody>
      </p:sp>
      <p:sp>
        <p:nvSpPr>
          <p:cNvPr id="14" name="TextBox 14"/>
          <p:cNvSpPr txBox="1"/>
          <p:nvPr/>
        </p:nvSpPr>
        <p:spPr>
          <a:xfrm>
            <a:off x="3520440" y="3547871"/>
            <a:ext cx="722376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38445A"/>
                </a:solidFill>
                <a:latin typeface="Aptos"/>
              </a:rPr>
              <a:t>future or preview hardware control entry points</a:t>
            </a:r>
            <a:endParaRPr lang="en-US" sz="1500"/>
          </a:p>
        </p:txBody>
      </p:sp>
      <p:sp>
        <p:nvSpPr>
          <p:cNvPr id="15" name="Shape 15"/>
          <p:cNvSpPr/>
          <p:nvPr/>
        </p:nvSpPr>
        <p:spPr>
          <a:xfrm>
            <a:off x="777240" y="4572000"/>
            <a:ext cx="10424160" cy="73152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BD4FF"/>
            </a:solidFill>
          </a:ln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1005840" y="4782312"/>
            <a:ext cx="97840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 b="1">
                <a:solidFill>
                  <a:srgbClr val="174A7C"/>
                </a:solidFill>
                <a:latin typeface="Aptos"/>
              </a:rPr>
              <a:t>CORS support is included so the browser can call the backend even when the file is opened from file:// during preview work.</a:t>
            </a:r>
            <a:endParaRPr lang="en-US" sz="15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14. Analysis saving: what Python writes to disk</a:t>
            </a:r>
            <a:endParaRPr lang="en-US" sz="2800"/>
          </a:p>
        </p:txBody>
      </p:sp>
      <p:sp>
        <p:nvSpPr>
          <p:cNvPr id="3" name="Shape 3"/>
          <p:cNvSpPr/>
          <p:nvPr/>
        </p:nvSpPr>
        <p:spPr>
          <a:xfrm>
            <a:off x="640080" y="1051560"/>
            <a:ext cx="5029200" cy="338328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749808" y="1161288"/>
            <a:ext cx="4809744" cy="31638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>
                <a:solidFill>
                  <a:srgbClr val="D7DEEA"/>
                </a:solidFill>
                <a:latin typeface="Aptos"/>
              </a:rPr>
              <a:t>SensorID / test folder /</a:t>
            </a:r>
            <a:endParaRPr lang="en-US" sz="1500"/>
          </a:p>
          <a:p>
            <a:pPr algn="l"/>
            <a:r>
              <a:rPr lang="en-US" sz="1500">
                <a:solidFill>
                  <a:srgbClr val="D7DEEA"/>
                </a:solidFill>
                <a:latin typeface="Aptos"/>
              </a:rPr>
              <a:t>  FUT / Run 1.csv</a:t>
            </a:r>
            <a:endParaRPr lang="en-US" sz="1500"/>
          </a:p>
          <a:p>
            <a:pPr algn="l"/>
            <a:r>
              <a:rPr lang="en-US" sz="1500">
                <a:solidFill>
                  <a:srgbClr val="D7DEEA"/>
                </a:solidFill>
                <a:latin typeface="Aptos"/>
              </a:rPr>
              <a:t>  CAP / Run 1.csv</a:t>
            </a:r>
            <a:endParaRPr lang="en-US" sz="1500"/>
          </a:p>
          <a:p>
            <a:pPr algn="l"/>
            <a:r>
              <a:rPr lang="en-US" sz="1500">
                <a:solidFill>
                  <a:srgbClr val="D7DEEA"/>
                </a:solidFill>
                <a:latin typeface="Aptos"/>
              </a:rPr>
              <a:t>  Summary_Stats.tsv</a:t>
            </a:r>
            <a:endParaRPr lang="en-US" sz="1500"/>
          </a:p>
          <a:p>
            <a:pPr algn="l"/>
            <a:r>
              <a:rPr lang="en-US" sz="1500">
                <a:solidFill>
                  <a:srgbClr val="D7DEEA"/>
                </a:solidFill>
                <a:latin typeface="Aptos"/>
              </a:rPr>
              <a:t>  Report_Output.tsv</a:t>
            </a:r>
            <a:endParaRPr lang="en-US" sz="1500"/>
          </a:p>
          <a:p>
            <a:pPr algn="l"/>
            <a:r>
              <a:rPr lang="en-US" sz="1500">
                <a:solidFill>
                  <a:srgbClr val="D7DEEA"/>
                </a:solidFill>
                <a:latin typeface="Aptos"/>
              </a:rPr>
              <a:t>  Raw_Signals.svg</a:t>
            </a:r>
            <a:endParaRPr lang="en-US" sz="1500"/>
          </a:p>
          <a:p>
            <a:pPr algn="l"/>
            <a:r>
              <a:rPr lang="en-US" sz="1500">
                <a:solidFill>
                  <a:srgbClr val="D7DEEA"/>
                </a:solidFill>
                <a:latin typeface="Aptos"/>
              </a:rPr>
              <a:t>  Pressure_Sensitivity_Curves.svg</a:t>
            </a:r>
            <a:endParaRPr lang="en-US" sz="1500"/>
          </a:p>
          <a:p>
            <a:pPr algn="l"/>
            <a:r>
              <a:rPr lang="en-US" sz="1500">
                <a:solidFill>
                  <a:srgbClr val="D7DEEA"/>
                </a:solidFill>
                <a:latin typeface="Aptos"/>
              </a:rPr>
              <a:t>  All_CH_Runs.svg</a:t>
            </a:r>
            <a:endParaRPr lang="en-US" sz="1500"/>
          </a:p>
          <a:p>
            <a:pPr algn="l"/>
            <a:r>
              <a:rPr lang="en-US" sz="1500">
                <a:solidFill>
                  <a:srgbClr val="D7DEEA"/>
                </a:solidFill>
                <a:latin typeface="Aptos"/>
              </a:rPr>
              <a:t>  analysis_summary.json</a:t>
            </a:r>
            <a:endParaRPr lang="en-US" sz="1500"/>
          </a:p>
        </p:txBody>
      </p:sp>
      <p:sp>
        <p:nvSpPr>
          <p:cNvPr id="5" name="TextBox 5"/>
          <p:cNvSpPr txBox="1"/>
          <p:nvPr/>
        </p:nvSpPr>
        <p:spPr>
          <a:xfrm>
            <a:off x="6172200" y="1097280"/>
            <a:ext cx="5120640" cy="2560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- prepare_test_folder creates preview FUT/CAP inputs from EM, Shear, or Manual readings</a:t>
            </a:r>
            <a:endParaRPr lang="en-US" sz="1700"/>
          </a:p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- SavedTestAnalyzer reads those inputs and writes analysis artifacts</a:t>
            </a:r>
            <a:endParaRPr lang="en-US" sz="1700"/>
          </a:p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- The browser receives a JSON summary and displays matching tabs</a:t>
            </a:r>
            <a:endParaRPr lang="en-US" sz="1700"/>
          </a:p>
        </p:txBody>
      </p:sp>
      <p:sp>
        <p:nvSpPr>
          <p:cNvPr id="6" name="TextBox 6"/>
          <p:cNvSpPr txBox="1"/>
          <p:nvPr/>
        </p:nvSpPr>
        <p:spPr>
          <a:xfrm>
            <a:off x="6263640" y="4251960"/>
            <a:ext cx="4800600" cy="640080"/>
          </a:xfrm>
          <a:prstGeom prst="rect">
            <a:avLst/>
          </a:prstGeom>
          <a:solidFill>
            <a:srgbClr val="FFF8E8"/>
          </a:solidFill>
          <a:ln w="12700">
            <a:solidFill>
              <a:srgbClr val="F4C86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800" b="1">
                <a:solidFill>
                  <a:srgbClr val="7A4E00"/>
                </a:solidFill>
                <a:latin typeface="Aptos"/>
              </a:rPr>
              <a:t>This is the place where Akhil/Jason’s final analysis scripts can replace the preview generator later.</a:t>
            </a:r>
            <a:endParaRPr lang="en-US"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15. Hardware integration points are intentionally isolated</a:t>
            </a:r>
            <a:endParaRPr lang="en-US" sz="2800"/>
          </a:p>
        </p:txBody>
      </p:sp>
      <p:sp>
        <p:nvSpPr>
          <p:cNvPr id="3" name="TextBox 3"/>
          <p:cNvSpPr txBox="1"/>
          <p:nvPr/>
        </p:nvSpPr>
        <p:spPr>
          <a:xfrm>
            <a:off x="685800" y="1051560"/>
            <a:ext cx="5303520" cy="274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- The UI already has the screens and safety states: Start, Stop/Pause, lockouts, home/reset, run repeat</a:t>
            </a:r>
            <a:endParaRPr lang="en-US" sz="1700"/>
          </a:p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- Python is the right layer to call ZaberCLI and FUTEKDeviceCLI because browser JavaScript cannot directly access serial devices or .NET drivers</a:t>
            </a:r>
            <a:endParaRPr lang="en-US" sz="1700"/>
          </a:p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- If the wrong COM port is used, the Zaber connect route should catch that and return a clear error to the GUI</a:t>
            </a:r>
            <a:endParaRPr lang="en-US" sz="1700"/>
          </a:p>
        </p:txBody>
      </p:sp>
      <p:sp>
        <p:nvSpPr>
          <p:cNvPr id="4" name="Shape 4"/>
          <p:cNvSpPr/>
          <p:nvPr/>
        </p:nvSpPr>
        <p:spPr>
          <a:xfrm>
            <a:off x="6400800" y="1051560"/>
            <a:ext cx="448056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6675120" y="137160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000" b="1">
                <a:solidFill>
                  <a:srgbClr val="3F8B42"/>
                </a:solidFill>
                <a:latin typeface="Aptos"/>
              </a:rPr>
              <a:t>Future real-hardware swap</a:t>
            </a:r>
            <a:endParaRPr lang="en-US" sz="2000"/>
          </a:p>
        </p:txBody>
      </p:sp>
      <p:sp>
        <p:nvSpPr>
          <p:cNvPr id="6" name="TextBox 6"/>
          <p:cNvSpPr txBox="1"/>
          <p:nvPr/>
        </p:nvSpPr>
        <p:spPr>
          <a:xfrm>
            <a:off x="6675120" y="1965960"/>
            <a:ext cx="3749039" cy="12801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700">
                <a:solidFill>
                  <a:srgbClr val="38445A"/>
                </a:solidFill>
                <a:latin typeface="Aptos"/>
              </a:rPr>
              <a:t>Replace preview timers and fake force generation with calls into the hardware modules, while keeping the same frontend windows and state transitions.</a:t>
            </a:r>
            <a:endParaRPr lang="en-US" sz="1700"/>
          </a:p>
        </p:txBody>
      </p:sp>
      <p:sp>
        <p:nvSpPr>
          <p:cNvPr id="7" name="TextBox 7"/>
          <p:cNvSpPr txBox="1"/>
          <p:nvPr/>
        </p:nvSpPr>
        <p:spPr>
          <a:xfrm>
            <a:off x="6675120" y="3566160"/>
            <a:ext cx="3749039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700" b="1">
                <a:solidFill>
                  <a:srgbClr val="174A7C"/>
                </a:solidFill>
                <a:latin typeface="Aptos"/>
              </a:rPr>
              <a:t>UI stays stable; backend gets more real.</a:t>
            </a:r>
            <a:endParaRPr lang="en-US" sz="17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800" b="1">
                <a:solidFill>
                  <a:srgbClr val="172033"/>
                </a:solidFill>
                <a:latin typeface="Aptos"/>
              </a:rPr>
              <a:t>16. The short explanation you can give your boss</a:t>
            </a:r>
            <a:endParaRPr lang="en-US" sz="2800"/>
          </a:p>
        </p:txBody>
      </p:sp>
      <p:sp>
        <p:nvSpPr>
          <p:cNvPr id="3" name="Shape 3"/>
          <p:cNvSpPr/>
          <p:nvPr/>
        </p:nvSpPr>
        <p:spPr>
          <a:xfrm>
            <a:off x="685800" y="1051560"/>
            <a:ext cx="106984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960120" y="1371600"/>
            <a:ext cx="10058400" cy="3337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200">
                <a:solidFill>
                  <a:srgbClr val="172033"/>
                </a:solidFill>
                <a:latin typeface="Aptos"/>
              </a:rPr>
              <a:t>“I converted the old desktop-style Tkinter workflow into a browser-based local GUI. The frontend is a single HTML file that contains the forms, modals, styling, live SVG graphs, validation, and button behavior. A small Python server runs locally behind it so the browser can still do computer things: pick folders, check whether test folders already exist, generate FUT/CAP preview files, and save analysis outputs. The testing windows are currently preview-safe with simulated data, but the structure is ready for the real Zaber and FUTEK calls to plug into the Python backend.”</a:t>
            </a:r>
            <a:endParaRPr lang="en-US" sz="2200"/>
          </a:p>
        </p:txBody>
      </p:sp>
      <p:sp>
        <p:nvSpPr>
          <p:cNvPr id="5" name="TextBox 5"/>
          <p:cNvSpPr txBox="1"/>
          <p:nvPr/>
        </p:nvSpPr>
        <p:spPr>
          <a:xfrm>
            <a:off x="960120" y="4892040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 b="1">
                <a:solidFill>
                  <a:srgbClr val="3F73E6"/>
                </a:solidFill>
                <a:latin typeface="Aptos"/>
              </a:rPr>
              <a:t>That framing explains both what you built and why the architecture makes sense.</a:t>
            </a:r>
            <a:endParaRPr lang="en-US" sz="1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eature"/>
          <p:cNvSpPr txBox="1"/>
          <p:nvPr/>
        </p:nvSpPr>
        <p:spPr>
          <a:xfrm>
            <a:off x="411480" y="2743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en-US" sz="1300" b="1">
                <a:solidFill>
                  <a:srgbClr val="6B7890"/>
                </a:solidFill>
                <a:latin typeface="Aptos"/>
              </a:rPr>
              <a:t>FEATURE 1.12  ·  FILE STRUCTURE</a:t>
            </a:r>
            <a:endParaRPr lang="en-US" sz="1300"/>
          </a:p>
        </p:txBody>
      </p:sp>
      <p:sp>
        <p:nvSpPr>
          <p:cNvPr id="3" name="Story"/>
          <p:cNvSpPr txBox="1"/>
          <p:nvPr/>
        </p:nvSpPr>
        <p:spPr>
          <a:xfrm>
            <a:off x="411480" y="59436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en-US" sz="1500" b="1">
                <a:solidFill>
                  <a:srgbClr val="4498B5"/>
                </a:solidFill>
                <a:latin typeface="Aptos"/>
              </a:rPr>
              <a:t>STORY 1.12.1</a:t>
            </a:r>
            <a:endParaRPr lang="en-US" sz="1500"/>
          </a:p>
        </p:txBody>
      </p:sp>
      <p:sp>
        <p:nvSpPr>
          <p:cNvPr id="4" name="Title"/>
          <p:cNvSpPr txBox="1"/>
          <p:nvPr/>
        </p:nvSpPr>
        <p:spPr>
          <a:xfrm>
            <a:off x="411480" y="1051560"/>
            <a:ext cx="585216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en-US" sz="2500" b="1">
                <a:solidFill>
                  <a:srgbClr val="1F255E"/>
                </a:solidFill>
                <a:latin typeface="Aptos"/>
              </a:rPr>
              <a:t>Test Folder Naming Convention</a:t>
            </a:r>
            <a:endParaRPr lang="en-US" sz="2500"/>
          </a:p>
        </p:txBody>
      </p:sp>
      <p:sp>
        <p:nvSpPr>
          <p:cNvPr id="5" name="Priority"/>
          <p:cNvSpPr txBox="1"/>
          <p:nvPr/>
        </p:nvSpPr>
        <p:spPr>
          <a:xfrm>
            <a:off x="11155680" y="457200"/>
            <a:ext cx="960120" cy="342900"/>
          </a:xfrm>
          <a:prstGeom prst="rect">
            <a:avLst/>
          </a:prstGeom>
          <a:solidFill>
            <a:srgbClr val="DCE9FF"/>
          </a:solidFill>
          <a:ln>
            <a:noFill/>
          </a:ln>
        </p:spPr>
        <p:txBody>
          <a:bodyPr wrap="square" lIns="91440" tIns="68580" rIns="91440" bIns="68580"/>
          <a:lstStyle/>
          <a:p>
            <a:pPr algn="ctr"/>
            <a:r>
              <a:rPr lang="en-US" sz="1300" b="1">
                <a:solidFill>
                  <a:srgbClr val="1F255E"/>
                </a:solidFill>
                <a:latin typeface="Aptos"/>
              </a:rPr>
              <a:t>MUST</a:t>
            </a:r>
            <a:endParaRPr lang="en-US" sz="1300"/>
          </a:p>
        </p:txBody>
      </p:sp>
      <p:sp>
        <p:nvSpPr>
          <p:cNvPr id="10" name="Teal Bar"/>
          <p:cNvSpPr/>
          <p:nvPr/>
        </p:nvSpPr>
        <p:spPr>
          <a:xfrm>
            <a:off x="411480" y="1661160"/>
            <a:ext cx="91440" cy="1600200"/>
          </a:xfrm>
          <a:prstGeom prst="rect">
            <a:avLst/>
          </a:prstGeom>
          <a:solidFill>
            <a:srgbClr val="4399B5"/>
          </a:solidFill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en-US" sz="1600">
                <a:solidFill>
                  <a:srgbClr val="172033"/>
                </a:solidFill>
                <a:latin typeface="Aptos"/>
              </a:rPr>
              <a:t/>
            </a:r>
            <a:endParaRPr lang="en-US" sz="1600"/>
          </a:p>
        </p:txBody>
      </p:sp>
      <p:sp>
        <p:nvSpPr>
          <p:cNvPr id="11" name="User Story Box"/>
          <p:cNvSpPr txBox="1"/>
          <p:nvPr/>
        </p:nvSpPr>
        <p:spPr>
          <a:xfrm>
            <a:off x="502920" y="1661160"/>
            <a:ext cx="4800600" cy="1600200"/>
          </a:xfrm>
          <a:prstGeom prst="rect">
            <a:avLst/>
          </a:prstGeom>
          <a:solidFill>
            <a:srgbClr val="F8FAFD"/>
          </a:solidFill>
          <a:ln w="12700">
            <a:solidFill>
              <a:srgbClr val="E0E6EF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en-US" sz="1100" b="1">
                <a:solidFill>
                  <a:srgbClr val="6B7890"/>
                </a:solidFill>
                <a:latin typeface="Aptos"/>
              </a:rPr>
              <a:t>USER STORY</a:t>
            </a:r>
            <a:endParaRPr lang="en-US" sz="1100"/>
          </a:p>
          <a:p>
            <a:pPr algn="l"/>
            <a:r>
              <a:rPr lang="en-US" sz="1250" i="1">
                <a:solidFill>
                  <a:srgbClr val="3E4A5F"/>
                </a:solidFill>
                <a:latin typeface="Aptos"/>
              </a:rPr>
              <a:t>As a test fixture operator, I want all test outputs saved in a predictable sensor folder so that FUT, CAP, plots, and analysis archives are easy to find later.</a:t>
            </a:r>
            <a:endParaRPr lang="en-US" sz="1250"/>
          </a:p>
        </p:txBody>
      </p:sp>
      <p:sp>
        <p:nvSpPr>
          <p:cNvPr id="12" name="Criteria Header"/>
          <p:cNvSpPr txBox="1"/>
          <p:nvPr/>
        </p:nvSpPr>
        <p:spPr>
          <a:xfrm>
            <a:off x="411480" y="3566160"/>
            <a:ext cx="28041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en-US" sz="1250" b="1">
                <a:solidFill>
                  <a:srgbClr val="6B7890"/>
                </a:solidFill>
                <a:latin typeface="Aptos"/>
              </a:rPr>
              <a:t>ACCEPTANCE CRITERIA</a:t>
            </a:r>
            <a:endParaRPr lang="en-US" sz="1250"/>
          </a:p>
        </p:txBody>
      </p:sp>
      <p:sp>
        <p:nvSpPr>
          <p:cNvPr id="13" name="Criteria Bullets"/>
          <p:cNvSpPr txBox="1"/>
          <p:nvPr/>
        </p:nvSpPr>
        <p:spPr>
          <a:xfrm>
            <a:off x="411480" y="3947160"/>
            <a:ext cx="4876800" cy="2057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en-US" sz="1350">
                <a:solidFill>
                  <a:srgbClr val="3E4A5F"/>
                </a:solidFill>
                <a:latin typeface="Aptos"/>
              </a:rPr>
              <a:t>▪   Outputs are grouped by Save Folder, Sensor ID, date, surface area, and test type</a:t>
            </a:r>
            <a:endParaRPr lang="en-US" sz="1350"/>
          </a:p>
          <a:p>
            <a:pPr algn="l"/>
            <a:r>
              <a:rPr lang="en-US" sz="1350">
                <a:solidFill>
                  <a:srgbClr val="3E4A5F"/>
                </a:solidFill>
                <a:latin typeface="Aptos"/>
              </a:rPr>
              <a:t>▪   Folder pattern: {Save Folder}/{Sensor ID}/{MM DD YY}_{SurfaceArea}mm2_{TestType}/</a:t>
            </a:r>
            <a:endParaRPr lang="en-US" sz="1350"/>
          </a:p>
          <a:p>
            <a:pPr algn="l"/>
            <a:r>
              <a:rPr lang="en-US" sz="1350">
                <a:solidFill>
                  <a:srgbClr val="3E4A5F"/>
                </a:solidFill>
                <a:latin typeface="Aptos"/>
              </a:rPr>
              <a:t>▪   Versioned folders use _1, _2, _3 only when the user chooses a new version</a:t>
            </a:r>
            <a:endParaRPr lang="en-US" sz="1350"/>
          </a:p>
          <a:p>
            <a:pPr algn="l"/>
            <a:r>
              <a:rPr lang="en-US" sz="1350">
                <a:solidFill>
                  <a:srgbClr val="3E4A5F"/>
                </a:solidFill>
                <a:latin typeface="Aptos"/>
              </a:rPr>
              <a:t>▪   Cyclical testing does not create an analysis folder</a:t>
            </a:r>
            <a:endParaRPr lang="en-US" sz="1350"/>
          </a:p>
        </p:txBody>
      </p:sp>
      <p:sp>
        <p:nvSpPr>
          <p:cNvPr id="20" name="Mockup Background"/>
          <p:cNvSpPr/>
          <p:nvPr/>
        </p:nvSpPr>
        <p:spPr>
          <a:xfrm>
            <a:off x="5440680" y="1394460"/>
            <a:ext cx="6659880" cy="424434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en-US" sz="1600">
                <a:solidFill>
                  <a:srgbClr val="172033"/>
                </a:solidFill>
                <a:latin typeface="Aptos"/>
              </a:rPr>
              <a:t/>
            </a:r>
            <a:endParaRPr lang="en-US" sz="1600"/>
          </a:p>
        </p:txBody>
      </p:sp>
      <p:sp>
        <p:nvSpPr>
          <p:cNvPr id="21" name="Mockup Title"/>
          <p:cNvSpPr txBox="1"/>
          <p:nvPr/>
        </p:nvSpPr>
        <p:spPr>
          <a:xfrm>
            <a:off x="5669280" y="160020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en-US" sz="2100" b="1">
                <a:solidFill>
                  <a:srgbClr val="172033"/>
                </a:solidFill>
                <a:latin typeface="Aptos"/>
              </a:rPr>
              <a:t>Saved Test Folder</a:t>
            </a:r>
            <a:endParaRPr lang="en-US" sz="2100"/>
          </a:p>
        </p:txBody>
      </p:sp>
      <p:sp>
        <p:nvSpPr>
          <p:cNvPr id="22" name="Tree Card"/>
          <p:cNvSpPr txBox="1"/>
          <p:nvPr/>
        </p:nvSpPr>
        <p:spPr>
          <a:xfrm>
            <a:off x="5669280" y="2194560"/>
            <a:ext cx="617220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en-US" sz="1120">
                <a:solidFill>
                  <a:srgbClr val="172033"/>
                </a:solidFill>
                <a:latin typeface="Courier New"/>
              </a:rPr>
              <a:t>Google Drive/
└── 260529B01S01A/
    └── 05 29 26_325mm2_EM/
        ├── FUT/
        │   ├── Run 1.xlsx
        │   ├── Run 2.xlsx
        │   └── Run 3.xlsx
        ├── CAP/
        │   ├── Run 1.csv
        │   ├── Run 2.csv
        │   └── Run 3.csv
        ├── generated plot PNGs
        ├── eb_analysis_results.pkl
        └── EB_Analysis_Results.xlsx</a:t>
            </a:r>
            <a:endParaRPr lang="en-US" sz="1120"/>
          </a:p>
        </p:txBody>
      </p:sp>
      <p:sp>
        <p:nvSpPr>
          <p:cNvPr id="23" name="Highlight"/>
          <p:cNvSpPr/>
          <p:nvPr/>
        </p:nvSpPr>
        <p:spPr>
          <a:xfrm>
            <a:off x="5608320" y="2133600"/>
            <a:ext cx="6294120" cy="3002280"/>
          </a:xfrm>
          <a:prstGeom prst="rect">
            <a:avLst/>
          </a:prstGeom>
          <a:solidFill>
            <a:srgbClr val="FFF4E4"/>
          </a:solidFill>
          <a:ln w="12700">
            <a:solidFill>
              <a:srgbClr val="F2A12C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en-US" sz="1600">
                <a:solidFill>
                  <a:srgbClr val="172033"/>
                </a:solidFill>
                <a:latin typeface="Aptos"/>
              </a:rPr>
              <a:t/>
            </a:r>
            <a:endParaRPr lang="en-US" sz="1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eature"/>
          <p:cNvSpPr txBox="1"/>
          <p:nvPr/>
        </p:nvSpPr>
        <p:spPr>
          <a:xfrm>
            <a:off x="411480" y="2743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en-US" sz="1300" b="1">
                <a:solidFill>
                  <a:srgbClr val="6B7890"/>
                </a:solidFill>
                <a:latin typeface="Aptos"/>
              </a:rPr>
              <a:t>FEATURE 1.12  ·  FILE STRUCTURE</a:t>
            </a:r>
            <a:endParaRPr lang="en-US" sz="1300"/>
          </a:p>
        </p:txBody>
      </p:sp>
      <p:sp>
        <p:nvSpPr>
          <p:cNvPr id="3" name="Story"/>
          <p:cNvSpPr txBox="1"/>
          <p:nvPr/>
        </p:nvSpPr>
        <p:spPr>
          <a:xfrm>
            <a:off x="411480" y="59436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en-US" sz="1500" b="1">
                <a:solidFill>
                  <a:srgbClr val="4498B5"/>
                </a:solidFill>
                <a:latin typeface="Aptos"/>
              </a:rPr>
              <a:t>STORY 1.12.2</a:t>
            </a:r>
            <a:endParaRPr lang="en-US" sz="1500"/>
          </a:p>
        </p:txBody>
      </p:sp>
      <p:sp>
        <p:nvSpPr>
          <p:cNvPr id="4" name="Title"/>
          <p:cNvSpPr txBox="1"/>
          <p:nvPr/>
        </p:nvSpPr>
        <p:spPr>
          <a:xfrm>
            <a:off x="411480" y="1051560"/>
            <a:ext cx="585216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en-US" sz="2500" b="1">
                <a:solidFill>
                  <a:srgbClr val="1F255E"/>
                </a:solidFill>
                <a:latin typeface="Aptos"/>
              </a:rPr>
              <a:t>Perform Analysis Saved Outputs</a:t>
            </a:r>
            <a:endParaRPr lang="en-US" sz="2500"/>
          </a:p>
        </p:txBody>
      </p:sp>
      <p:sp>
        <p:nvSpPr>
          <p:cNvPr id="5" name="Priority"/>
          <p:cNvSpPr txBox="1"/>
          <p:nvPr/>
        </p:nvSpPr>
        <p:spPr>
          <a:xfrm>
            <a:off x="11155680" y="457200"/>
            <a:ext cx="960120" cy="342900"/>
          </a:xfrm>
          <a:prstGeom prst="rect">
            <a:avLst/>
          </a:prstGeom>
          <a:solidFill>
            <a:srgbClr val="DCE9FF"/>
          </a:solidFill>
          <a:ln>
            <a:noFill/>
          </a:ln>
        </p:spPr>
        <p:txBody>
          <a:bodyPr wrap="square" lIns="91440" tIns="68580" rIns="91440" bIns="68580"/>
          <a:lstStyle/>
          <a:p>
            <a:pPr algn="ctr"/>
            <a:r>
              <a:rPr lang="en-US" sz="1300" b="1">
                <a:solidFill>
                  <a:srgbClr val="1F255E"/>
                </a:solidFill>
                <a:latin typeface="Aptos"/>
              </a:rPr>
              <a:t>MUST</a:t>
            </a:r>
            <a:endParaRPr lang="en-US" sz="1300"/>
          </a:p>
        </p:txBody>
      </p:sp>
      <p:sp>
        <p:nvSpPr>
          <p:cNvPr id="10" name="Teal Bar"/>
          <p:cNvSpPr/>
          <p:nvPr/>
        </p:nvSpPr>
        <p:spPr>
          <a:xfrm>
            <a:off x="411480" y="1661160"/>
            <a:ext cx="91440" cy="1600200"/>
          </a:xfrm>
          <a:prstGeom prst="rect">
            <a:avLst/>
          </a:prstGeom>
          <a:solidFill>
            <a:srgbClr val="4399B5"/>
          </a:solidFill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en-US" sz="1600">
                <a:solidFill>
                  <a:srgbClr val="172033"/>
                </a:solidFill>
                <a:latin typeface="Aptos"/>
              </a:rPr>
              <a:t/>
            </a:r>
            <a:endParaRPr lang="en-US" sz="1600"/>
          </a:p>
        </p:txBody>
      </p:sp>
      <p:sp>
        <p:nvSpPr>
          <p:cNvPr id="11" name="User Story Box"/>
          <p:cNvSpPr txBox="1"/>
          <p:nvPr/>
        </p:nvSpPr>
        <p:spPr>
          <a:xfrm>
            <a:off x="502920" y="1661160"/>
            <a:ext cx="4800600" cy="1600200"/>
          </a:xfrm>
          <a:prstGeom prst="rect">
            <a:avLst/>
          </a:prstGeom>
          <a:solidFill>
            <a:srgbClr val="F8FAFD"/>
          </a:solidFill>
          <a:ln w="12700">
            <a:solidFill>
              <a:srgbClr val="E0E6EF"/>
            </a:solidFill>
          </a:ln>
        </p:spPr>
        <p:txBody>
          <a:bodyPr wrap="square" lIns="91440" tIns="68580" rIns="91440" bIns="68580"/>
          <a:lstStyle/>
          <a:p>
            <a:pPr algn="l"/>
            <a:r>
              <a:rPr lang="en-US" sz="1100" b="1">
                <a:solidFill>
                  <a:srgbClr val="6B7890"/>
                </a:solidFill>
                <a:latin typeface="Aptos"/>
              </a:rPr>
              <a:t>USER STORY</a:t>
            </a:r>
            <a:endParaRPr lang="en-US" sz="1100"/>
          </a:p>
          <a:p>
            <a:pPr algn="l"/>
            <a:r>
              <a:rPr lang="en-US" sz="1250" i="1">
                <a:solidFill>
                  <a:srgbClr val="3E4A5F"/>
                </a:solidFill>
                <a:latin typeface="Aptos"/>
              </a:rPr>
              <a:t>As a test fixture operator, I want Perform Analysis to save the generated inputs, plots, and result archives so that each completed test has a complete record.</a:t>
            </a:r>
            <a:endParaRPr lang="en-US" sz="1250"/>
          </a:p>
        </p:txBody>
      </p:sp>
      <p:sp>
        <p:nvSpPr>
          <p:cNvPr id="12" name="Criteria Header"/>
          <p:cNvSpPr txBox="1"/>
          <p:nvPr/>
        </p:nvSpPr>
        <p:spPr>
          <a:xfrm>
            <a:off x="411480" y="3566160"/>
            <a:ext cx="28041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en-US" sz="1250" b="1">
                <a:solidFill>
                  <a:srgbClr val="6B7890"/>
                </a:solidFill>
                <a:latin typeface="Aptos"/>
              </a:rPr>
              <a:t>ACCEPTANCE CRITERIA</a:t>
            </a:r>
            <a:endParaRPr lang="en-US" sz="1250"/>
          </a:p>
        </p:txBody>
      </p:sp>
      <p:sp>
        <p:nvSpPr>
          <p:cNvPr id="13" name="Criteria Bullets"/>
          <p:cNvSpPr txBox="1"/>
          <p:nvPr/>
        </p:nvSpPr>
        <p:spPr>
          <a:xfrm>
            <a:off x="411480" y="3947160"/>
            <a:ext cx="4876800" cy="2057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en-US" sz="1350">
                <a:solidFill>
                  <a:srgbClr val="3E4A5F"/>
                </a:solidFill>
                <a:latin typeface="Aptos"/>
              </a:rPr>
              <a:t>▪   Perform Analysis saves FUT and CAP inputs for the selected test</a:t>
            </a:r>
            <a:endParaRPr lang="en-US" sz="1350"/>
          </a:p>
          <a:p>
            <a:pPr algn="l"/>
            <a:r>
              <a:rPr lang="en-US" sz="1350">
                <a:solidFill>
                  <a:srgbClr val="3E4A5F"/>
                </a:solidFill>
                <a:latin typeface="Aptos"/>
              </a:rPr>
              <a:t>▪   Perform Analysis saves generated PNG plots</a:t>
            </a:r>
            <a:endParaRPr lang="en-US" sz="1350"/>
          </a:p>
          <a:p>
            <a:pPr algn="l"/>
            <a:r>
              <a:rPr lang="en-US" sz="1350">
                <a:solidFill>
                  <a:srgbClr val="3E4A5F"/>
                </a:solidFill>
                <a:latin typeface="Aptos"/>
              </a:rPr>
              <a:t>▪   Perform Analysis saves a pickle archive and flattened Excel workbook</a:t>
            </a:r>
            <a:endParaRPr lang="en-US" sz="1350"/>
          </a:p>
          <a:p>
            <a:pPr algn="l"/>
            <a:r>
              <a:rPr lang="en-US" sz="1350">
                <a:solidFill>
                  <a:srgbClr val="3E4A5F"/>
                </a:solidFill>
                <a:latin typeface="Aptos"/>
              </a:rPr>
              <a:t>▪   Canceled tests should not leave unused folders behind</a:t>
            </a:r>
            <a:endParaRPr lang="en-US" sz="1350"/>
          </a:p>
        </p:txBody>
      </p:sp>
      <p:sp>
        <p:nvSpPr>
          <p:cNvPr id="20" name="Mockup Background"/>
          <p:cNvSpPr/>
          <p:nvPr/>
        </p:nvSpPr>
        <p:spPr>
          <a:xfrm>
            <a:off x="5440680" y="1394460"/>
            <a:ext cx="6659880" cy="424434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en-US" sz="1600">
                <a:solidFill>
                  <a:srgbClr val="172033"/>
                </a:solidFill>
                <a:latin typeface="Aptos"/>
              </a:rPr>
              <a:t/>
            </a:r>
            <a:endParaRPr lang="en-US" sz="1600"/>
          </a:p>
        </p:txBody>
      </p:sp>
      <p:sp>
        <p:nvSpPr>
          <p:cNvPr id="21" name="Mockup Title"/>
          <p:cNvSpPr txBox="1"/>
          <p:nvPr/>
        </p:nvSpPr>
        <p:spPr>
          <a:xfrm>
            <a:off x="5669280" y="160020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 algn="l"/>
            <a:r>
              <a:rPr lang="en-US" sz="2100" b="1">
                <a:solidFill>
                  <a:srgbClr val="172033"/>
                </a:solidFill>
                <a:latin typeface="Aptos"/>
              </a:rPr>
              <a:t>Perform Analysis Outputs</a:t>
            </a:r>
            <a:endParaRPr lang="en-US" sz="2100"/>
          </a:p>
        </p:txBody>
      </p:sp>
      <p:sp>
        <p:nvSpPr>
          <p:cNvPr id="22" name="EM Output Card"/>
          <p:cNvSpPr txBox="1"/>
          <p:nvPr/>
        </p:nvSpPr>
        <p:spPr>
          <a:xfrm>
            <a:off x="5669280" y="2324100"/>
            <a:ext cx="1859280" cy="22174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800" b="1">
                <a:solidFill>
                  <a:srgbClr val="172033"/>
                </a:solidFill>
                <a:latin typeface="Aptos"/>
              </a:rPr>
              <a:t>EM</a:t>
            </a:r>
            <a:endParaRPr lang="en-US" sz="1800"/>
          </a:p>
          <a:p>
            <a:pPr algn="l"/>
            <a:r>
              <a:rPr lang="en-US" sz="400">
                <a:solidFill>
                  <a:srgbClr val="172033"/>
                </a:solidFill>
                <a:latin typeface="Aptos"/>
              </a:rPr>
              <a:t/>
            </a:r>
            <a:endParaRPr lang="en-US" sz="400"/>
          </a:p>
          <a:p>
            <a:pPr algn="ctr"/>
            <a:r>
              <a:rPr lang="en-US" sz="1080">
                <a:solidFill>
                  <a:srgbClr val="3E4A5F"/>
                </a:solidFill>
                <a:latin typeface="Aptos"/>
              </a:rPr>
              <a:t>Run 1..N FUT/CAP</a:t>
            </a:r>
            <a:endParaRPr lang="en-US" sz="1080"/>
          </a:p>
          <a:p>
            <a:pPr algn="ctr"/>
            <a:r>
              <a:rPr lang="en-US" sz="1080">
                <a:solidFill>
                  <a:srgbClr val="3E4A5F"/>
                </a:solidFill>
                <a:latin typeface="Aptos"/>
              </a:rPr>
              <a:t>Raw Signal PNGs</a:t>
            </a:r>
            <a:endParaRPr lang="en-US" sz="1080"/>
          </a:p>
          <a:p>
            <a:pPr algn="ctr"/>
            <a:r>
              <a:rPr lang="en-US" sz="1080">
                <a:solidFill>
                  <a:srgbClr val="3E4A5F"/>
                </a:solidFill>
                <a:latin typeface="Aptos"/>
              </a:rPr>
              <a:t>P.S curve PNGs</a:t>
            </a:r>
            <a:endParaRPr lang="en-US" sz="1080"/>
          </a:p>
          <a:p>
            <a:pPr algn="ctr"/>
            <a:r>
              <a:rPr lang="en-US" sz="1080">
                <a:solidFill>
                  <a:srgbClr val="3E4A5F"/>
                </a:solidFill>
                <a:latin typeface="Aptos"/>
              </a:rPr>
              <a:t>.pkl + .xlsx analysis</a:t>
            </a:r>
            <a:endParaRPr lang="en-US" sz="1080"/>
          </a:p>
        </p:txBody>
      </p:sp>
      <p:sp>
        <p:nvSpPr>
          <p:cNvPr id="23" name="Shear Output Card"/>
          <p:cNvSpPr txBox="1"/>
          <p:nvPr/>
        </p:nvSpPr>
        <p:spPr>
          <a:xfrm>
            <a:off x="7736880" y="2324100"/>
            <a:ext cx="1859280" cy="22174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800" b="1">
                <a:solidFill>
                  <a:srgbClr val="172033"/>
                </a:solidFill>
                <a:latin typeface="Aptos"/>
              </a:rPr>
              <a:t>Shear</a:t>
            </a:r>
            <a:endParaRPr lang="en-US" sz="1800"/>
          </a:p>
          <a:p>
            <a:pPr algn="l"/>
            <a:r>
              <a:rPr lang="en-US" sz="400">
                <a:solidFill>
                  <a:srgbClr val="172033"/>
                </a:solidFill>
                <a:latin typeface="Aptos"/>
              </a:rPr>
              <a:t/>
            </a:r>
            <a:endParaRPr lang="en-US" sz="400"/>
          </a:p>
          <a:p>
            <a:pPr algn="ctr"/>
            <a:r>
              <a:rPr lang="en-US" sz="1080">
                <a:solidFill>
                  <a:srgbClr val="3E4A5F"/>
                </a:solidFill>
                <a:latin typeface="Aptos"/>
              </a:rPr>
              <a:t>Run 1 FUT/CAP</a:t>
            </a:r>
            <a:endParaRPr lang="en-US" sz="1080"/>
          </a:p>
          <a:p>
            <a:pPr algn="ctr"/>
            <a:r>
              <a:rPr lang="en-US" sz="1080">
                <a:solidFill>
                  <a:srgbClr val="3E4A5F"/>
                </a:solidFill>
                <a:latin typeface="Aptos"/>
              </a:rPr>
              <a:t>CH plots</a:t>
            </a:r>
            <a:endParaRPr lang="en-US" sz="1080"/>
          </a:p>
          <a:p>
            <a:pPr algn="ctr"/>
            <a:r>
              <a:rPr lang="en-US" sz="1080">
                <a:solidFill>
                  <a:srgbClr val="3E4A5F"/>
                </a:solidFill>
                <a:latin typeface="Aptos"/>
              </a:rPr>
              <a:t>Force vs Time</a:t>
            </a:r>
            <a:endParaRPr lang="en-US" sz="1080"/>
          </a:p>
          <a:p>
            <a:pPr algn="ctr"/>
            <a:r>
              <a:rPr lang="en-US" sz="1080">
                <a:solidFill>
                  <a:srgbClr val="3E4A5F"/>
                </a:solidFill>
                <a:latin typeface="Aptos"/>
              </a:rPr>
              <a:t>Failure Check</a:t>
            </a:r>
            <a:endParaRPr lang="en-US" sz="1080"/>
          </a:p>
          <a:p>
            <a:pPr algn="ctr"/>
            <a:r>
              <a:rPr lang="en-US" sz="1080">
                <a:solidFill>
                  <a:srgbClr val="3E4A5F"/>
                </a:solidFill>
                <a:latin typeface="Aptos"/>
              </a:rPr>
              <a:t>.pkl + .xlsx analysis</a:t>
            </a:r>
            <a:endParaRPr lang="en-US" sz="1080"/>
          </a:p>
        </p:txBody>
      </p:sp>
      <p:sp>
        <p:nvSpPr>
          <p:cNvPr id="24" name="Manual Output Card"/>
          <p:cNvSpPr txBox="1"/>
          <p:nvPr/>
        </p:nvSpPr>
        <p:spPr>
          <a:xfrm>
            <a:off x="9804480" y="2324100"/>
            <a:ext cx="1859280" cy="22174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C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800" b="1">
                <a:solidFill>
                  <a:srgbClr val="172033"/>
                </a:solidFill>
                <a:latin typeface="Aptos"/>
              </a:rPr>
              <a:t>Manual</a:t>
            </a:r>
            <a:endParaRPr lang="en-US" sz="1800"/>
          </a:p>
          <a:p>
            <a:pPr algn="l"/>
            <a:r>
              <a:rPr lang="en-US" sz="400">
                <a:solidFill>
                  <a:srgbClr val="172033"/>
                </a:solidFill>
                <a:latin typeface="Aptos"/>
              </a:rPr>
              <a:t/>
            </a:r>
            <a:endParaRPr lang="en-US" sz="400"/>
          </a:p>
          <a:p>
            <a:pPr algn="ctr"/>
            <a:r>
              <a:rPr lang="en-US" sz="1080">
                <a:solidFill>
                  <a:srgbClr val="3E4A5F"/>
                </a:solidFill>
                <a:latin typeface="Aptos"/>
              </a:rPr>
              <a:t>Run 1 FUT/CAP</a:t>
            </a:r>
            <a:endParaRPr lang="en-US" sz="1080"/>
          </a:p>
          <a:p>
            <a:pPr algn="ctr"/>
            <a:r>
              <a:rPr lang="en-US" sz="1080">
                <a:solidFill>
                  <a:srgbClr val="3E4A5F"/>
                </a:solidFill>
                <a:latin typeface="Aptos"/>
              </a:rPr>
              <a:t>Cap vs Force</a:t>
            </a:r>
            <a:endParaRPr lang="en-US" sz="1080"/>
          </a:p>
          <a:p>
            <a:pPr algn="ctr"/>
            <a:r>
              <a:rPr lang="en-US" sz="1080">
                <a:solidFill>
                  <a:srgbClr val="3E4A5F"/>
                </a:solidFill>
                <a:latin typeface="Aptos"/>
              </a:rPr>
              <a:t>Force vs Time</a:t>
            </a:r>
            <a:endParaRPr lang="en-US" sz="1080"/>
          </a:p>
          <a:p>
            <a:pPr algn="ctr"/>
            <a:r>
              <a:rPr lang="en-US" sz="1080">
                <a:solidFill>
                  <a:srgbClr val="3E4A5F"/>
                </a:solidFill>
                <a:latin typeface="Aptos"/>
              </a:rPr>
              <a:t>Cap vs Time</a:t>
            </a:r>
            <a:endParaRPr lang="en-US" sz="1080"/>
          </a:p>
          <a:p>
            <a:pPr algn="ctr"/>
            <a:r>
              <a:rPr lang="en-US" sz="1080">
                <a:solidFill>
                  <a:srgbClr val="3E4A5F"/>
                </a:solidFill>
                <a:latin typeface="Aptos"/>
              </a:rPr>
              <a:t>.pkl + .xlsx analysis</a:t>
            </a:r>
            <a:endParaRPr lang="en-US" sz="1080"/>
          </a:p>
        </p:txBody>
      </p:sp>
      <p:sp>
        <p:nvSpPr>
          <p:cNvPr id="26" name="Timing Note"/>
          <p:cNvSpPr txBox="1"/>
          <p:nvPr/>
        </p:nvSpPr>
        <p:spPr>
          <a:xfrm>
            <a:off x="5669280" y="4785360"/>
            <a:ext cx="5990000" cy="50292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C7DAFF"/>
            </a:solidFill>
          </a:ln>
        </p:spPr>
        <p:txBody>
          <a:bodyPr wrap="square" lIns="91440" tIns="68580" rIns="91440" bIns="68580"/>
          <a:lstStyle/>
          <a:p>
            <a:pPr algn="ctr"/>
            <a:r>
              <a:rPr lang="en-US" sz="1250" b="1">
                <a:solidFill>
                  <a:srgbClr val="3F73E6"/>
                </a:solidFill>
                <a:latin typeface="Aptos"/>
              </a:rPr>
              <a:t>folders and analysis files are created when Perform Analysis runs</a:t>
            </a:r>
            <a:endParaRPr lang="en-US" sz="12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ZaberWalkthrough">
  <a:themeElements>
    <a:clrScheme name="Zaber">
      <a:dk1>
        <a:srgbClr val="172033"/>
      </a:dk1>
      <a:lt1>
        <a:srgbClr val="FFFFFF"/>
      </a:lt1>
      <a:dk2>
        <a:srgbClr val="38445A"/>
      </a:dk2>
      <a:lt2>
        <a:srgbClr val="F5F7FB"/>
      </a:lt2>
      <a:accent1>
        <a:srgbClr val="3F73E6"/>
      </a:accent1>
      <a:accent2>
        <a:srgbClr val="3F8B42"/>
      </a:accent2>
      <a:accent3>
        <a:srgbClr val="ED6C02"/>
      </a:accent3>
      <a:accent4>
        <a:srgbClr val="E11955"/>
      </a:accent4>
      <a:accent5>
        <a:srgbClr val="697790"/>
      </a:accent5>
      <a:accent6>
        <a:srgbClr val="BBD4FF"/>
      </a:accent6>
      <a:hlink>
        <a:srgbClr val="3F73E6"/>
      </a:hlink>
      <a:folHlink>
        <a:srgbClr val="8B5CF6"/>
      </a:folHlink>
    </a:clrScheme>
    <a:fontScheme name="Apto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Defaul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