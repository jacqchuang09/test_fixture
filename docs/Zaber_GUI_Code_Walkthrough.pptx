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99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theme" Target="theme/theme1.xml"/><Relationship Id="rId999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400" b="1">
                <a:solidFill>
                  <a:srgbClr val="172033"/>
                </a:solidFill>
                <a:latin typeface="Aptos"/>
              </a:rPr>
              <a:t>Zaber GUI Code Walkthrough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530352" y="114300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>
                <a:solidFill>
                  <a:srgbClr val="697790"/>
                </a:solidFill>
                <a:latin typeface="Aptos"/>
              </a:rPr>
              <a:t>Structure of index.html and run_web_gui.py</a:t>
            </a:r>
            <a:endParaRPr lang="en-US" sz="1800"/>
          </a:p>
        </p:txBody>
      </p:sp>
      <p:sp>
        <p:nvSpPr>
          <p:cNvPr id="4" name="Shape 4"/>
          <p:cNvSpPr/>
          <p:nvPr/>
        </p:nvSpPr>
        <p:spPr>
          <a:xfrm>
            <a:off x="502920" y="1874519"/>
            <a:ext cx="11155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822960" y="22402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172033"/>
                </a:solidFill>
                <a:latin typeface="Aptos"/>
              </a:rPr>
              <a:t>What this deck explains</a:t>
            </a:r>
            <a:endParaRPr lang="en-US" sz="2000"/>
          </a:p>
        </p:txBody>
      </p:sp>
      <p:sp>
        <p:nvSpPr>
          <p:cNvPr id="6" name="TextBox 6"/>
          <p:cNvSpPr txBox="1"/>
          <p:nvPr/>
        </p:nvSpPr>
        <p:spPr>
          <a:xfrm>
            <a:off x="822960" y="2788920"/>
            <a:ext cx="4297680" cy="2468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How index.html is split into HTML, CSS, and JavaScript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How run_web_gui.py acts as the local Python bridge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How test windows, analysis tabs, folders, and simulated data flow together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Where real Zaber and FUTEK hardware integration belongs</a:t>
            </a:r>
            <a:endParaRPr lang="en-US" sz="1700"/>
          </a:p>
        </p:txBody>
      </p:sp>
      <p:sp>
        <p:nvSpPr>
          <p:cNvPr id="7" name="Shape 7"/>
          <p:cNvSpPr/>
          <p:nvPr/>
        </p:nvSpPr>
        <p:spPr>
          <a:xfrm>
            <a:off x="6400800" y="2395728"/>
            <a:ext cx="4206240" cy="6400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537960" y="253288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174A7C"/>
                </a:solidFill>
                <a:latin typeface="Aptos"/>
              </a:rPr>
              <a:t>Browser UI -&gt; Python backend -&gt; files + hardware</a:t>
            </a:r>
            <a:endParaRPr lang="en-US" sz="1600"/>
          </a:p>
        </p:txBody>
      </p:sp>
      <p:cxnSp>
        <p:nvCxnSpPr>
          <p:cNvPr id="9" name="Connector 9"/>
          <p:cNvCxnSpPr/>
          <p:nvPr/>
        </p:nvCxnSpPr>
        <p:spPr>
          <a:xfrm>
            <a:off x="6903720" y="3429000"/>
            <a:ext cx="3154680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0" name="Shape 10"/>
          <p:cNvSpPr/>
          <p:nvPr/>
        </p:nvSpPr>
        <p:spPr>
          <a:xfrm>
            <a:off x="6400800" y="3703320"/>
            <a:ext cx="1325880" cy="594360"/>
          </a:xfrm>
          <a:prstGeom prst="roundRect">
            <a:avLst/>
          </a:prstGeom>
          <a:solidFill>
            <a:srgbClr val="3F73E6"/>
          </a:solidFill>
          <a:ln w="12700">
            <a:solidFill>
              <a:srgbClr val="3F73E6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64808" y="38587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FFFFFF"/>
                </a:solidFill>
                <a:latin typeface="Aptos"/>
              </a:rPr>
              <a:t>index.html</a:t>
            </a:r>
            <a:endParaRPr lang="en-US" sz="1200"/>
          </a:p>
        </p:txBody>
      </p:sp>
      <p:sp>
        <p:nvSpPr>
          <p:cNvPr id="12" name="Shape 12"/>
          <p:cNvSpPr/>
          <p:nvPr/>
        </p:nvSpPr>
        <p:spPr>
          <a:xfrm>
            <a:off x="7955279" y="3703320"/>
            <a:ext cx="1325880" cy="594360"/>
          </a:xfrm>
          <a:prstGeom prst="roundRect">
            <a:avLst/>
          </a:prstGeom>
          <a:solidFill>
            <a:srgbClr val="3F8B42"/>
          </a:solidFill>
          <a:ln w="12700">
            <a:solidFill>
              <a:srgbClr val="3F8B42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8019288" y="38587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FFFFFF"/>
                </a:solidFill>
                <a:latin typeface="Aptos"/>
              </a:rPr>
              <a:t>run_web_gui.py</a:t>
            </a:r>
            <a:endParaRPr lang="en-US" sz="1200"/>
          </a:p>
        </p:txBody>
      </p:sp>
      <p:sp>
        <p:nvSpPr>
          <p:cNvPr id="14" name="Shape 14"/>
          <p:cNvSpPr/>
          <p:nvPr/>
        </p:nvSpPr>
        <p:spPr>
          <a:xfrm>
            <a:off x="9646920" y="3703320"/>
            <a:ext cx="1325880" cy="594360"/>
          </a:xfrm>
          <a:prstGeom prst="roundRect">
            <a:avLst/>
          </a:prstGeom>
          <a:solidFill>
            <a:srgbClr val="ED6C02"/>
          </a:solidFill>
          <a:ln w="12700">
            <a:solidFill>
              <a:srgbClr val="ED6C02"/>
            </a:solidFill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9710928" y="38587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FFFFFF"/>
                </a:solidFill>
                <a:latin typeface="Aptos"/>
              </a:rPr>
              <a:t>outputs / devices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1. The app is a browser-based GUI with a local Python backend</a:t>
            </a:r>
            <a:endParaRPr lang="en-US" sz="2800"/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697790"/>
                </a:solidFill>
                <a:latin typeface="Aptos"/>
              </a:rPr>
              <a:t>The browser gives the modern interface; Python keeps access to local files, analysis generation, and hardware-oriented code.</a:t>
            </a:r>
            <a:endParaRPr lang="en-US" sz="1500"/>
          </a:p>
        </p:txBody>
      </p:sp>
      <p:sp>
        <p:nvSpPr>
          <p:cNvPr id="4" name="Shape 4"/>
          <p:cNvSpPr/>
          <p:nvPr/>
        </p:nvSpPr>
        <p:spPr>
          <a:xfrm>
            <a:off x="640080" y="1920240"/>
            <a:ext cx="2468880" cy="868680"/>
          </a:xfrm>
          <a:prstGeom prst="roundRect">
            <a:avLst/>
          </a:prstGeom>
          <a:solidFill>
            <a:srgbClr val="3F73E6"/>
          </a:solidFill>
          <a:ln w="12700">
            <a:solidFill>
              <a:srgbClr val="3F73E6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731519" y="208483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Browser UI</a:t>
            </a:r>
            <a:endParaRPr lang="en-US" sz="1600"/>
          </a:p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index.html</a:t>
            </a:r>
            <a:endParaRPr lang="en-US" sz="1600"/>
          </a:p>
        </p:txBody>
      </p:sp>
      <p:sp>
        <p:nvSpPr>
          <p:cNvPr id="6" name="Shape 6"/>
          <p:cNvSpPr/>
          <p:nvPr/>
        </p:nvSpPr>
        <p:spPr>
          <a:xfrm>
            <a:off x="4114800" y="1920240"/>
            <a:ext cx="2468880" cy="868680"/>
          </a:xfrm>
          <a:prstGeom prst="roundRect">
            <a:avLst/>
          </a:prstGeom>
          <a:solidFill>
            <a:srgbClr val="3F8B42"/>
          </a:solidFill>
          <a:ln w="12700">
            <a:solidFill>
              <a:srgbClr val="3F8B42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4206240" y="208483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Local API server</a:t>
            </a:r>
            <a:endParaRPr lang="en-US" sz="1600"/>
          </a:p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run_web_gui.py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7589520" y="1280160"/>
            <a:ext cx="2468880" cy="868680"/>
          </a:xfrm>
          <a:prstGeom prst="roundRect">
            <a:avLst/>
          </a:prstGeom>
          <a:solidFill>
            <a:srgbClr val="ED6C02"/>
          </a:solidFill>
          <a:ln w="12700">
            <a:solidFill>
              <a:srgbClr val="ED6C02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7680960" y="1444751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Filesystem</a:t>
            </a:r>
            <a:endParaRPr lang="en-US" sz="1600"/>
          </a:p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FUT / CAP / Analysis</a:t>
            </a:r>
            <a:endParaRPr lang="en-US" sz="1600"/>
          </a:p>
        </p:txBody>
      </p:sp>
      <p:sp>
        <p:nvSpPr>
          <p:cNvPr id="10" name="Shape 10"/>
          <p:cNvSpPr/>
          <p:nvPr/>
        </p:nvSpPr>
        <p:spPr>
          <a:xfrm>
            <a:off x="7589520" y="2743200"/>
            <a:ext cx="2468880" cy="868680"/>
          </a:xfrm>
          <a:prstGeom prst="roundRect">
            <a:avLst/>
          </a:prstGeom>
          <a:solidFill>
            <a:srgbClr val="E11955"/>
          </a:solidFill>
          <a:ln w="12700">
            <a:solidFill>
              <a:srgbClr val="E11955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7680960" y="290779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Hardware layer</a:t>
            </a:r>
            <a:endParaRPr lang="en-US" sz="1600"/>
          </a:p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Zaber + FUTEK</a:t>
            </a:r>
            <a:endParaRPr lang="en-US" sz="1600"/>
          </a:p>
        </p:txBody>
      </p:sp>
      <p:cxnSp>
        <p:nvCxnSpPr>
          <p:cNvPr id="12" name="Connector 12"/>
          <p:cNvCxnSpPr/>
          <p:nvPr/>
        </p:nvCxnSpPr>
        <p:spPr>
          <a:xfrm>
            <a:off x="3200400" y="2359152"/>
            <a:ext cx="868680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3" name="TextBox 13"/>
          <p:cNvSpPr txBox="1"/>
          <p:nvPr/>
        </p:nvSpPr>
        <p:spPr>
          <a:xfrm>
            <a:off x="3063240" y="196596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>
                <a:solidFill>
                  <a:srgbClr val="697790"/>
                </a:solidFill>
                <a:latin typeface="Aptos"/>
              </a:rPr>
              <a:t>fetch()</a:t>
            </a:r>
            <a:endParaRPr lang="en-US" sz="1200"/>
          </a:p>
        </p:txBody>
      </p:sp>
      <p:cxnSp>
        <p:nvCxnSpPr>
          <p:cNvPr id="14" name="Connector 14"/>
          <p:cNvCxnSpPr/>
          <p:nvPr/>
        </p:nvCxnSpPr>
        <p:spPr>
          <a:xfrm flipV="1">
            <a:off x="6629400" y="1737360"/>
            <a:ext cx="868679" cy="475488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cxnSp>
        <p:nvCxnSpPr>
          <p:cNvPr id="15" name="Connector 15"/>
          <p:cNvCxnSpPr/>
          <p:nvPr/>
        </p:nvCxnSpPr>
        <p:spPr>
          <a:xfrm>
            <a:off x="6629400" y="2487168"/>
            <a:ext cx="868679" cy="667512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6" name="TextBox 16"/>
          <p:cNvSpPr txBox="1"/>
          <p:nvPr/>
        </p:nvSpPr>
        <p:spPr>
          <a:xfrm>
            <a:off x="685800" y="4160520"/>
            <a:ext cx="10515600" cy="914400"/>
          </a:xfrm>
          <a:prstGeom prst="rect">
            <a:avLst/>
          </a:prstGeom>
          <a:solidFill>
            <a:srgbClr val="EAF2FF"/>
          </a:solidFill>
          <a:ln w="12700">
            <a:solidFill>
              <a:srgbClr val="BBD4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174A7C"/>
                </a:solidFill>
                <a:latin typeface="Aptos"/>
              </a:rPr>
              <a:t>Important mental model: the page can be opened as a file, but API calls only work when run_web_gui.py is running and serving http://127.0.0.1:8765/index.html.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2. File map: what each major file is responsible for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40080" y="1143000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68680" y="1289304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web_preview/index.html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3886200" y="1289304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single-page GUI: markup, styling, modals, graphs, state, and browser actions</a:t>
            </a:r>
            <a:endParaRPr lang="en-US" sz="1500"/>
          </a:p>
        </p:txBody>
      </p:sp>
      <p:sp>
        <p:nvSpPr>
          <p:cNvPr id="6" name="Shape 6"/>
          <p:cNvSpPr/>
          <p:nvPr/>
        </p:nvSpPr>
        <p:spPr>
          <a:xfrm>
            <a:off x="640080" y="1929384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68680" y="207568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web_preview/run_web_gui.py</a:t>
            </a:r>
            <a:endParaRPr lang="en-US" sz="1500"/>
          </a:p>
        </p:txBody>
      </p:sp>
      <p:sp>
        <p:nvSpPr>
          <p:cNvPr id="8" name="TextBox 8"/>
          <p:cNvSpPr txBox="1"/>
          <p:nvPr/>
        </p:nvSpPr>
        <p:spPr>
          <a:xfrm>
            <a:off x="3886200" y="207568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local HTTP server: routes, folder checks, preview data files, analysis outputs</a:t>
            </a:r>
            <a:endParaRPr lang="en-US" sz="1500"/>
          </a:p>
        </p:txBody>
      </p:sp>
      <p:sp>
        <p:nvSpPr>
          <p:cNvPr id="9" name="Shape 9"/>
          <p:cNvSpPr/>
          <p:nvPr/>
        </p:nvSpPr>
        <p:spPr>
          <a:xfrm>
            <a:off x="640080" y="2715768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868680" y="2862072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zaber_cli.py / futek_cli.py</a:t>
            </a:r>
            <a:endParaRPr lang="en-US" sz="1500"/>
          </a:p>
        </p:txBody>
      </p:sp>
      <p:sp>
        <p:nvSpPr>
          <p:cNvPr id="11" name="TextBox 11"/>
          <p:cNvSpPr txBox="1"/>
          <p:nvPr/>
        </p:nvSpPr>
        <p:spPr>
          <a:xfrm>
            <a:off x="3886200" y="2862072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hardware-facing Python modules copied from the original Tkinter project</a:t>
            </a:r>
            <a:endParaRPr lang="en-US" sz="1500"/>
          </a:p>
        </p:txBody>
      </p:sp>
      <p:sp>
        <p:nvSpPr>
          <p:cNvPr id="12" name="Shape 12"/>
          <p:cNvSpPr/>
          <p:nvPr/>
        </p:nvSpPr>
        <p:spPr>
          <a:xfrm>
            <a:off x="640080" y="3502151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868680" y="3648456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Zaber_GUI_Checks_Documentation.xlsx</a:t>
            </a:r>
            <a:endParaRPr lang="en-US" sz="1500"/>
          </a:p>
        </p:txBody>
      </p:sp>
      <p:sp>
        <p:nvSpPr>
          <p:cNvPr id="14" name="TextBox 14"/>
          <p:cNvSpPr txBox="1"/>
          <p:nvPr/>
        </p:nvSpPr>
        <p:spPr>
          <a:xfrm>
            <a:off x="3886200" y="3648456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requirements/check tracker and user story tracker</a:t>
            </a:r>
            <a:endParaRPr lang="en-US" sz="1500"/>
          </a:p>
        </p:txBody>
      </p:sp>
      <p:sp>
        <p:nvSpPr>
          <p:cNvPr id="15" name="Shape 15"/>
          <p:cNvSpPr/>
          <p:nvPr/>
        </p:nvSpPr>
        <p:spPr>
          <a:xfrm>
            <a:off x="640080" y="4288536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868680" y="443484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FUT / CAP / Analysis folders</a:t>
            </a:r>
            <a:endParaRPr lang="en-US" sz="1500"/>
          </a:p>
        </p:txBody>
      </p:sp>
      <p:sp>
        <p:nvSpPr>
          <p:cNvPr id="17" name="TextBox 17"/>
          <p:cNvSpPr txBox="1"/>
          <p:nvPr/>
        </p:nvSpPr>
        <p:spPr>
          <a:xfrm>
            <a:off x="3886200" y="4434840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runtime output structure created when analysis is performed</a:t>
            </a:r>
            <a:endParaRPr lang="en-US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3. index.html: one file, three layers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594360" y="123444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22960" y="15087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3F73E6"/>
                </a:solidFill>
                <a:latin typeface="Aptos"/>
              </a:rPr>
              <a:t>HTML</a:t>
            </a:r>
            <a:endParaRPr lang="en-US" sz="2400"/>
          </a:p>
        </p:txBody>
      </p:sp>
      <p:sp>
        <p:nvSpPr>
          <p:cNvPr id="5" name="TextBox 5"/>
          <p:cNvSpPr txBox="1"/>
          <p:nvPr/>
        </p:nvSpPr>
        <p:spPr>
          <a:xfrm>
            <a:off x="822960" y="1965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697790"/>
                </a:solidFill>
                <a:latin typeface="Aptos"/>
              </a:rPr>
              <a:t>what exists on screen</a:t>
            </a:r>
            <a:endParaRPr lang="en-US" sz="1500"/>
          </a:p>
        </p:txBody>
      </p:sp>
      <p:sp>
        <p:nvSpPr>
          <p:cNvPr id="6" name="TextBox 6"/>
          <p:cNvSpPr txBox="1"/>
          <p:nvPr/>
        </p:nvSpPr>
        <p:spPr>
          <a:xfrm>
            <a:off x="822960" y="2560320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main setup form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dialog windows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buttons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SVG graph containers</a:t>
            </a:r>
            <a:endParaRPr lang="en-US" sz="1500"/>
          </a:p>
        </p:txBody>
      </p:sp>
      <p:sp>
        <p:nvSpPr>
          <p:cNvPr id="7" name="Shape 7"/>
          <p:cNvSpPr/>
          <p:nvPr/>
        </p:nvSpPr>
        <p:spPr>
          <a:xfrm>
            <a:off x="4343400" y="123444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4572000" y="15087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3F73E6"/>
                </a:solidFill>
                <a:latin typeface="Aptos"/>
              </a:rPr>
              <a:t>CSS</a:t>
            </a:r>
            <a:endParaRPr lang="en-US" sz="2400"/>
          </a:p>
        </p:txBody>
      </p:sp>
      <p:sp>
        <p:nvSpPr>
          <p:cNvPr id="9" name="TextBox 9"/>
          <p:cNvSpPr txBox="1"/>
          <p:nvPr/>
        </p:nvSpPr>
        <p:spPr>
          <a:xfrm>
            <a:off x="4572000" y="1965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697790"/>
                </a:solidFill>
                <a:latin typeface="Aptos"/>
              </a:rPr>
              <a:t>how it looks</a:t>
            </a:r>
            <a:endParaRPr lang="en-US" sz="1500"/>
          </a:p>
        </p:txBody>
      </p:sp>
      <p:sp>
        <p:nvSpPr>
          <p:cNvPr id="10" name="TextBox 10"/>
          <p:cNvSpPr txBox="1"/>
          <p:nvPr/>
        </p:nvSpPr>
        <p:spPr>
          <a:xfrm>
            <a:off x="4572000" y="2560320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colors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typography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cards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state pills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modals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graph sizing</a:t>
            </a:r>
            <a:endParaRPr lang="en-US" sz="1500"/>
          </a:p>
        </p:txBody>
      </p:sp>
      <p:sp>
        <p:nvSpPr>
          <p:cNvPr id="11" name="Shape 11"/>
          <p:cNvSpPr/>
          <p:nvPr/>
        </p:nvSpPr>
        <p:spPr>
          <a:xfrm>
            <a:off x="8092440" y="123444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321040" y="15087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3F73E6"/>
                </a:solidFill>
                <a:latin typeface="Aptos"/>
              </a:rPr>
              <a:t>JavaScript</a:t>
            </a:r>
            <a:endParaRPr lang="en-US" sz="2400"/>
          </a:p>
        </p:txBody>
      </p:sp>
      <p:sp>
        <p:nvSpPr>
          <p:cNvPr id="13" name="TextBox 13"/>
          <p:cNvSpPr txBox="1"/>
          <p:nvPr/>
        </p:nvSpPr>
        <p:spPr>
          <a:xfrm>
            <a:off x="8321040" y="1965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697790"/>
                </a:solidFill>
                <a:latin typeface="Aptos"/>
              </a:rPr>
              <a:t>how it behaves</a:t>
            </a:r>
            <a:endParaRPr lang="en-US" sz="1500"/>
          </a:p>
        </p:txBody>
      </p:sp>
      <p:sp>
        <p:nvSpPr>
          <p:cNvPr id="14" name="TextBox 14"/>
          <p:cNvSpPr txBox="1"/>
          <p:nvPr/>
        </p:nvSpPr>
        <p:spPr>
          <a:xfrm>
            <a:off x="8321040" y="2560320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validation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state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fake live data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API calls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analysis tabs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4. HTML structure: the page is mostly sections and dialogs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40080" y="1051560"/>
            <a:ext cx="5394960" cy="448056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49808" y="1161288"/>
            <a:ext cx="5175504" cy="4261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&lt;main&gt;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Basic Settings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Test Configuration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&lt;/main&gt;</a:t>
            </a:r>
            <a:endParaRPr lang="en-US" sz="1500"/>
          </a:p>
          <a:p>
            <a:pPr algn="l"/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id="emTestModal"&gt;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id="emAnalysisModal"&gt;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id="manualTestModal"&gt;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id="cyclicalTestModal"&gt;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id="shearTestModal"&gt;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id="calibrationModal"&gt;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id="existingTestModal"&gt;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6400800" y="12344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 b="1">
                <a:solidFill>
                  <a:srgbClr val="172033"/>
                </a:solidFill>
                <a:latin typeface="Aptos"/>
              </a:rPr>
              <a:t>Why dialogs?</a:t>
            </a:r>
            <a:endParaRPr lang="en-US" sz="2200"/>
          </a:p>
        </p:txBody>
      </p:sp>
      <p:sp>
        <p:nvSpPr>
          <p:cNvPr id="6" name="TextBox 6"/>
          <p:cNvSpPr txBox="1"/>
          <p:nvPr/>
        </p:nvSpPr>
        <p:spPr>
          <a:xfrm>
            <a:off x="6400800" y="1783080"/>
            <a:ext cx="4846320" cy="2560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Each workflow feels like its own window without leaving the page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The main form stays behind the active test or analysis view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Dialog IDs become JavaScript handles for opening, closing, and updating content</a:t>
            </a:r>
            <a:endParaRPr lang="en-US" sz="1700"/>
          </a:p>
        </p:txBody>
      </p:sp>
      <p:sp>
        <p:nvSpPr>
          <p:cNvPr id="7" name="TextBox 7"/>
          <p:cNvSpPr txBox="1"/>
          <p:nvPr/>
        </p:nvSpPr>
        <p:spPr>
          <a:xfrm>
            <a:off x="6400800" y="4572000"/>
            <a:ext cx="475488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BBD4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174A7C"/>
                </a:solidFill>
                <a:latin typeface="Aptos"/>
              </a:rPr>
              <a:t>The UI is still one browser page, but it behaves like a multi-window desktop app.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5. CSS: a small design system for a lab instrument UI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731520" y="1280160"/>
            <a:ext cx="22402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22960" y="148132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400" b="1">
                <a:solidFill>
                  <a:srgbClr val="172033"/>
                </a:solidFill>
                <a:latin typeface="Aptos"/>
              </a:rPr>
              <a:t>cards + blocks</a:t>
            </a:r>
            <a:endParaRPr lang="en-US" sz="1400"/>
          </a:p>
        </p:txBody>
      </p:sp>
      <p:sp>
        <p:nvSpPr>
          <p:cNvPr id="5" name="Shape 5"/>
          <p:cNvSpPr/>
          <p:nvPr/>
        </p:nvSpPr>
        <p:spPr>
          <a:xfrm>
            <a:off x="3337560" y="1280160"/>
            <a:ext cx="2240280" cy="685800"/>
          </a:xfrm>
          <a:prstGeom prst="roundRect">
            <a:avLst/>
          </a:prstGeom>
          <a:solidFill>
            <a:srgbClr val="3F73E6"/>
          </a:solidFill>
          <a:ln w="12700">
            <a:solidFill>
              <a:srgbClr val="3F73E6"/>
            </a:solidFill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3429000" y="148132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400" b="1">
                <a:solidFill>
                  <a:srgbClr val="FFFFFF"/>
                </a:solidFill>
                <a:latin typeface="Aptos"/>
              </a:rPr>
              <a:t>blue primary buttons</a:t>
            </a:r>
            <a:endParaRPr lang="en-US" sz="1400"/>
          </a:p>
        </p:txBody>
      </p:sp>
      <p:sp>
        <p:nvSpPr>
          <p:cNvPr id="7" name="Shape 7"/>
          <p:cNvSpPr/>
          <p:nvPr/>
        </p:nvSpPr>
        <p:spPr>
          <a:xfrm>
            <a:off x="5943600" y="1280160"/>
            <a:ext cx="2240280" cy="685800"/>
          </a:xfrm>
          <a:prstGeom prst="roundRect">
            <a:avLst/>
          </a:prstGeom>
          <a:solidFill>
            <a:srgbClr val="3F8B42"/>
          </a:solidFill>
          <a:ln w="12700">
            <a:solidFill>
              <a:srgbClr val="3F8B42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035040" y="148132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400" b="1">
                <a:solidFill>
                  <a:srgbClr val="FFFFFF"/>
                </a:solidFill>
                <a:latin typeface="Aptos"/>
              </a:rPr>
              <a:t>green start buttons</a:t>
            </a:r>
            <a:endParaRPr lang="en-US" sz="1400"/>
          </a:p>
        </p:txBody>
      </p:sp>
      <p:sp>
        <p:nvSpPr>
          <p:cNvPr id="9" name="Shape 9"/>
          <p:cNvSpPr/>
          <p:nvPr/>
        </p:nvSpPr>
        <p:spPr>
          <a:xfrm>
            <a:off x="8549640" y="1280160"/>
            <a:ext cx="2240280" cy="685800"/>
          </a:xfrm>
          <a:prstGeom prst="roundRect">
            <a:avLst/>
          </a:prstGeom>
          <a:solidFill>
            <a:srgbClr val="C9423A"/>
          </a:solidFill>
          <a:ln w="12700">
            <a:solidFill>
              <a:srgbClr val="C9423A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8641080" y="148132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400" b="1">
                <a:solidFill>
                  <a:srgbClr val="FFFFFF"/>
                </a:solidFill>
                <a:latin typeface="Aptos"/>
              </a:rPr>
              <a:t>red stop / pause states</a:t>
            </a:r>
            <a:endParaRPr lang="en-US" sz="1400"/>
          </a:p>
        </p:txBody>
      </p:sp>
      <p:sp>
        <p:nvSpPr>
          <p:cNvPr id="11" name="TextBox 11"/>
          <p:cNvSpPr txBox="1"/>
          <p:nvPr/>
        </p:nvSpPr>
        <p:spPr>
          <a:xfrm>
            <a:off x="822960" y="2514600"/>
            <a:ext cx="5120640" cy="228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CSS variables define the visual language: navy text, muted notes, blue action color, green start, red stop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Reusable classes style cards, state pills, buttons, tables, dialogs, and graph wrappers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SVG graphs inherit the same spacing, axes, and color conventions</a:t>
            </a:r>
            <a:endParaRPr lang="en-US" sz="1700"/>
          </a:p>
        </p:txBody>
      </p:sp>
      <p:sp>
        <p:nvSpPr>
          <p:cNvPr id="12" name="Shape 12"/>
          <p:cNvSpPr/>
          <p:nvPr/>
        </p:nvSpPr>
        <p:spPr>
          <a:xfrm>
            <a:off x="6583680" y="2423160"/>
            <a:ext cx="4343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6858000" y="2697480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172033"/>
                </a:solidFill>
                <a:latin typeface="Aptos"/>
              </a:rPr>
              <a:t>Useful explanation for your boss</a:t>
            </a:r>
            <a:endParaRPr lang="en-US" sz="1800"/>
          </a:p>
        </p:txBody>
      </p:sp>
      <p:sp>
        <p:nvSpPr>
          <p:cNvPr id="14" name="TextBox 14"/>
          <p:cNvSpPr txBox="1"/>
          <p:nvPr/>
        </p:nvSpPr>
        <p:spPr>
          <a:xfrm>
            <a:off x="6858000" y="3154680"/>
            <a:ext cx="3749039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The CSS is not just decoration. It makes test state readable at a glance: ready, running, stopped, warning, analysis-ready.</a:t>
            </a:r>
            <a:endParaRPr lang="en-US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6. JavaScript state: the browser remembers the active workflow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85800" y="1051560"/>
            <a:ext cx="10789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14400" y="1207007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Setup state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2880360" y="1207007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settingsVerified, current sensor ID, computed test folder, existing-test action</a:t>
            </a:r>
            <a:endParaRPr lang="en-US" sz="1500"/>
          </a:p>
        </p:txBody>
      </p:sp>
      <p:sp>
        <p:nvSpPr>
          <p:cNvPr id="6" name="Shape 6"/>
          <p:cNvSpPr/>
          <p:nvPr/>
        </p:nvSpPr>
        <p:spPr>
          <a:xfrm>
            <a:off x="685800" y="1764792"/>
            <a:ext cx="10789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192024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EM state</a:t>
            </a:r>
            <a:endParaRPr lang="en-US" sz="1500"/>
          </a:p>
        </p:txBody>
      </p:sp>
      <p:sp>
        <p:nvSpPr>
          <p:cNvPr id="8" name="TextBox 8"/>
          <p:cNvSpPr txBox="1"/>
          <p:nvPr/>
        </p:nvSpPr>
        <p:spPr>
          <a:xfrm>
            <a:off x="2880360" y="1920240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current run, completed runs, EM readings, timers, status table</a:t>
            </a:r>
            <a:endParaRPr lang="en-US" sz="1500"/>
          </a:p>
        </p:txBody>
      </p:sp>
      <p:sp>
        <p:nvSpPr>
          <p:cNvPr id="9" name="Shape 9"/>
          <p:cNvSpPr/>
          <p:nvPr/>
        </p:nvSpPr>
        <p:spPr>
          <a:xfrm>
            <a:off x="685800" y="2478024"/>
            <a:ext cx="10789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14400" y="263347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Shear state</a:t>
            </a:r>
            <a:endParaRPr lang="en-US" sz="1500"/>
          </a:p>
        </p:txBody>
      </p:sp>
      <p:sp>
        <p:nvSpPr>
          <p:cNvPr id="11" name="TextBox 11"/>
          <p:cNvSpPr txBox="1"/>
          <p:nvPr/>
        </p:nvSpPr>
        <p:spPr>
          <a:xfrm>
            <a:off x="2880360" y="2633472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latest run data, graph timer, Stop state, analysis unlock</a:t>
            </a:r>
            <a:endParaRPr lang="en-US" sz="1500"/>
          </a:p>
        </p:txBody>
      </p:sp>
      <p:sp>
        <p:nvSpPr>
          <p:cNvPr id="12" name="Shape 12"/>
          <p:cNvSpPr/>
          <p:nvPr/>
        </p:nvSpPr>
        <p:spPr>
          <a:xfrm>
            <a:off x="685800" y="3191256"/>
            <a:ext cx="10789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914400" y="334670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Manual state</a:t>
            </a:r>
            <a:endParaRPr lang="en-US" sz="1500"/>
          </a:p>
        </p:txBody>
      </p:sp>
      <p:sp>
        <p:nvSpPr>
          <p:cNvPr id="14" name="TextBox 14"/>
          <p:cNvSpPr txBox="1"/>
          <p:nvPr/>
        </p:nvSpPr>
        <p:spPr>
          <a:xfrm>
            <a:off x="2880360" y="3346704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distance/force mode, position, drag target, movement lockout, graph data</a:t>
            </a:r>
            <a:endParaRPr lang="en-US" sz="1500"/>
          </a:p>
        </p:txBody>
      </p:sp>
      <p:sp>
        <p:nvSpPr>
          <p:cNvPr id="15" name="Shape 15"/>
          <p:cNvSpPr/>
          <p:nvPr/>
        </p:nvSpPr>
        <p:spPr>
          <a:xfrm>
            <a:off x="685800" y="3904488"/>
            <a:ext cx="10789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914400" y="4059936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Cyclical state</a:t>
            </a:r>
            <a:endParaRPr lang="en-US" sz="1500"/>
          </a:p>
        </p:txBody>
      </p:sp>
      <p:sp>
        <p:nvSpPr>
          <p:cNvPr id="17" name="TextBox 17"/>
          <p:cNvSpPr txBox="1"/>
          <p:nvPr/>
        </p:nvSpPr>
        <p:spPr>
          <a:xfrm>
            <a:off x="2880360" y="4059936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waveform settings, force bounds, cycle count, live curve timer</a:t>
            </a:r>
            <a:endParaRPr lang="en-US" sz="1500"/>
          </a:p>
        </p:txBody>
      </p:sp>
      <p:sp>
        <p:nvSpPr>
          <p:cNvPr id="18" name="TextBox 18"/>
          <p:cNvSpPr txBox="1"/>
          <p:nvPr/>
        </p:nvSpPr>
        <p:spPr>
          <a:xfrm>
            <a:off x="731520" y="5074920"/>
            <a:ext cx="1042416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BBD4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174A7C"/>
                </a:solidFill>
                <a:latin typeface="Aptos"/>
              </a:rPr>
              <a:t>Most testing behavior is event-driven: click handlers update state, redraw SVG graphs, and call Python only when local files/folders are needed.</a:t>
            </a:r>
            <a:endParaRPr lang="en-US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7. Frontend workflow: from setup to analysis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502920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576072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Basic Settings</a:t>
            </a:r>
            <a:endParaRPr lang="en-US" sz="1200"/>
          </a:p>
        </p:txBody>
      </p:sp>
      <p:cxnSp>
        <p:nvCxnSpPr>
          <p:cNvPr id="5" name="Connector 5"/>
          <p:cNvCxnSpPr/>
          <p:nvPr/>
        </p:nvCxnSpPr>
        <p:spPr>
          <a:xfrm>
            <a:off x="192938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6" name="Shape 6"/>
          <p:cNvSpPr/>
          <p:nvPr/>
        </p:nvSpPr>
        <p:spPr>
          <a:xfrm>
            <a:off x="2194560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2267712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Verify</a:t>
            </a:r>
            <a:endParaRPr lang="en-US" sz="1200"/>
          </a:p>
        </p:txBody>
      </p:sp>
      <p:cxnSp>
        <p:nvCxnSpPr>
          <p:cNvPr id="8" name="Connector 8"/>
          <p:cNvCxnSpPr/>
          <p:nvPr/>
        </p:nvCxnSpPr>
        <p:spPr>
          <a:xfrm>
            <a:off x="362102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9" name="Shape 9"/>
          <p:cNvSpPr/>
          <p:nvPr/>
        </p:nvSpPr>
        <p:spPr>
          <a:xfrm>
            <a:off x="3886200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3959352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Test Configuration</a:t>
            </a:r>
            <a:endParaRPr lang="en-US" sz="1200"/>
          </a:p>
        </p:txBody>
      </p:sp>
      <p:cxnSp>
        <p:nvCxnSpPr>
          <p:cNvPr id="11" name="Connector 11"/>
          <p:cNvCxnSpPr/>
          <p:nvPr/>
        </p:nvCxnSpPr>
        <p:spPr>
          <a:xfrm>
            <a:off x="531266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2" name="Shape 12"/>
          <p:cNvSpPr/>
          <p:nvPr/>
        </p:nvSpPr>
        <p:spPr>
          <a:xfrm>
            <a:off x="5577840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5650992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Begin Test</a:t>
            </a:r>
            <a:endParaRPr lang="en-US" sz="1200"/>
          </a:p>
        </p:txBody>
      </p:sp>
      <p:cxnSp>
        <p:nvCxnSpPr>
          <p:cNvPr id="14" name="Connector 14"/>
          <p:cNvCxnSpPr/>
          <p:nvPr/>
        </p:nvCxnSpPr>
        <p:spPr>
          <a:xfrm>
            <a:off x="700430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5" name="Shape 15"/>
          <p:cNvSpPr/>
          <p:nvPr/>
        </p:nvSpPr>
        <p:spPr>
          <a:xfrm>
            <a:off x="7269479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342631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Testing Window</a:t>
            </a:r>
            <a:endParaRPr lang="en-US" sz="1200"/>
          </a:p>
        </p:txBody>
      </p:sp>
      <p:cxnSp>
        <p:nvCxnSpPr>
          <p:cNvPr id="17" name="Connector 17"/>
          <p:cNvCxnSpPr/>
          <p:nvPr/>
        </p:nvCxnSpPr>
        <p:spPr>
          <a:xfrm>
            <a:off x="869594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8" name="Shape 18"/>
          <p:cNvSpPr/>
          <p:nvPr/>
        </p:nvSpPr>
        <p:spPr>
          <a:xfrm>
            <a:off x="8961119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9034272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Perform Analysis</a:t>
            </a:r>
            <a:endParaRPr lang="en-US" sz="1200"/>
          </a:p>
        </p:txBody>
      </p:sp>
      <p:cxnSp>
        <p:nvCxnSpPr>
          <p:cNvPr id="20" name="Connector 20"/>
          <p:cNvCxnSpPr/>
          <p:nvPr/>
        </p:nvCxnSpPr>
        <p:spPr>
          <a:xfrm>
            <a:off x="1038758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21" name="Shape 21"/>
          <p:cNvSpPr/>
          <p:nvPr/>
        </p:nvSpPr>
        <p:spPr>
          <a:xfrm>
            <a:off x="10652759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10725911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Analysis Tabs</a:t>
            </a:r>
            <a:endParaRPr lang="en-US" sz="1200"/>
          </a:p>
        </p:txBody>
      </p:sp>
      <p:sp>
        <p:nvSpPr>
          <p:cNvPr id="23" name="TextBox 23"/>
          <p:cNvSpPr txBox="1"/>
          <p:nvPr/>
        </p:nvSpPr>
        <p:spPr>
          <a:xfrm>
            <a:off x="777240" y="3154680"/>
            <a:ext cx="10332720" cy="1554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>
                <a:solidFill>
                  <a:srgbClr val="38445A"/>
                </a:solidFill>
                <a:latin typeface="Aptos"/>
              </a:rPr>
              <a:t>- Verify checks basic setup and reveals the test configuration section</a:t>
            </a:r>
            <a:endParaRPr lang="en-US" sz="1800"/>
          </a:p>
          <a:p>
            <a:pPr algn="l"/>
            <a:r>
              <a:rPr lang="en-US" sz="1800">
                <a:solidFill>
                  <a:srgbClr val="38445A"/>
                </a:solidFill>
                <a:latin typeface="Aptos"/>
              </a:rPr>
              <a:t>- Begin Test validates the selected workflow and opens the matching modal</a:t>
            </a:r>
            <a:endParaRPr lang="en-US" sz="1800"/>
          </a:p>
          <a:p>
            <a:pPr algn="l"/>
            <a:r>
              <a:rPr lang="en-US" sz="1800">
                <a:solidFill>
                  <a:srgbClr val="38445A"/>
                </a:solidFill>
                <a:latin typeface="Aptos"/>
              </a:rPr>
              <a:t>- Perform Analysis runs a progress state, calls Python, then fills tabbed plots/tables</a:t>
            </a:r>
            <a:endParaRPr 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8. Folder and existing-test logic protects saved data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40080" y="1097280"/>
            <a:ext cx="5120640" cy="201168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49808" y="1207007"/>
            <a:ext cx="4901183" cy="17922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Google Drive /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SensorID /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  05 26 26_325mm2_EM /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    FUT /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    CAP /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    Analysis outputs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  05 26 26_325mm2_EM_2 /</a:t>
            </a:r>
            <a:endParaRPr lang="en-US" sz="1600"/>
          </a:p>
        </p:txBody>
      </p:sp>
      <p:sp>
        <p:nvSpPr>
          <p:cNvPr id="5" name="TextBox 5"/>
          <p:cNvSpPr txBox="1"/>
          <p:nvPr/>
        </p:nvSpPr>
        <p:spPr>
          <a:xfrm>
            <a:off x="6217920" y="1097280"/>
            <a:ext cx="5212080" cy="2011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The browser computes the intended test path from Sensor ID, date, surface area, and test type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Python checks the filesystem for an existing matching folder, including versioned folders like _2 or _3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Existing Test Found offers version, redo, overwrite, or cancel</a:t>
            </a:r>
            <a:endParaRPr lang="en-US" sz="1600"/>
          </a:p>
        </p:txBody>
      </p:sp>
      <p:sp>
        <p:nvSpPr>
          <p:cNvPr id="6" name="Shape 6"/>
          <p:cNvSpPr/>
          <p:nvPr/>
        </p:nvSpPr>
        <p:spPr>
          <a:xfrm>
            <a:off x="685800" y="3886200"/>
            <a:ext cx="10561320" cy="68580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F4C86A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4087368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7A4E00"/>
                </a:solidFill>
                <a:latin typeface="Aptos"/>
              </a:rPr>
              <a:t>Key rule: data folders are intended to be created/saved at analysis time, while the UI can still preview the path earlier.</a:t>
            </a:r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9. Test workflows: four modes share a pattern but differ in controls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502920" y="1280160"/>
            <a:ext cx="2697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04088" y="157276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900" b="1">
                <a:solidFill>
                  <a:srgbClr val="3F73E6"/>
                </a:solidFill>
                <a:latin typeface="Aptos"/>
              </a:rPr>
              <a:t>EM Test</a:t>
            </a:r>
            <a:endParaRPr lang="en-US" sz="1900"/>
          </a:p>
        </p:txBody>
      </p:sp>
      <p:sp>
        <p:nvSpPr>
          <p:cNvPr id="5" name="TextBox 5"/>
          <p:cNvSpPr txBox="1"/>
          <p:nvPr/>
        </p:nvSpPr>
        <p:spPr>
          <a:xfrm>
            <a:off x="704088" y="21488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run table + Force vs Time graph; runs pause between cycles; analysis after completion</a:t>
            </a:r>
            <a:endParaRPr lang="en-US" sz="1600"/>
          </a:p>
        </p:txBody>
      </p:sp>
      <p:sp>
        <p:nvSpPr>
          <p:cNvPr id="6" name="Shape 6"/>
          <p:cNvSpPr/>
          <p:nvPr/>
        </p:nvSpPr>
        <p:spPr>
          <a:xfrm>
            <a:off x="3383280" y="1280160"/>
            <a:ext cx="2697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3584448" y="157276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900" b="1">
                <a:solidFill>
                  <a:srgbClr val="3F73E6"/>
                </a:solidFill>
                <a:latin typeface="Aptos"/>
              </a:rPr>
              <a:t>Shear Test</a:t>
            </a:r>
            <a:endParaRPr lang="en-US" sz="1900"/>
          </a:p>
        </p:txBody>
      </p:sp>
      <p:sp>
        <p:nvSpPr>
          <p:cNvPr id="8" name="TextBox 8"/>
          <p:cNvSpPr txBox="1"/>
          <p:nvPr/>
        </p:nvSpPr>
        <p:spPr>
          <a:xfrm>
            <a:off x="3584448" y="21488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load-cell style graph; Start then Stop; analysis uses latest valid run</a:t>
            </a:r>
            <a:endParaRPr lang="en-US" sz="1600"/>
          </a:p>
        </p:txBody>
      </p:sp>
      <p:sp>
        <p:nvSpPr>
          <p:cNvPr id="9" name="Shape 9"/>
          <p:cNvSpPr/>
          <p:nvPr/>
        </p:nvSpPr>
        <p:spPr>
          <a:xfrm>
            <a:off x="6263640" y="1280160"/>
            <a:ext cx="2697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64807" y="157276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900" b="1">
                <a:solidFill>
                  <a:srgbClr val="3F73E6"/>
                </a:solidFill>
                <a:latin typeface="Aptos"/>
              </a:rPr>
              <a:t>Manual Test</a:t>
            </a:r>
            <a:endParaRPr lang="en-US" sz="1900"/>
          </a:p>
        </p:txBody>
      </p:sp>
      <p:sp>
        <p:nvSpPr>
          <p:cNvPr id="11" name="TextBox 11"/>
          <p:cNvSpPr txBox="1"/>
          <p:nvPr/>
        </p:nvSpPr>
        <p:spPr>
          <a:xfrm>
            <a:off x="6464807" y="21488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distance or force control; drag confirm; three live relationship graphs</a:t>
            </a:r>
            <a:endParaRPr lang="en-US" sz="1600"/>
          </a:p>
        </p:txBody>
      </p:sp>
      <p:sp>
        <p:nvSpPr>
          <p:cNvPr id="12" name="Shape 12"/>
          <p:cNvSpPr/>
          <p:nvPr/>
        </p:nvSpPr>
        <p:spPr>
          <a:xfrm>
            <a:off x="9144000" y="1280160"/>
            <a:ext cx="2697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9345168" y="157276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900" b="1">
                <a:solidFill>
                  <a:srgbClr val="3F73E6"/>
                </a:solidFill>
                <a:latin typeface="Aptos"/>
              </a:rPr>
              <a:t>Cyclical Test</a:t>
            </a:r>
            <a:endParaRPr lang="en-US" sz="1900"/>
          </a:p>
        </p:txBody>
      </p:sp>
      <p:sp>
        <p:nvSpPr>
          <p:cNvPr id="14" name="TextBox 14"/>
          <p:cNvSpPr txBox="1"/>
          <p:nvPr/>
        </p:nvSpPr>
        <p:spPr>
          <a:xfrm>
            <a:off x="9345168" y="21488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sine/square fatigue cycling; force bounds and cycle estimate; Stop locks/unlocks state</a:t>
            </a:r>
            <a:endParaRPr 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10. Graphs are custom SVG, not a charting library</a:t>
            </a:r>
            <a:endParaRPr lang="en-US" sz="2800"/>
          </a:p>
        </p:txBody>
      </p:sp>
      <p:sp>
        <p:nvSpPr>
          <p:cNvPr id="3" name="TextBox 3"/>
          <p:cNvSpPr txBox="1"/>
          <p:nvPr/>
        </p:nvSpPr>
        <p:spPr>
          <a:xfrm>
            <a:off x="685800" y="1097280"/>
            <a:ext cx="5303520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SVG elements are generated by JavaScript strings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Helpers convert data values into x/y coordinates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Axes, tick marks, paths, markers, and hover points are drawn manually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This makes the preview lightweight and easy to package</a:t>
            </a:r>
            <a:endParaRPr lang="en-US" sz="1700"/>
          </a:p>
        </p:txBody>
      </p:sp>
      <p:sp>
        <p:nvSpPr>
          <p:cNvPr id="4" name="Shape 4"/>
          <p:cNvSpPr/>
          <p:nvPr/>
        </p:nvSpPr>
        <p:spPr>
          <a:xfrm>
            <a:off x="6400800" y="1005840"/>
            <a:ext cx="44805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cxnSp>
        <p:nvCxnSpPr>
          <p:cNvPr id="5" name="Connector 5"/>
          <p:cNvCxnSpPr/>
          <p:nvPr/>
        </p:nvCxnSpPr>
        <p:spPr>
          <a:xfrm>
            <a:off x="6720840" y="1417320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6" name="Connector 6"/>
          <p:cNvCxnSpPr/>
          <p:nvPr/>
        </p:nvCxnSpPr>
        <p:spPr>
          <a:xfrm>
            <a:off x="6720840" y="1801368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7" name="Connector 7"/>
          <p:cNvCxnSpPr/>
          <p:nvPr/>
        </p:nvCxnSpPr>
        <p:spPr>
          <a:xfrm>
            <a:off x="6720840" y="2185416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6720840" y="2569464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6720840" y="2953512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0" name="Connector 10"/>
          <p:cNvCxnSpPr/>
          <p:nvPr/>
        </p:nvCxnSpPr>
        <p:spPr>
          <a:xfrm>
            <a:off x="6720840" y="3337560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1" name="Connector 11"/>
          <p:cNvCxnSpPr/>
          <p:nvPr/>
        </p:nvCxnSpPr>
        <p:spPr>
          <a:xfrm>
            <a:off x="6720840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2" name="Connector 12"/>
          <p:cNvCxnSpPr/>
          <p:nvPr/>
        </p:nvCxnSpPr>
        <p:spPr>
          <a:xfrm>
            <a:off x="7452360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3" name="Connector 13"/>
          <p:cNvCxnSpPr/>
          <p:nvPr/>
        </p:nvCxnSpPr>
        <p:spPr>
          <a:xfrm>
            <a:off x="8183879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4" name="Connector 14"/>
          <p:cNvCxnSpPr/>
          <p:nvPr/>
        </p:nvCxnSpPr>
        <p:spPr>
          <a:xfrm>
            <a:off x="8915400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5" name="Connector 15"/>
          <p:cNvCxnSpPr/>
          <p:nvPr/>
        </p:nvCxnSpPr>
        <p:spPr>
          <a:xfrm>
            <a:off x="9646920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6" name="Connector 16"/>
          <p:cNvCxnSpPr/>
          <p:nvPr/>
        </p:nvCxnSpPr>
        <p:spPr>
          <a:xfrm>
            <a:off x="10378440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7" name="Connector 17"/>
          <p:cNvCxnSpPr/>
          <p:nvPr/>
        </p:nvCxnSpPr>
        <p:spPr>
          <a:xfrm>
            <a:off x="6720840" y="3337560"/>
            <a:ext cx="3840480" cy="9144"/>
          </a:xfrm>
          <a:prstGeom prst="line">
            <a:avLst/>
          </a:prstGeom>
          <a:ln w="25400">
            <a:solidFill>
              <a:srgbClr val="172033"/>
            </a:solidFill>
          </a:ln>
        </p:spPr>
      </p:cxnSp>
      <p:cxnSp>
        <p:nvCxnSpPr>
          <p:cNvPr id="18" name="Connector 18"/>
          <p:cNvCxnSpPr/>
          <p:nvPr/>
        </p:nvCxnSpPr>
        <p:spPr>
          <a:xfrm>
            <a:off x="6720840" y="1417320"/>
            <a:ext cx="9144" cy="1920239"/>
          </a:xfrm>
          <a:prstGeom prst="line">
            <a:avLst/>
          </a:prstGeom>
          <a:ln w="25400">
            <a:solidFill>
              <a:srgbClr val="172033"/>
            </a:solidFill>
          </a:ln>
        </p:spPr>
      </p:cxnSp>
      <p:cxnSp>
        <p:nvCxnSpPr>
          <p:cNvPr id="19" name="Connector 19"/>
          <p:cNvCxnSpPr/>
          <p:nvPr/>
        </p:nvCxnSpPr>
        <p:spPr>
          <a:xfrm flipV="1">
            <a:off x="6812280" y="2743200"/>
            <a:ext cx="640080" cy="274319"/>
          </a:xfrm>
          <a:prstGeom prst="line">
            <a:avLst/>
          </a:prstGeom>
          <a:ln w="38100">
            <a:solidFill>
              <a:srgbClr val="3F73E6"/>
            </a:solidFill>
          </a:ln>
        </p:spPr>
      </p:cxnSp>
      <p:cxnSp>
        <p:nvCxnSpPr>
          <p:cNvPr id="20" name="Connector 20"/>
          <p:cNvCxnSpPr/>
          <p:nvPr/>
        </p:nvCxnSpPr>
        <p:spPr>
          <a:xfrm flipV="1">
            <a:off x="7452360" y="2377440"/>
            <a:ext cx="594360" cy="365759"/>
          </a:xfrm>
          <a:prstGeom prst="line">
            <a:avLst/>
          </a:prstGeom>
          <a:ln w="38100">
            <a:solidFill>
              <a:srgbClr val="3F73E6"/>
            </a:solidFill>
          </a:ln>
        </p:spPr>
      </p:cxnSp>
      <p:cxnSp>
        <p:nvCxnSpPr>
          <p:cNvPr id="21" name="Connector 21"/>
          <p:cNvCxnSpPr/>
          <p:nvPr/>
        </p:nvCxnSpPr>
        <p:spPr>
          <a:xfrm flipV="1">
            <a:off x="8046720" y="1828800"/>
            <a:ext cx="731519" cy="548640"/>
          </a:xfrm>
          <a:prstGeom prst="line">
            <a:avLst/>
          </a:prstGeom>
          <a:ln w="38100">
            <a:solidFill>
              <a:srgbClr val="3F73E6"/>
            </a:solidFill>
          </a:ln>
        </p:spPr>
      </p:cxnSp>
      <p:cxnSp>
        <p:nvCxnSpPr>
          <p:cNvPr id="22" name="Connector 22"/>
          <p:cNvCxnSpPr/>
          <p:nvPr/>
        </p:nvCxnSpPr>
        <p:spPr>
          <a:xfrm flipV="1">
            <a:off x="8778240" y="1600200"/>
            <a:ext cx="1097280" cy="228600"/>
          </a:xfrm>
          <a:prstGeom prst="line">
            <a:avLst/>
          </a:prstGeom>
          <a:ln w="38100">
            <a:solidFill>
              <a:srgbClr val="3F73E6"/>
            </a:solidFill>
          </a:ln>
        </p:spPr>
      </p:cxnSp>
      <p:sp>
        <p:nvSpPr>
          <p:cNvPr id="23" name="TextBox 23"/>
          <p:cNvSpPr txBox="1"/>
          <p:nvPr/>
        </p:nvSpPr>
        <p:spPr>
          <a:xfrm>
            <a:off x="6720840" y="36576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300">
                <a:solidFill>
                  <a:srgbClr val="697790"/>
                </a:solidFill>
                <a:latin typeface="Aptos"/>
              </a:rPr>
              <a:t>same idea as drawEmForceGraph / drawShearGraph</a:t>
            </a:r>
            <a:endParaRPr lang="en-US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11. Analysis windows turn saved or simulated data into reviewable outputs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40080" y="1234440"/>
            <a:ext cx="32004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68680" y="1554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3F73E6"/>
                </a:solidFill>
                <a:latin typeface="Aptos"/>
              </a:rPr>
              <a:t>EM Analysis</a:t>
            </a:r>
            <a:endParaRPr lang="en-US" sz="2000"/>
          </a:p>
        </p:txBody>
      </p:sp>
      <p:sp>
        <p:nvSpPr>
          <p:cNvPr id="5" name="TextBox 5"/>
          <p:cNvSpPr txBox="1"/>
          <p:nvPr/>
        </p:nvSpPr>
        <p:spPr>
          <a:xfrm>
            <a:off x="868680" y="2057400"/>
            <a:ext cx="27432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Raw Signals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Pressure Sensitivity Curves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All CH/Runs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Summary Stats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Report Output</a:t>
            </a:r>
            <a:endParaRPr lang="en-US" sz="1600"/>
          </a:p>
        </p:txBody>
      </p:sp>
      <p:sp>
        <p:nvSpPr>
          <p:cNvPr id="6" name="Shape 6"/>
          <p:cNvSpPr/>
          <p:nvPr/>
        </p:nvSpPr>
        <p:spPr>
          <a:xfrm>
            <a:off x="4343400" y="1234440"/>
            <a:ext cx="32004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4572000" y="1554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3F73E6"/>
                </a:solidFill>
                <a:latin typeface="Aptos"/>
              </a:rPr>
              <a:t>Shear Analysis</a:t>
            </a:r>
            <a:endParaRPr lang="en-US" sz="2000"/>
          </a:p>
        </p:txBody>
      </p:sp>
      <p:sp>
        <p:nvSpPr>
          <p:cNvPr id="8" name="TextBox 8"/>
          <p:cNvSpPr txBox="1"/>
          <p:nvPr/>
        </p:nvSpPr>
        <p:spPr>
          <a:xfrm>
            <a:off x="4572000" y="2057400"/>
            <a:ext cx="27432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Plot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Failure Checks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Report Output</a:t>
            </a:r>
            <a:endParaRPr lang="en-US" sz="1600"/>
          </a:p>
        </p:txBody>
      </p:sp>
      <p:sp>
        <p:nvSpPr>
          <p:cNvPr id="9" name="Shape 9"/>
          <p:cNvSpPr/>
          <p:nvPr/>
        </p:nvSpPr>
        <p:spPr>
          <a:xfrm>
            <a:off x="7543800" y="1234440"/>
            <a:ext cx="32004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7772400" y="1554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3F73E6"/>
                </a:solidFill>
                <a:latin typeface="Aptos"/>
              </a:rPr>
              <a:t>Manual Analysis</a:t>
            </a:r>
            <a:endParaRPr lang="en-US" sz="2000"/>
          </a:p>
        </p:txBody>
      </p:sp>
      <p:sp>
        <p:nvSpPr>
          <p:cNvPr id="11" name="TextBox 11"/>
          <p:cNvSpPr txBox="1"/>
          <p:nvPr/>
        </p:nvSpPr>
        <p:spPr>
          <a:xfrm>
            <a:off x="7772400" y="2057400"/>
            <a:ext cx="27432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Capacitance vs Force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Force vs Time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Capacitance vs Time</a:t>
            </a:r>
            <a:endParaRPr lang="en-US" sz="1600"/>
          </a:p>
        </p:txBody>
      </p:sp>
      <p:sp>
        <p:nvSpPr>
          <p:cNvPr id="12" name="TextBox 12"/>
          <p:cNvSpPr txBox="1"/>
          <p:nvPr/>
        </p:nvSpPr>
        <p:spPr>
          <a:xfrm>
            <a:off x="822960" y="553212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4A7C"/>
                </a:solidFill>
                <a:latin typeface="Aptos"/>
              </a:rPr>
              <a:t>The Report Output tabs are built for copy/paste into tracking spreadsheets: headers are visible; copy buttons can copy just the values row.</a:t>
            </a:r>
            <a:endParaRPr lang="en-US"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12. run_web_gui.py: the local bridge between browser and Mac</a:t>
            </a:r>
            <a:endParaRPr lang="en-US" sz="2800"/>
          </a:p>
        </p:txBody>
      </p:sp>
      <p:sp>
        <p:nvSpPr>
          <p:cNvPr id="3" name="TextBox 3"/>
          <p:cNvSpPr txBox="1"/>
          <p:nvPr/>
        </p:nvSpPr>
        <p:spPr>
          <a:xfrm>
            <a:off x="685800" y="1051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697790"/>
                </a:solidFill>
                <a:latin typeface="Aptos"/>
              </a:rPr>
              <a:t>The backend uses Python’s built-in HTTP server, so the UI can stay simple and local.</a:t>
            </a:r>
            <a:endParaRPr lang="en-US" sz="1600"/>
          </a:p>
        </p:txBody>
      </p:sp>
      <p:sp>
        <p:nvSpPr>
          <p:cNvPr id="4" name="Shape 4"/>
          <p:cNvSpPr/>
          <p:nvPr/>
        </p:nvSpPr>
        <p:spPr>
          <a:xfrm>
            <a:off x="685800" y="1691640"/>
            <a:ext cx="10789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14400" y="18470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3F8B42"/>
                </a:solidFill>
                <a:latin typeface="Aptos"/>
              </a:rPr>
              <a:t>HardwareState</a:t>
            </a:r>
            <a:endParaRPr lang="en-US" sz="1600"/>
          </a:p>
        </p:txBody>
      </p:sp>
      <p:sp>
        <p:nvSpPr>
          <p:cNvPr id="6" name="TextBox 6"/>
          <p:cNvSpPr txBox="1"/>
          <p:nvPr/>
        </p:nvSpPr>
        <p:spPr>
          <a:xfrm>
            <a:off x="3063240" y="1847088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stores Zaber/FUTEK connection state and preview mode flags</a:t>
            </a:r>
            <a:endParaRPr lang="en-US" sz="1600"/>
          </a:p>
        </p:txBody>
      </p:sp>
      <p:sp>
        <p:nvSpPr>
          <p:cNvPr id="7" name="Shape 7"/>
          <p:cNvSpPr/>
          <p:nvPr/>
        </p:nvSpPr>
        <p:spPr>
          <a:xfrm>
            <a:off x="685800" y="2478024"/>
            <a:ext cx="10789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14400" y="263347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3F8B42"/>
                </a:solidFill>
                <a:latin typeface="Aptos"/>
              </a:rPr>
              <a:t>SavedTestAnalyzer</a:t>
            </a:r>
            <a:endParaRPr lang="en-US" sz="1600"/>
          </a:p>
        </p:txBody>
      </p:sp>
      <p:sp>
        <p:nvSpPr>
          <p:cNvPr id="9" name="TextBox 9"/>
          <p:cNvSpPr txBox="1"/>
          <p:nvPr/>
        </p:nvSpPr>
        <p:spPr>
          <a:xfrm>
            <a:off x="3063240" y="2633472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generates SVG plots, TSV tables, JSON summaries, and report outputs</a:t>
            </a:r>
            <a:endParaRPr lang="en-US" sz="1600"/>
          </a:p>
        </p:txBody>
      </p:sp>
      <p:sp>
        <p:nvSpPr>
          <p:cNvPr id="10" name="Shape 10"/>
          <p:cNvSpPr/>
          <p:nvPr/>
        </p:nvSpPr>
        <p:spPr>
          <a:xfrm>
            <a:off x="685800" y="3264408"/>
            <a:ext cx="10789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914400" y="341985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3F8B42"/>
                </a:solidFill>
                <a:latin typeface="Aptos"/>
              </a:rPr>
              <a:t>Handler</a:t>
            </a:r>
            <a:endParaRPr lang="en-US" sz="1600"/>
          </a:p>
        </p:txBody>
      </p:sp>
      <p:sp>
        <p:nvSpPr>
          <p:cNvPr id="12" name="TextBox 12"/>
          <p:cNvSpPr txBox="1"/>
          <p:nvPr/>
        </p:nvSpPr>
        <p:spPr>
          <a:xfrm>
            <a:off x="3063240" y="3419856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receives browser API calls and dispatches routes</a:t>
            </a:r>
            <a:endParaRPr lang="en-US" sz="1600"/>
          </a:p>
        </p:txBody>
      </p:sp>
      <p:sp>
        <p:nvSpPr>
          <p:cNvPr id="13" name="Shape 13"/>
          <p:cNvSpPr/>
          <p:nvPr/>
        </p:nvSpPr>
        <p:spPr>
          <a:xfrm>
            <a:off x="685800" y="4050791"/>
            <a:ext cx="10789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914400" y="420624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3F8B42"/>
                </a:solidFill>
                <a:latin typeface="Aptos"/>
              </a:rPr>
              <a:t>main()</a:t>
            </a:r>
            <a:endParaRPr lang="en-US" sz="1600"/>
          </a:p>
        </p:txBody>
      </p:sp>
      <p:sp>
        <p:nvSpPr>
          <p:cNvPr id="15" name="TextBox 15"/>
          <p:cNvSpPr txBox="1"/>
          <p:nvPr/>
        </p:nvSpPr>
        <p:spPr>
          <a:xfrm>
            <a:off x="3063240" y="4206240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starts the server on port 8765 or a free backup port</a:t>
            </a:r>
            <a:endParaRPr lang="en-US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13. Backend API routes: small commands sent from JavaScript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777240" y="1143000"/>
            <a:ext cx="10424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1005840" y="129844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/api/check-existing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3520440" y="1298448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find latest matching test folder and return choices</a:t>
            </a:r>
            <a:endParaRPr lang="en-US" sz="1500"/>
          </a:p>
        </p:txBody>
      </p:sp>
      <p:sp>
        <p:nvSpPr>
          <p:cNvPr id="6" name="Shape 6"/>
          <p:cNvSpPr/>
          <p:nvPr/>
        </p:nvSpPr>
        <p:spPr>
          <a:xfrm>
            <a:off x="777240" y="1892807"/>
            <a:ext cx="10424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005840" y="2048255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/api/perform-analysis</a:t>
            </a:r>
            <a:endParaRPr lang="en-US" sz="1500"/>
          </a:p>
        </p:txBody>
      </p:sp>
      <p:sp>
        <p:nvSpPr>
          <p:cNvPr id="8" name="TextBox 8"/>
          <p:cNvSpPr txBox="1"/>
          <p:nvPr/>
        </p:nvSpPr>
        <p:spPr>
          <a:xfrm>
            <a:off x="3520440" y="2048255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prepare FUT/CAP inputs, generate analysis files, return summaries</a:t>
            </a:r>
            <a:endParaRPr lang="en-US" sz="1500"/>
          </a:p>
        </p:txBody>
      </p:sp>
      <p:sp>
        <p:nvSpPr>
          <p:cNvPr id="9" name="Shape 9"/>
          <p:cNvSpPr/>
          <p:nvPr/>
        </p:nvSpPr>
        <p:spPr>
          <a:xfrm>
            <a:off x="777240" y="2642615"/>
            <a:ext cx="10424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1005840" y="2798063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/api/browse-folder</a:t>
            </a:r>
            <a:endParaRPr lang="en-US" sz="1500"/>
          </a:p>
        </p:txBody>
      </p:sp>
      <p:sp>
        <p:nvSpPr>
          <p:cNvPr id="11" name="TextBox 11"/>
          <p:cNvSpPr txBox="1"/>
          <p:nvPr/>
        </p:nvSpPr>
        <p:spPr>
          <a:xfrm>
            <a:off x="3520440" y="2798063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open native folder chooser when possible</a:t>
            </a:r>
            <a:endParaRPr lang="en-US" sz="1500"/>
          </a:p>
        </p:txBody>
      </p:sp>
      <p:sp>
        <p:nvSpPr>
          <p:cNvPr id="12" name="Shape 12"/>
          <p:cNvSpPr/>
          <p:nvPr/>
        </p:nvSpPr>
        <p:spPr>
          <a:xfrm>
            <a:off x="777240" y="3392423"/>
            <a:ext cx="10424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1005840" y="3547871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/api/connect / move / home</a:t>
            </a:r>
            <a:endParaRPr lang="en-US" sz="1500"/>
          </a:p>
        </p:txBody>
      </p:sp>
      <p:sp>
        <p:nvSpPr>
          <p:cNvPr id="14" name="TextBox 14"/>
          <p:cNvSpPr txBox="1"/>
          <p:nvPr/>
        </p:nvSpPr>
        <p:spPr>
          <a:xfrm>
            <a:off x="3520440" y="3547871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future or preview hardware control entry points</a:t>
            </a:r>
            <a:endParaRPr lang="en-US" sz="1500"/>
          </a:p>
        </p:txBody>
      </p:sp>
      <p:sp>
        <p:nvSpPr>
          <p:cNvPr id="15" name="Shape 15"/>
          <p:cNvSpPr/>
          <p:nvPr/>
        </p:nvSpPr>
        <p:spPr>
          <a:xfrm>
            <a:off x="777240" y="4572000"/>
            <a:ext cx="10424160" cy="7315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1005840" y="4782312"/>
            <a:ext cx="97840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4A7C"/>
                </a:solidFill>
                <a:latin typeface="Aptos"/>
              </a:rPr>
              <a:t>CORS support is included so the browser can call the backend even when the file is opened from file:// during preview work.</a:t>
            </a:r>
            <a:endParaRPr lang="en-US"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14. Analysis saving: what Python writes to disk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40080" y="1051560"/>
            <a:ext cx="5029200" cy="338328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49808" y="1161288"/>
            <a:ext cx="4809744" cy="31638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SensorID / test folder /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FUT / Run 1.csv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CAP / Run 1.csv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Summary_Stats.tsv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Report_Output.tsv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Raw_Signals.svg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Pressure_Sensitivity_Curves.svg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All_CH_Runs.svg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analysis_summary.json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6172200" y="1097280"/>
            <a:ext cx="5120640" cy="2560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prepare_test_folder creates preview FUT/CAP inputs from EM, Shear, or Manual readings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SavedTestAnalyzer reads those inputs and writes analysis artifacts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The browser receives a JSON summary and displays matching tabs</a:t>
            </a:r>
            <a:endParaRPr lang="en-US" sz="1700"/>
          </a:p>
        </p:txBody>
      </p:sp>
      <p:sp>
        <p:nvSpPr>
          <p:cNvPr id="6" name="TextBox 6"/>
          <p:cNvSpPr txBox="1"/>
          <p:nvPr/>
        </p:nvSpPr>
        <p:spPr>
          <a:xfrm>
            <a:off x="6263640" y="4251960"/>
            <a:ext cx="4800600" cy="640080"/>
          </a:xfrm>
          <a:prstGeom prst="rect">
            <a:avLst/>
          </a:prstGeom>
          <a:solidFill>
            <a:srgbClr val="FFF8E8"/>
          </a:solidFill>
          <a:ln w="12700">
            <a:solidFill>
              <a:srgbClr val="F4C86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7A4E00"/>
                </a:solidFill>
                <a:latin typeface="Aptos"/>
              </a:rPr>
              <a:t>This is the place where Akhil/Jason’s final analysis scripts can replace the preview generator later.</a:t>
            </a:r>
            <a:endParaRPr 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15. Hardware integration points are intentionally isolated</a:t>
            </a:r>
            <a:endParaRPr lang="en-US" sz="2800"/>
          </a:p>
        </p:txBody>
      </p:sp>
      <p:sp>
        <p:nvSpPr>
          <p:cNvPr id="3" name="TextBox 3"/>
          <p:cNvSpPr txBox="1"/>
          <p:nvPr/>
        </p:nvSpPr>
        <p:spPr>
          <a:xfrm>
            <a:off x="685800" y="1051560"/>
            <a:ext cx="5303520" cy="274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The UI already has the screens and safety states: Start, Stop/Pause, lockouts, home/reset, run repeat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Python is the right layer to call ZaberCLI and FUTEKDeviceCLI because browser JavaScript cannot directly access serial devices or .NET drivers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If the wrong COM port is used, the Zaber connect route should catch that and return a clear error to the GUI</a:t>
            </a:r>
            <a:endParaRPr lang="en-US" sz="1700"/>
          </a:p>
        </p:txBody>
      </p:sp>
      <p:sp>
        <p:nvSpPr>
          <p:cNvPr id="4" name="Shape 4"/>
          <p:cNvSpPr/>
          <p:nvPr/>
        </p:nvSpPr>
        <p:spPr>
          <a:xfrm>
            <a:off x="6400800" y="1051560"/>
            <a:ext cx="44805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6675120" y="13716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3F8B42"/>
                </a:solidFill>
                <a:latin typeface="Aptos"/>
              </a:rPr>
              <a:t>Future real-hardware swap</a:t>
            </a:r>
            <a:endParaRPr lang="en-US" sz="2000"/>
          </a:p>
        </p:txBody>
      </p:sp>
      <p:sp>
        <p:nvSpPr>
          <p:cNvPr id="6" name="TextBox 6"/>
          <p:cNvSpPr txBox="1"/>
          <p:nvPr/>
        </p:nvSpPr>
        <p:spPr>
          <a:xfrm>
            <a:off x="6675120" y="1965960"/>
            <a:ext cx="3749039" cy="1280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Replace preview timers and fake force generation with calls into the hardware modules, while keeping the same frontend windows and state transitions.</a:t>
            </a:r>
            <a:endParaRPr lang="en-US" sz="1700"/>
          </a:p>
        </p:txBody>
      </p:sp>
      <p:sp>
        <p:nvSpPr>
          <p:cNvPr id="7" name="TextBox 7"/>
          <p:cNvSpPr txBox="1"/>
          <p:nvPr/>
        </p:nvSpPr>
        <p:spPr>
          <a:xfrm>
            <a:off x="6675120" y="3566160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174A7C"/>
                </a:solidFill>
                <a:latin typeface="Aptos"/>
              </a:rPr>
              <a:t>UI stays stable; backend gets more real.</a:t>
            </a:r>
            <a:endParaRPr lang="en-US"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16. The short explanation you can give your boss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85800" y="1051560"/>
            <a:ext cx="10698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60120" y="1371600"/>
            <a:ext cx="10058400" cy="3337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72033"/>
                </a:solidFill>
                <a:latin typeface="Aptos"/>
              </a:rPr>
              <a:t>“I converted the old desktop-style Tkinter workflow into a browser-based local GUI. The frontend is a single HTML file that contains the forms, modals, styling, live SVG graphs, validation, and button behavior. A small Python server runs locally behind it so the browser can still do computer things: pick folders, check whether test folders already exist, generate FUT/CAP preview files, and save analysis outputs. The testing windows are currently preview-safe with simulated data, but the structure is ready for the real Zaber and FUTEK calls to plug into the Python backend.”</a:t>
            </a:r>
            <a:endParaRPr lang="en-US" sz="2200"/>
          </a:p>
        </p:txBody>
      </p:sp>
      <p:sp>
        <p:nvSpPr>
          <p:cNvPr id="5" name="TextBox 5"/>
          <p:cNvSpPr txBox="1"/>
          <p:nvPr/>
        </p:nvSpPr>
        <p:spPr>
          <a:xfrm>
            <a:off x="960120" y="4892040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3F73E6"/>
                </a:solidFill>
                <a:latin typeface="Aptos"/>
              </a:rPr>
              <a:t>That framing explains both what you built and why the architecture makes sense.</a:t>
            </a:r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aberWalkthrough">
  <a:themeElements>
    <a:clrScheme name="Zaber">
      <a:dk1>
        <a:srgbClr val="172033"/>
      </a:dk1>
      <a:lt1>
        <a:srgbClr val="FFFFFF"/>
      </a:lt1>
      <a:dk2>
        <a:srgbClr val="38445A"/>
      </a:dk2>
      <a:lt2>
        <a:srgbClr val="F5F7FB"/>
      </a:lt2>
      <a:accent1>
        <a:srgbClr val="3F73E6"/>
      </a:accent1>
      <a:accent2>
        <a:srgbClr val="3F8B42"/>
      </a:accent2>
      <a:accent3>
        <a:srgbClr val="ED6C02"/>
      </a:accent3>
      <a:accent4>
        <a:srgbClr val="E11955"/>
      </a:accent4>
      <a:accent5>
        <a:srgbClr val="697790"/>
      </a:accent5>
      <a:accent6>
        <a:srgbClr val="BBD4FF"/>
      </a:accent6>
      <a:hlink>
        <a:srgbClr val="3F73E6"/>
      </a:hlink>
      <a:folHlink>
        <a:srgbClr val="8B5CF6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